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86a6bae-4be0-d146-4160-e2d6dae2d003}">
          <p14:sldIdLst>
            <p14:sldId id="256"/>
            <p14:sldId id="257"/>
          </p14:sldIdLst>
        </p14:section>
        <p14:section name="System design" id="{f641ddfe-1be6-004a-060c-39c1573ee9c0}">
          <p14:sldIdLst>
            <p14:sldId id="258"/>
            <p14:sldId id="259"/>
            <p14:sldId id="260"/>
            <p14:sldId id="261"/>
            <p14:sldId id="262"/>
            <p14:sldId id="263"/>
          </p14:sldIdLst>
        </p14:section>
        <p14:section name="Delivery plan" id="{62472ddc-1ee8-515f-9cab-b44579b61708}">
          <p14:sldIdLst>
            <p14:sldId id="264"/>
            <p14:sldId id="265"/>
            <p14:sldId id="266"/>
            <p14:sldId id="267"/>
          </p14:sldIdLst>
        </p14:section>
        <p14:section name="Risks and next steps" id="{2d6a23e5-6c82-f267-43f7-04c9a9707038}">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Requirements</c:v>
                </c:pt>
              </c:strCache>
            </c:strRef>
          </c:tx>
          <c:spPr>
            <a:solidFill>
              <a:schemeClr val="accent1"/>
            </a:solidFill>
            <a:ln w="9525" cap="flat">
              <a:solidFill>
                <a:srgbClr val="F9F9F9"/>
              </a:solidFill>
              <a:prstDash val="solid"/>
              <a:round/>
            </a:ln>
            <a:effectLst/>
          </c:spPr>
          <c:dPt>
            <c:idx val="0"/>
            <c:bubble3D val="0"/>
            <c:spPr>
              <a:solidFill>
                <a:srgbClr val="2F855A"/>
              </a:solidFill>
              <a:effectLst/>
            </c:spPr>
          </c:dPt>
          <c:dPt>
            <c:idx val="1"/>
            <c:bubble3D val="0"/>
            <c:spPr>
              <a:solidFill>
                <a:srgbClr val="D9822B"/>
              </a:solidFill>
              <a:effectLst/>
            </c:spPr>
          </c:dPt>
          <c:dPt>
            <c:idx val="2"/>
            <c:bubble3D val="0"/>
            <c:spPr>
              <a:solidFill>
                <a:srgbClr val="C0392B"/>
              </a:solidFill>
              <a:effectLst/>
            </c:spPr>
          </c:dPt>
          <c:dLbls>
            <c:dLbl>
              <c:idx val="0"/>
              <c:numFmt formatCode="General" sourceLinked="0"/>
              <c:spPr/>
              <c:txPr>
                <a:bodyPr/>
                <a:lstStyle/>
                <a:p>
                  <a:pPr>
                    <a:defRPr sz="16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6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6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Explicit tasks</c:v>
                </c:pt>
                <c:pt idx="1">
                  <c:v>Partly covered</c:v>
                </c:pt>
                <c:pt idx="2">
                  <c:v>No task</c:v>
                </c:pt>
              </c:strCache>
            </c:strRef>
          </c:cat>
          <c:val>
            <c:numRef>
              <c:f>Sheet1!$B$2:$B$4</c:f>
              <c:numCache>
                <c:ptCount val="3"/>
                <c:pt idx="0">
                  <c:v>9</c:v>
                </c:pt>
                <c:pt idx="1">
                  <c:v>2</c:v>
                </c:pt>
                <c:pt idx="2">
                  <c:v>1</c:v>
                </c:pt>
              </c:numCache>
            </c:numRef>
          </c:val>
        </c:ser>
        <c:firstSliceAng val="0"/>
        <c:holeSize val="58"/>
      </c:doughnutChart>
      <c:spPr>
        <a:noFill/>
        <a:ln>
          <a:noFill/>
        </a:ln>
        <a:effectLst/>
      </c:spPr>
    </c:plotArea>
    <c:legend>
      <c:legendPos val="b"/>
      <c:overlay val="0"/>
      <c:txPr>
        <a:bodyPr/>
        <a:lstStyle/>
        <a:p>
          <a:pPr>
            <a:defRPr sz="1300">
              <a:solidFill>
                <a:srgbClr val="16212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INOVEXA is a multi-tenant platform: Django is the hub (identity, billing, CRM, tenancy), Moodle and a private FastAPI AI service are spokes. This deck turns the PRD, UML models and the to-do roadmap into one visual story. Source files: PRD, UML, project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objective from the roadmap: a working multi-tenant EdTech LMS + CRM + AI coaching platform for the first client cohort by 2026-12-01. Phase-gated, with a hard scope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Hub-and-spoke: Django owns the source of truth for users, billing and tenants. Moodle runs learning. FastAPI runs Socratic AI and is kept off the public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public enters via Nginx. FastAPI is on the private Docker network; Moodle or Django call it through authenticated server-to-server channels. Celery workers do Moodle provisioning with exponential-backoff retries. Core tenant data lives in PostgreSQL with row-level security; Moodle has its own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steps across four systems. Step 5 branches: institutional organizations get a Moodle cohort and members; individuals are enrolled into a standard course group. Targets: provisioning under 3 seconds after payment (FR-02) and first AI token under 1.5 seconds (FR-03). Retries come from NFR-03.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Moodle sends the question stem, rubric, the student working and a mastery score. FastAPI assembles a prompt with the directive to guide step by step and never give the final answer, applies allowance and model policy, and streams feedback back over SSE. Provider API keys live only in FastAPI environment variables. Interaction is the customer-facing unit; tokens are the internal cost unit; the ledger reconciles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polymorphic schema means individuals, schools, SMEs, NGOs and enterprises are all just Organizations. Tenant context is derived per request, injected with SET LOCAL, enforced by RLS policies with FORCE ROW LEVEL SECURITY, and reset at teardown. The PRD does not say whether one auth user can belong to several organizations.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separate state machines. The PRD defines pending, active and suspended for Organization. The target-state decisions add expired and cancelled, and keep license and payment status separate from organization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from the roadmap: Phase 0 13-18 Oct; Phase 1 19-27 Oct; Phase 2 28 Oct-5 Nov; Phase 3 6-14 Nov; Phase 4 15-22 Nov; Phase 5 23-28 Nov; Phase 6 29 Nov-1 Dec. Only one phase is active at a time and each closes with a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phase has a milestone, activities with tasks, deliverables and evidence, and exit criteria. A phase closes only when every task has passed verification and the gate record is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scope rules: only tasks in the current phase are active; no Phase II features; no speculative architecture; every task maps to a PRD requirement or UML diagram. The phase gate template records tasks with evidence, remaining risks, unknowns, scope check and a go/no-go.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mandatory grounding guardrails from the to-do file. Any AI-generated code must be tagged to the requirement ID, architecture component, phase and task it satisfies.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requirements map cleanly to named tasks (FR-02, FR-03, FR-05, FR-06, FR-07, NFR-01, NFR-03, NFR-04, NFR-05). FR-01 lacks an explicit bulk-CSV task; FR-04 lacks Moodle-side role mapping; NFR-02 (500 concurrent quiz takers) has no load-test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observations from reading the PRD, UML and to-do together. Red icons are the two that threaten the date or the capacity claim; amber icons are definitions and decisions that should be settled early; grey is operational basics due by Phase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tasks come straight from the roadmap: governance (charter, phase gates, source-of-truth list), implementation baseline (repo, environment, architecture diagram) and guardrails (AI rules, traceability template, review gates). The three decisions are suggestions drawn from the open items in the UML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recommendation from the roadmap: do not parallelize broad workstreams; keep the team on one active phase and enforce the gate. The first client release is a controlled delivery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2A4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6400800" cy="1371600"/>
          </a:xfrm>
          <a:prstGeom prst="rect">
            <a:avLst/>
          </a:prstGeom>
          <a:noFill/>
          <a:ln/>
        </p:spPr>
        <p:txBody>
          <a:bodyPr wrap="square" rtlCol="0"/>
          <a:lstStyle>
            <a:lvl1pPr algn="l" indent="0" marL="0">
              <a:buNone/>
              <a:defRPr lang="en-US" sz="5600" b="1" dirty="0">
                <a:solidFill>
                  <a:schemeClr val="bg1"/>
                </a:solidFill>
              </a:defRPr>
            </a:lvl1pPr>
          </a:lstStyle>
          <a:p>
            <a:pPr algn="l" indent="0" marL="0">
              <a:buNone/>
            </a:pPr>
            <a:endParaRPr lang="en-US" sz="5600" dirty="0"/>
          </a:p>
        </p:txBody>
      </p:sp>
      <p:sp>
        <p:nvSpPr>
          <p:cNvPr id="3" name="Text 0"/>
          <p:cNvSpPr/>
          <p:nvPr>
            <p:ph idx="101" type="body" hasCustomPrompt="1"/>
          </p:nvPr>
        </p:nvSpPr>
        <p:spPr>
          <a:xfrm>
            <a:off x="822960" y="3566160"/>
            <a:ext cx="621792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46520"/>
            <a:ext cx="6400800" cy="256032"/>
          </a:xfrm>
          <a:prstGeom prst="rect">
            <a:avLst/>
          </a:prstGeom>
          <a:noFill/>
          <a:ln/>
        </p:spPr>
        <p:txBody>
          <a:bodyPr wrap="square" lIns="0" tIns="0" rIns="0" bIns="0" rtlCol="0" anchor="ctr"/>
          <a:lstStyle/>
          <a:p>
            <a:pPr indent="0" marL="0">
              <a:buNone/>
            </a:pPr>
            <a:r>
              <a:rPr lang="en-US" sz="1000" dirty="0">
                <a:solidFill>
                  <a:schemeClr val="accent6"/>
                </a:solidFill>
              </a:rPr>
              <a:t>INOVEXA  ·  Project map to first-client go-live</a:t>
            </a:r>
            <a:endParaRPr lang="en-US" sz="10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0F2A4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105156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6400800" cy="1371600"/>
          </a:xfrm>
          <a:prstGeom prst="rect">
            <a:avLst/>
          </a:prstGeom>
          <a:noFill/>
          <a:ln/>
        </p:spPr>
        <p:txBody>
          <a:bodyPr wrap="square" lIns="0" tIns="0" rIns="0" bIns="0" rtlCol="0" anchor="b"/>
          <a:lstStyle/>
          <a:p>
            <a:pPr algn="l" indent="0" marL="0">
              <a:buNone/>
            </a:pPr>
            <a:r>
              <a:rPr lang="en-US" sz="5600" b="1" dirty="0">
                <a:solidFill>
                  <a:schemeClr val="bg1"/>
                </a:solidFill>
              </a:rPr>
              <a:t>INOVEXA</a:t>
            </a:r>
            <a:endParaRPr lang="en-US" sz="5600" dirty="0"/>
          </a:p>
        </p:txBody>
      </p:sp>
      <p:sp>
        <p:nvSpPr>
          <p:cNvPr id="3" name="Text 0"/>
          <p:cNvSpPr/>
          <p:nvPr>
            <p:ph idx="101" type="body" hasCustomPrompt="1"/>
          </p:nvPr>
        </p:nvSpPr>
        <p:spPr>
          <a:xfrm>
            <a:off x="822960" y="3566160"/>
            <a:ext cx="6217920" cy="1188720"/>
          </a:xfrm>
          <a:prstGeom prst="rect">
            <a:avLst/>
          </a:prstGeom>
          <a:noFill/>
          <a:ln/>
        </p:spPr>
        <p:txBody>
          <a:bodyPr wrap="square" lIns="0" tIns="0" rIns="0" bIns="0" rtlCol="0" anchor="t"/>
          <a:lstStyle/>
          <a:p>
            <a:pPr algn="l" indent="0" marL="0">
              <a:buNone/>
            </a:pPr>
            <a:r>
              <a:rPr lang="en-US" sz="2000" dirty="0">
                <a:solidFill>
                  <a:schemeClr val="bg2"/>
                </a:solidFill>
              </a:rPr>
              <a:t>Core Platform &amp; EdTech LMS</a:t>
            </a:r>
            <a:endParaRPr lang="en-US" sz="2000" dirty="0"/>
          </a:p>
          <a:p>
            <a:pPr algn="l" indent="0" marL="0">
              <a:buNone/>
            </a:pPr>
            <a:r>
              <a:rPr lang="en-US" sz="2000" dirty="0">
                <a:solidFill>
                  <a:schemeClr val="bg2"/>
                </a:solidFill>
              </a:rPr>
              <a:t>Project map to first-client go-live, 1 December 2026</a:t>
            </a:r>
            <a:endParaRPr lang="en-US" sz="2000" dirty="0"/>
          </a:p>
        </p:txBody>
      </p:sp>
      <p:sp>
        <p:nvSpPr>
          <p:cNvPr id="4" name="spoke-line-1"/>
          <p:cNvSpPr/>
          <p:nvPr/>
        </p:nvSpPr>
        <p:spPr>
          <a:xfrm flipV="1">
            <a:off x="9509760" y="2011680"/>
            <a:ext cx="1463040" cy="1417320"/>
          </a:xfrm>
          <a:prstGeom prst="line">
            <a:avLst/>
          </a:prstGeom>
          <a:noFill/>
          <a:ln w="22225">
            <a:solidFill>
              <a:srgbClr val="5B7794"/>
            </a:solidFill>
            <a:prstDash val="solid"/>
          </a:ln>
        </p:spPr>
      </p:sp>
      <p:sp>
        <p:nvSpPr>
          <p:cNvPr id="5" name="spoke-line-2"/>
          <p:cNvSpPr/>
          <p:nvPr/>
        </p:nvSpPr>
        <p:spPr>
          <a:xfrm>
            <a:off x="9509760" y="3429000"/>
            <a:ext cx="1463040" cy="1417320"/>
          </a:xfrm>
          <a:prstGeom prst="line">
            <a:avLst/>
          </a:prstGeom>
          <a:noFill/>
          <a:ln w="22225">
            <a:solidFill>
              <a:srgbClr val="5B7794"/>
            </a:solidFill>
            <a:prstDash val="solid"/>
          </a:ln>
        </p:spPr>
      </p:sp>
      <p:sp>
        <p:nvSpPr>
          <p:cNvPr id="6" name="spoke-line-3"/>
          <p:cNvSpPr/>
          <p:nvPr/>
        </p:nvSpPr>
        <p:spPr>
          <a:xfrm flipV="1">
            <a:off x="8183880" y="3429000"/>
            <a:ext cx="1325880" cy="1783080"/>
          </a:xfrm>
          <a:prstGeom prst="line">
            <a:avLst/>
          </a:prstGeom>
          <a:noFill/>
          <a:ln w="22225">
            <a:solidFill>
              <a:srgbClr val="5B7794"/>
            </a:solidFill>
            <a:prstDash val="solid"/>
          </a:ln>
        </p:spPr>
      </p:sp>
      <p:sp>
        <p:nvSpPr>
          <p:cNvPr id="7" name="spoke-line-4"/>
          <p:cNvSpPr/>
          <p:nvPr/>
        </p:nvSpPr>
        <p:spPr>
          <a:xfrm>
            <a:off x="8183880" y="1691640"/>
            <a:ext cx="1325880" cy="1737360"/>
          </a:xfrm>
          <a:prstGeom prst="line">
            <a:avLst/>
          </a:prstGeom>
          <a:noFill/>
          <a:ln w="22225">
            <a:solidFill>
              <a:srgbClr val="5B7794"/>
            </a:solidFill>
            <a:prstDash val="solid"/>
          </a:ln>
        </p:spPr>
      </p:sp>
      <p:sp>
        <p:nvSpPr>
          <p:cNvPr id="8" name="badge-5"/>
          <p:cNvSpPr/>
          <p:nvPr/>
        </p:nvSpPr>
        <p:spPr>
          <a:xfrm>
            <a:off x="10469880" y="1508760"/>
            <a:ext cx="1005840" cy="1005840"/>
          </a:xfrm>
          <a:prstGeom prst="ellipse">
            <a:avLst/>
          </a:prstGeom>
          <a:solidFill>
            <a:srgbClr val="D9822B"/>
          </a:solidFill>
          <a:ln/>
        </p:spPr>
      </p:sp>
      <p:pic>
        <p:nvPicPr>
          <p:cNvPr id="9" name="Image 0" descr="icon">    </p:cNvPr>
          <p:cNvPicPr>
            <a:picLocks noChangeAspect="1"/>
          </p:cNvPicPr>
          <p:nvPr/>
        </p:nvPicPr>
        <p:blipFill>
          <a:blip r:embed="rId1"/>
          <a:stretch>
            <a:fillRect/>
          </a:stretch>
        </p:blipFill>
        <p:spPr>
          <a:xfrm>
            <a:off x="10731398" y="1770278"/>
            <a:ext cx="482803" cy="482803"/>
          </a:xfrm>
          <a:prstGeom prst="rect">
            <a:avLst/>
          </a:prstGeom>
        </p:spPr>
      </p:pic>
      <p:sp>
        <p:nvSpPr>
          <p:cNvPr id="10" name="text-6"/>
          <p:cNvSpPr txBox="1"/>
          <p:nvPr/>
        </p:nvSpPr>
        <p:spPr>
          <a:xfrm>
            <a:off x="10104120" y="2578608"/>
            <a:ext cx="1737360" cy="274320"/>
          </a:xfrm>
          <a:prstGeom prst="rect">
            <a:avLst/>
          </a:prstGeom>
          <a:noFill/>
          <a:ln/>
        </p:spPr>
        <p:txBody>
          <a:bodyPr wrap="square" lIns="0" tIns="0" rIns="0" bIns="0" rtlCol="0" anchor="t"/>
          <a:lstStyle/>
          <a:p>
            <a:pPr algn="ctr" indent="0" marL="0">
              <a:buNone/>
            </a:pPr>
            <a:r>
              <a:rPr lang="en-US" sz="1200" dirty="0">
                <a:solidFill>
                  <a:schemeClr val="bg2"/>
                </a:solidFill>
              </a:rPr>
              <a:t>Moodle LMS</a:t>
            </a:r>
            <a:endParaRPr lang="en-US" sz="1200" dirty="0"/>
          </a:p>
        </p:txBody>
      </p:sp>
      <p:sp>
        <p:nvSpPr>
          <p:cNvPr id="11" name="badge-7"/>
          <p:cNvSpPr/>
          <p:nvPr/>
        </p:nvSpPr>
        <p:spPr>
          <a:xfrm>
            <a:off x="10469880" y="4343400"/>
            <a:ext cx="1005840" cy="1005840"/>
          </a:xfrm>
          <a:prstGeom prst="ellipse">
            <a:avLst/>
          </a:prstGeom>
          <a:solidFill>
            <a:srgbClr val="2B6CB0"/>
          </a:solidFill>
          <a:ln/>
        </p:spPr>
      </p:sp>
      <p:pic>
        <p:nvPicPr>
          <p:cNvPr id="12" name="Image 1" descr="icon">    </p:cNvPr>
          <p:cNvPicPr>
            <a:picLocks noChangeAspect="1"/>
          </p:cNvPicPr>
          <p:nvPr/>
        </p:nvPicPr>
        <p:blipFill>
          <a:blip r:embed="rId2"/>
          <a:stretch>
            <a:fillRect/>
          </a:stretch>
        </p:blipFill>
        <p:spPr>
          <a:xfrm>
            <a:off x="10731398" y="4604918"/>
            <a:ext cx="482803" cy="482803"/>
          </a:xfrm>
          <a:prstGeom prst="rect">
            <a:avLst/>
          </a:prstGeom>
        </p:spPr>
      </p:pic>
      <p:sp>
        <p:nvSpPr>
          <p:cNvPr id="13" name="text-8"/>
          <p:cNvSpPr txBox="1"/>
          <p:nvPr/>
        </p:nvSpPr>
        <p:spPr>
          <a:xfrm>
            <a:off x="10104120" y="5413248"/>
            <a:ext cx="1737360" cy="274320"/>
          </a:xfrm>
          <a:prstGeom prst="rect">
            <a:avLst/>
          </a:prstGeom>
          <a:noFill/>
          <a:ln/>
        </p:spPr>
        <p:txBody>
          <a:bodyPr wrap="square" lIns="0" tIns="0" rIns="0" bIns="0" rtlCol="0" anchor="t"/>
          <a:lstStyle/>
          <a:p>
            <a:pPr algn="ctr" indent="0" marL="0">
              <a:buNone/>
            </a:pPr>
            <a:r>
              <a:rPr lang="en-US" sz="1200" dirty="0">
                <a:solidFill>
                  <a:schemeClr val="bg2"/>
                </a:solidFill>
              </a:rPr>
              <a:t>FastAPI AI</a:t>
            </a:r>
            <a:endParaRPr lang="en-US" sz="1200" dirty="0"/>
          </a:p>
        </p:txBody>
      </p:sp>
      <p:sp>
        <p:nvSpPr>
          <p:cNvPr id="14" name="badge-9"/>
          <p:cNvSpPr/>
          <p:nvPr/>
        </p:nvSpPr>
        <p:spPr>
          <a:xfrm>
            <a:off x="7680960" y="4709160"/>
            <a:ext cx="1005840" cy="1005840"/>
          </a:xfrm>
          <a:prstGeom prst="ellipse">
            <a:avLst/>
          </a:prstGeom>
          <a:solidFill>
            <a:srgbClr val="6B46C1"/>
          </a:solidFill>
          <a:ln/>
        </p:spPr>
      </p:sp>
      <p:pic>
        <p:nvPicPr>
          <p:cNvPr id="15" name="Image 2" descr="icon">    </p:cNvPr>
          <p:cNvPicPr>
            <a:picLocks noChangeAspect="1"/>
          </p:cNvPicPr>
          <p:nvPr/>
        </p:nvPicPr>
        <p:blipFill>
          <a:blip r:embed="rId3"/>
          <a:stretch>
            <a:fillRect/>
          </a:stretch>
        </p:blipFill>
        <p:spPr>
          <a:xfrm>
            <a:off x="7942478" y="4970678"/>
            <a:ext cx="482803" cy="482803"/>
          </a:xfrm>
          <a:prstGeom prst="rect">
            <a:avLst/>
          </a:prstGeom>
        </p:spPr>
      </p:pic>
      <p:sp>
        <p:nvSpPr>
          <p:cNvPr id="16" name="text-10"/>
          <p:cNvSpPr txBox="1"/>
          <p:nvPr/>
        </p:nvSpPr>
        <p:spPr>
          <a:xfrm>
            <a:off x="7315200" y="5779008"/>
            <a:ext cx="1737360" cy="274320"/>
          </a:xfrm>
          <a:prstGeom prst="rect">
            <a:avLst/>
          </a:prstGeom>
          <a:noFill/>
          <a:ln/>
        </p:spPr>
        <p:txBody>
          <a:bodyPr wrap="square" lIns="0" tIns="0" rIns="0" bIns="0" rtlCol="0" anchor="t"/>
          <a:lstStyle/>
          <a:p>
            <a:pPr algn="ctr" indent="0" marL="0">
              <a:buNone/>
            </a:pPr>
            <a:r>
              <a:rPr lang="en-US" sz="1200" dirty="0">
                <a:solidFill>
                  <a:schemeClr val="bg2"/>
                </a:solidFill>
              </a:rPr>
              <a:t>PostgreSQL + Redis</a:t>
            </a:r>
            <a:endParaRPr lang="en-US" sz="1200" dirty="0"/>
          </a:p>
        </p:txBody>
      </p:sp>
      <p:sp>
        <p:nvSpPr>
          <p:cNvPr id="17" name="badge-11"/>
          <p:cNvSpPr/>
          <p:nvPr/>
        </p:nvSpPr>
        <p:spPr>
          <a:xfrm>
            <a:off x="7680960" y="1188720"/>
            <a:ext cx="1005840" cy="1005840"/>
          </a:xfrm>
          <a:prstGeom prst="ellipse">
            <a:avLst/>
          </a:prstGeom>
          <a:solidFill>
            <a:srgbClr val="5F6B7A"/>
          </a:solidFill>
          <a:ln/>
        </p:spPr>
      </p:sp>
      <p:pic>
        <p:nvPicPr>
          <p:cNvPr id="18" name="Image 3" descr="icon">    </p:cNvPr>
          <p:cNvPicPr>
            <a:picLocks noChangeAspect="1"/>
          </p:cNvPicPr>
          <p:nvPr/>
        </p:nvPicPr>
        <p:blipFill>
          <a:blip r:embed="rId4"/>
          <a:stretch>
            <a:fillRect/>
          </a:stretch>
        </p:blipFill>
        <p:spPr>
          <a:xfrm>
            <a:off x="7942478" y="1450238"/>
            <a:ext cx="482803" cy="482803"/>
          </a:xfrm>
          <a:prstGeom prst="rect">
            <a:avLst/>
          </a:prstGeom>
        </p:spPr>
      </p:pic>
      <p:sp>
        <p:nvSpPr>
          <p:cNvPr id="19" name="text-12"/>
          <p:cNvSpPr txBox="1"/>
          <p:nvPr/>
        </p:nvSpPr>
        <p:spPr>
          <a:xfrm>
            <a:off x="7315200" y="2258568"/>
            <a:ext cx="1737360" cy="274320"/>
          </a:xfrm>
          <a:prstGeom prst="rect">
            <a:avLst/>
          </a:prstGeom>
          <a:noFill/>
          <a:ln/>
        </p:spPr>
        <p:txBody>
          <a:bodyPr wrap="square" lIns="0" tIns="0" rIns="0" bIns="0" rtlCol="0" anchor="t"/>
          <a:lstStyle/>
          <a:p>
            <a:pPr algn="ctr" indent="0" marL="0">
              <a:buNone/>
            </a:pPr>
            <a:r>
              <a:rPr lang="en-US" sz="1200" dirty="0">
                <a:solidFill>
                  <a:schemeClr val="bg2"/>
                </a:solidFill>
              </a:rPr>
              <a:t>Payments</a:t>
            </a:r>
            <a:endParaRPr lang="en-US" sz="1200" dirty="0"/>
          </a:p>
        </p:txBody>
      </p:sp>
      <p:sp>
        <p:nvSpPr>
          <p:cNvPr id="20" name="badge-13"/>
          <p:cNvSpPr/>
          <p:nvPr/>
        </p:nvSpPr>
        <p:spPr>
          <a:xfrm>
            <a:off x="8641080" y="2560320"/>
            <a:ext cx="1737360" cy="1737360"/>
          </a:xfrm>
          <a:prstGeom prst="ellipse">
            <a:avLst/>
          </a:prstGeom>
          <a:solidFill>
            <a:srgbClr val="2F855A"/>
          </a:solidFill>
          <a:ln/>
        </p:spPr>
      </p:sp>
      <p:pic>
        <p:nvPicPr>
          <p:cNvPr id="21" name="Image 4" descr="icon">    </p:cNvPr>
          <p:cNvPicPr>
            <a:picLocks noChangeAspect="1"/>
          </p:cNvPicPr>
          <p:nvPr/>
        </p:nvPicPr>
        <p:blipFill>
          <a:blip r:embed="rId5"/>
          <a:stretch>
            <a:fillRect/>
          </a:stretch>
        </p:blipFill>
        <p:spPr>
          <a:xfrm>
            <a:off x="9092794" y="3012034"/>
            <a:ext cx="833933" cy="833933"/>
          </a:xfrm>
          <a:prstGeom prst="rect">
            <a:avLst/>
          </a:prstGeom>
        </p:spPr>
      </p:pic>
      <p:sp>
        <p:nvSpPr>
          <p:cNvPr id="22" name="text-14"/>
          <p:cNvSpPr txBox="1"/>
          <p:nvPr/>
        </p:nvSpPr>
        <p:spPr>
          <a:xfrm>
            <a:off x="8595360" y="4361688"/>
            <a:ext cx="1828800" cy="274320"/>
          </a:xfrm>
          <a:prstGeom prst="rect">
            <a:avLst/>
          </a:prstGeom>
          <a:noFill/>
          <a:ln/>
        </p:spPr>
        <p:txBody>
          <a:bodyPr wrap="square" lIns="0" tIns="0" rIns="0" bIns="0" rtlCol="0" anchor="t"/>
          <a:lstStyle/>
          <a:p>
            <a:pPr algn="ctr" indent="0" marL="0">
              <a:buNone/>
            </a:pPr>
            <a:r>
              <a:rPr lang="en-US" sz="1300" b="1" dirty="0">
                <a:solidFill>
                  <a:schemeClr val="bg1"/>
                </a:solidFill>
              </a:rPr>
              <a:t>Django Core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One goal: first clients live on 1 December 2026</a:t>
            </a:r>
            <a:endParaRPr lang="en-US" sz="3000" dirty="0"/>
          </a:p>
        </p:txBody>
      </p:sp>
      <p:sp>
        <p:nvSpPr>
          <p:cNvPr id="3" name="text-15"/>
          <p:cNvSpPr txBox="1"/>
          <p:nvPr/>
        </p:nvSpPr>
        <p:spPr>
          <a:xfrm>
            <a:off x="548640" y="1371600"/>
            <a:ext cx="5669280" cy="1188720"/>
          </a:xfrm>
          <a:prstGeom prst="rect">
            <a:avLst/>
          </a:prstGeom>
          <a:noFill/>
          <a:ln/>
        </p:spPr>
        <p:txBody>
          <a:bodyPr wrap="square" lIns="0" tIns="0" rIns="0" bIns="0" rtlCol="0" anchor="t"/>
          <a:lstStyle/>
          <a:p>
            <a:pPr algn="l" indent="0" marL="0">
              <a:buNone/>
            </a:pPr>
            <a:r>
              <a:rPr lang="en-US" sz="2200" b="1" dirty="0">
                <a:solidFill>
                  <a:schemeClr val="tx2"/>
                </a:solidFill>
              </a:rPr>
              <a:t>Launch a working multi-tenant EdTech LMS, CRM and AI coaching platform for the first client cohort.</a:t>
            </a:r>
            <a:endParaRPr lang="en-US" sz="2200" dirty="0"/>
          </a:p>
        </p:txBody>
      </p:sp>
      <p:sp>
        <p:nvSpPr>
          <p:cNvPr id="4" name="text-16"/>
          <p:cNvSpPr txBox="1"/>
          <p:nvPr/>
        </p:nvSpPr>
        <p:spPr>
          <a:xfrm>
            <a:off x="548640" y="2743200"/>
            <a:ext cx="5669280" cy="320040"/>
          </a:xfrm>
          <a:prstGeom prst="rect">
            <a:avLst/>
          </a:prstGeom>
          <a:noFill/>
          <a:ln/>
        </p:spPr>
        <p:txBody>
          <a:bodyPr wrap="square" lIns="0" tIns="0" rIns="0" bIns="0" rtlCol="0" anchor="t"/>
          <a:lstStyle/>
          <a:p>
            <a:pPr algn="l" indent="0" marL="0">
              <a:buNone/>
            </a:pPr>
            <a:r>
              <a:rPr lang="en-US" sz="1600" b="1" dirty="0">
                <a:solidFill>
                  <a:schemeClr val="accent1"/>
                </a:solidFill>
              </a:rPr>
              <a:t>What success looks like</a:t>
            </a:r>
            <a:endParaRPr lang="en-US" sz="1600" dirty="0"/>
          </a:p>
        </p:txBody>
      </p:sp>
      <p:sp>
        <p:nvSpPr>
          <p:cNvPr id="5" name="success-list"/>
          <p:cNvSpPr txBox="1"/>
          <p:nvPr/>
        </p:nvSpPr>
        <p:spPr>
          <a:xfrm>
            <a:off x="548640" y="3108960"/>
            <a:ext cx="566928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Tenant-aware roles and database isolation in Django</a:t>
            </a:r>
            <a:endParaRPr lang="en-US" sz="1500" dirty="0"/>
          </a:p>
          <a:p>
            <a:pPr marL="342900" indent="-342900">
              <a:spcAft>
                <a:spcPts val="600"/>
              </a:spcAft>
              <a:buSzPct val="100000"/>
              <a:buChar char="•"/>
            </a:pPr>
            <a:r>
              <a:rPr lang="en-US" sz="1500" dirty="0">
                <a:solidFill>
                  <a:schemeClr val="tx1"/>
                </a:solidFill>
              </a:rPr>
              <a:t>Moodle sign-in and provisioning for a school and an individual</a:t>
            </a:r>
            <a:endParaRPr lang="en-US" sz="1500" dirty="0"/>
          </a:p>
          <a:p>
            <a:pPr marL="342900" indent="-342900">
              <a:spcAft>
                <a:spcPts val="600"/>
              </a:spcAft>
              <a:buSzPct val="100000"/>
              <a:buChar char="•"/>
            </a:pPr>
            <a:r>
              <a:rPr lang="en-US" sz="1500" dirty="0">
                <a:solidFill>
                  <a:schemeClr val="tx1"/>
                </a:solidFill>
              </a:rPr>
              <a:t>AI coaching end to end, with fair-use controls</a:t>
            </a:r>
            <a:endParaRPr lang="en-US" sz="1500" dirty="0"/>
          </a:p>
          <a:p>
            <a:pPr marL="342900" indent="-342900">
              <a:spcAft>
                <a:spcPts val="600"/>
              </a:spcAft>
              <a:buSzPct val="100000"/>
              <a:buChar char="•"/>
            </a:pPr>
            <a:r>
              <a:rPr lang="en-US" sz="1500" dirty="0">
                <a:solidFill>
                  <a:schemeClr val="tx1"/>
                </a:solidFill>
              </a:rPr>
              <a:t>Payment to license activation that can be traced</a:t>
            </a:r>
            <a:endParaRPr lang="en-US" sz="1500" dirty="0"/>
          </a:p>
          <a:p>
            <a:pPr marL="342900" indent="-342900">
              <a:spcAft>
                <a:spcPts val="600"/>
              </a:spcAft>
              <a:buSzPct val="100000"/>
              <a:buChar char="•"/>
            </a:pPr>
            <a:r>
              <a:rPr lang="en-US" sz="1500" dirty="0">
                <a:solidFill>
                  <a:schemeClr val="tx1"/>
                </a:solidFill>
              </a:rPr>
              <a:t>Tenant isolation proven by automated checks</a:t>
            </a:r>
            <a:endParaRPr lang="en-US" sz="1500" dirty="0"/>
          </a:p>
        </p:txBody>
      </p:sp>
      <p:sp>
        <p:nvSpPr>
          <p:cNvPr id="6" name="stat-card-1"/>
          <p:cNvSpPr/>
          <p:nvPr/>
        </p:nvSpPr>
        <p:spPr>
          <a:xfrm>
            <a:off x="6766560" y="1371600"/>
            <a:ext cx="2423160" cy="2148840"/>
          </a:xfrm>
          <a:prstGeom prst="roundRect">
            <a:avLst>
              <a:gd name="adj" fmla="val 4255"/>
            </a:avLst>
          </a:prstGeom>
          <a:solidFill>
            <a:srgbClr val="EEF2F6"/>
          </a:solidFill>
          <a:ln/>
        </p:spPr>
      </p:sp>
      <p:sp>
        <p:nvSpPr>
          <p:cNvPr id="7" name="badge-17"/>
          <p:cNvSpPr/>
          <p:nvPr/>
        </p:nvSpPr>
        <p:spPr>
          <a:xfrm>
            <a:off x="6995160" y="1600200"/>
            <a:ext cx="502920" cy="502920"/>
          </a:xfrm>
          <a:prstGeom prst="ellipse">
            <a:avLst/>
          </a:prstGeom>
          <a:solidFill>
            <a:schemeClr val="accent1"/>
          </a:solidFill>
          <a:ln/>
        </p:spPr>
      </p:sp>
      <p:pic>
        <p:nvPicPr>
          <p:cNvPr id="8" name="Image 0" descr="icon">    </p:cNvPr>
          <p:cNvPicPr>
            <a:picLocks noChangeAspect="1"/>
          </p:cNvPicPr>
          <p:nvPr/>
        </p:nvPicPr>
        <p:blipFill>
          <a:blip r:embed="rId1"/>
          <a:stretch>
            <a:fillRect/>
          </a:stretch>
        </p:blipFill>
        <p:spPr>
          <a:xfrm>
            <a:off x="7123176" y="1728216"/>
            <a:ext cx="246888" cy="246888"/>
          </a:xfrm>
          <a:prstGeom prst="rect">
            <a:avLst/>
          </a:prstGeom>
        </p:spPr>
      </p:pic>
      <p:sp>
        <p:nvSpPr>
          <p:cNvPr id="9" name="text-18"/>
          <p:cNvSpPr txBox="1"/>
          <p:nvPr/>
        </p:nvSpPr>
        <p:spPr>
          <a:xfrm>
            <a:off x="6995160" y="2240280"/>
            <a:ext cx="2011680" cy="640080"/>
          </a:xfrm>
          <a:prstGeom prst="rect">
            <a:avLst/>
          </a:prstGeom>
          <a:noFill/>
          <a:ln/>
        </p:spPr>
        <p:txBody>
          <a:bodyPr wrap="square" lIns="0" tIns="0" rIns="0" bIns="0" rtlCol="0" anchor="t"/>
          <a:lstStyle/>
          <a:p>
            <a:pPr algn="l" indent="0" marL="0">
              <a:buNone/>
            </a:pPr>
            <a:r>
              <a:rPr lang="en-US" sz="4000" b="1" dirty="0">
                <a:solidFill>
                  <a:schemeClr val="tx2"/>
                </a:solidFill>
                <a:latin typeface="Cambria" pitchFamily="34" charset="0"/>
                <a:ea typeface="Cambria" pitchFamily="34" charset="-122"/>
                <a:cs typeface="Cambria" pitchFamily="34" charset="-120"/>
              </a:rPr>
              <a:t>3</a:t>
            </a:r>
            <a:endParaRPr lang="en-US" sz="4000" dirty="0"/>
          </a:p>
        </p:txBody>
      </p:sp>
      <p:sp>
        <p:nvSpPr>
          <p:cNvPr id="10" name="text-19"/>
          <p:cNvSpPr txBox="1"/>
          <p:nvPr/>
        </p:nvSpPr>
        <p:spPr>
          <a:xfrm>
            <a:off x="6995160" y="2880360"/>
            <a:ext cx="2011680" cy="548640"/>
          </a:xfrm>
          <a:prstGeom prst="rect">
            <a:avLst/>
          </a:prstGeom>
          <a:noFill/>
          <a:ln/>
        </p:spPr>
        <p:txBody>
          <a:bodyPr wrap="square" lIns="0" tIns="0" rIns="0" bIns="0" rtlCol="0" anchor="t"/>
          <a:lstStyle/>
          <a:p>
            <a:pPr algn="l" indent="0" marL="0">
              <a:buNone/>
            </a:pPr>
            <a:r>
              <a:rPr lang="en-US" sz="1300" dirty="0">
                <a:solidFill>
                  <a:schemeClr val="accent6"/>
                </a:solidFill>
              </a:rPr>
              <a:t>apps: Django hub, Moodle, FastAPI</a:t>
            </a:r>
            <a:endParaRPr lang="en-US" sz="1300" dirty="0"/>
          </a:p>
        </p:txBody>
      </p:sp>
      <p:sp>
        <p:nvSpPr>
          <p:cNvPr id="11" name="stat-card-2"/>
          <p:cNvSpPr/>
          <p:nvPr/>
        </p:nvSpPr>
        <p:spPr>
          <a:xfrm>
            <a:off x="9372600" y="1371600"/>
            <a:ext cx="2423160" cy="2148840"/>
          </a:xfrm>
          <a:prstGeom prst="roundRect">
            <a:avLst>
              <a:gd name="adj" fmla="val 4255"/>
            </a:avLst>
          </a:prstGeom>
          <a:solidFill>
            <a:srgbClr val="EEF2F6"/>
          </a:solidFill>
          <a:ln/>
        </p:spPr>
      </p:sp>
      <p:sp>
        <p:nvSpPr>
          <p:cNvPr id="12" name="badge-20"/>
          <p:cNvSpPr/>
          <p:nvPr/>
        </p:nvSpPr>
        <p:spPr>
          <a:xfrm>
            <a:off x="9601200" y="1600200"/>
            <a:ext cx="502920" cy="502920"/>
          </a:xfrm>
          <a:prstGeom prst="ellipse">
            <a:avLst/>
          </a:prstGeom>
          <a:solidFill>
            <a:schemeClr val="accent3"/>
          </a:solidFill>
          <a:ln/>
        </p:spPr>
      </p:sp>
      <p:pic>
        <p:nvPicPr>
          <p:cNvPr id="13" name="Image 1" descr="icon">    </p:cNvPr>
          <p:cNvPicPr>
            <a:picLocks noChangeAspect="1"/>
          </p:cNvPicPr>
          <p:nvPr/>
        </p:nvPicPr>
        <p:blipFill>
          <a:blip r:embed="rId2"/>
          <a:stretch>
            <a:fillRect/>
          </a:stretch>
        </p:blipFill>
        <p:spPr>
          <a:xfrm>
            <a:off x="9729216" y="1728216"/>
            <a:ext cx="246888" cy="246888"/>
          </a:xfrm>
          <a:prstGeom prst="rect">
            <a:avLst/>
          </a:prstGeom>
        </p:spPr>
      </p:pic>
      <p:sp>
        <p:nvSpPr>
          <p:cNvPr id="14" name="text-21"/>
          <p:cNvSpPr txBox="1"/>
          <p:nvPr/>
        </p:nvSpPr>
        <p:spPr>
          <a:xfrm>
            <a:off x="9601200" y="2240280"/>
            <a:ext cx="2011680" cy="640080"/>
          </a:xfrm>
          <a:prstGeom prst="rect">
            <a:avLst/>
          </a:prstGeom>
          <a:noFill/>
          <a:ln/>
        </p:spPr>
        <p:txBody>
          <a:bodyPr wrap="square" lIns="0" tIns="0" rIns="0" bIns="0" rtlCol="0" anchor="t"/>
          <a:lstStyle/>
          <a:p>
            <a:pPr algn="l" indent="0" marL="0">
              <a:buNone/>
            </a:pPr>
            <a:r>
              <a:rPr lang="en-US" sz="4000" b="1" dirty="0">
                <a:solidFill>
                  <a:schemeClr val="tx2"/>
                </a:solidFill>
                <a:latin typeface="Cambria" pitchFamily="34" charset="0"/>
                <a:ea typeface="Cambria" pitchFamily="34" charset="-122"/>
                <a:cs typeface="Cambria" pitchFamily="34" charset="-120"/>
              </a:rPr>
              <a:t>7</a:t>
            </a:r>
            <a:endParaRPr lang="en-US" sz="4000" dirty="0"/>
          </a:p>
        </p:txBody>
      </p:sp>
      <p:sp>
        <p:nvSpPr>
          <p:cNvPr id="15" name="text-22"/>
          <p:cNvSpPr txBox="1"/>
          <p:nvPr/>
        </p:nvSpPr>
        <p:spPr>
          <a:xfrm>
            <a:off x="9601200" y="2880360"/>
            <a:ext cx="2011680" cy="548640"/>
          </a:xfrm>
          <a:prstGeom prst="rect">
            <a:avLst/>
          </a:prstGeom>
          <a:noFill/>
          <a:ln/>
        </p:spPr>
        <p:txBody>
          <a:bodyPr wrap="square" lIns="0" tIns="0" rIns="0" bIns="0" rtlCol="0" anchor="t"/>
          <a:lstStyle/>
          <a:p>
            <a:pPr algn="l" indent="0" marL="0">
              <a:buNone/>
            </a:pPr>
            <a:r>
              <a:rPr lang="en-US" sz="1300" dirty="0">
                <a:solidFill>
                  <a:schemeClr val="accent6"/>
                </a:solidFill>
              </a:rPr>
              <a:t>gated phases, one active at a time</a:t>
            </a:r>
            <a:endParaRPr lang="en-US" sz="1300" dirty="0"/>
          </a:p>
        </p:txBody>
      </p:sp>
      <p:sp>
        <p:nvSpPr>
          <p:cNvPr id="16" name="stat-card-3"/>
          <p:cNvSpPr/>
          <p:nvPr/>
        </p:nvSpPr>
        <p:spPr>
          <a:xfrm>
            <a:off x="6766560" y="3703320"/>
            <a:ext cx="2423160" cy="2148840"/>
          </a:xfrm>
          <a:prstGeom prst="roundRect">
            <a:avLst>
              <a:gd name="adj" fmla="val 4255"/>
            </a:avLst>
          </a:prstGeom>
          <a:solidFill>
            <a:srgbClr val="EEF2F6"/>
          </a:solidFill>
          <a:ln/>
        </p:spPr>
      </p:sp>
      <p:sp>
        <p:nvSpPr>
          <p:cNvPr id="17" name="badge-23"/>
          <p:cNvSpPr/>
          <p:nvPr/>
        </p:nvSpPr>
        <p:spPr>
          <a:xfrm>
            <a:off x="6995160" y="3931920"/>
            <a:ext cx="502920" cy="502920"/>
          </a:xfrm>
          <a:prstGeom prst="ellipse">
            <a:avLst/>
          </a:prstGeom>
          <a:solidFill>
            <a:schemeClr val="accent4"/>
          </a:solidFill>
          <a:ln/>
        </p:spPr>
      </p:sp>
      <p:pic>
        <p:nvPicPr>
          <p:cNvPr id="18" name="Image 2" descr="icon">    </p:cNvPr>
          <p:cNvPicPr>
            <a:picLocks noChangeAspect="1"/>
          </p:cNvPicPr>
          <p:nvPr/>
        </p:nvPicPr>
        <p:blipFill>
          <a:blip r:embed="rId3"/>
          <a:stretch>
            <a:fillRect/>
          </a:stretch>
        </p:blipFill>
        <p:spPr>
          <a:xfrm>
            <a:off x="7123176" y="4059936"/>
            <a:ext cx="246888" cy="246888"/>
          </a:xfrm>
          <a:prstGeom prst="rect">
            <a:avLst/>
          </a:prstGeom>
        </p:spPr>
      </p:pic>
      <p:sp>
        <p:nvSpPr>
          <p:cNvPr id="19" name="text-24"/>
          <p:cNvSpPr txBox="1"/>
          <p:nvPr/>
        </p:nvSpPr>
        <p:spPr>
          <a:xfrm>
            <a:off x="6995160" y="4572000"/>
            <a:ext cx="2011680" cy="640080"/>
          </a:xfrm>
          <a:prstGeom prst="rect">
            <a:avLst/>
          </a:prstGeom>
          <a:noFill/>
          <a:ln/>
        </p:spPr>
        <p:txBody>
          <a:bodyPr wrap="square" lIns="0" tIns="0" rIns="0" bIns="0" rtlCol="0" anchor="t"/>
          <a:lstStyle/>
          <a:p>
            <a:pPr algn="l" indent="0" marL="0">
              <a:buNone/>
            </a:pPr>
            <a:r>
              <a:rPr lang="en-US" sz="4000" b="1" dirty="0">
                <a:solidFill>
                  <a:schemeClr val="tx2"/>
                </a:solidFill>
                <a:latin typeface="Cambria" pitchFamily="34" charset="0"/>
                <a:ea typeface="Cambria" pitchFamily="34" charset="-122"/>
                <a:cs typeface="Cambria" pitchFamily="34" charset="-120"/>
              </a:rPr>
              <a:t>12</a:t>
            </a:r>
            <a:endParaRPr lang="en-US" sz="4000" dirty="0"/>
          </a:p>
        </p:txBody>
      </p:sp>
      <p:sp>
        <p:nvSpPr>
          <p:cNvPr id="20" name="text-25"/>
          <p:cNvSpPr txBox="1"/>
          <p:nvPr/>
        </p:nvSpPr>
        <p:spPr>
          <a:xfrm>
            <a:off x="6995160" y="5212080"/>
            <a:ext cx="2011680" cy="548640"/>
          </a:xfrm>
          <a:prstGeom prst="rect">
            <a:avLst/>
          </a:prstGeom>
          <a:noFill/>
          <a:ln/>
        </p:spPr>
        <p:txBody>
          <a:bodyPr wrap="square" lIns="0" tIns="0" rIns="0" bIns="0" rtlCol="0" anchor="t"/>
          <a:lstStyle/>
          <a:p>
            <a:pPr algn="l" indent="0" marL="0">
              <a:buNone/>
            </a:pPr>
            <a:r>
              <a:rPr lang="en-US" sz="1300" dirty="0">
                <a:solidFill>
                  <a:schemeClr val="accent6"/>
                </a:solidFill>
              </a:rPr>
              <a:t>requirements (7 functional, 5 non-functional)</a:t>
            </a:r>
            <a:endParaRPr lang="en-US" sz="1300" dirty="0"/>
          </a:p>
        </p:txBody>
      </p:sp>
      <p:sp>
        <p:nvSpPr>
          <p:cNvPr id="21" name="stat-card-4"/>
          <p:cNvSpPr/>
          <p:nvPr/>
        </p:nvSpPr>
        <p:spPr>
          <a:xfrm>
            <a:off x="9372600" y="3703320"/>
            <a:ext cx="2423160" cy="2148840"/>
          </a:xfrm>
          <a:prstGeom prst="roundRect">
            <a:avLst>
              <a:gd name="adj" fmla="val 4255"/>
            </a:avLst>
          </a:prstGeom>
          <a:solidFill>
            <a:srgbClr val="EEF2F6"/>
          </a:solidFill>
          <a:ln/>
        </p:spPr>
      </p:sp>
      <p:sp>
        <p:nvSpPr>
          <p:cNvPr id="22" name="badge-26"/>
          <p:cNvSpPr/>
          <p:nvPr/>
        </p:nvSpPr>
        <p:spPr>
          <a:xfrm>
            <a:off x="9601200" y="3931920"/>
            <a:ext cx="502920" cy="502920"/>
          </a:xfrm>
          <a:prstGeom prst="ellipse">
            <a:avLst/>
          </a:prstGeom>
          <a:solidFill>
            <a:schemeClr val="accent5"/>
          </a:solidFill>
          <a:ln/>
        </p:spPr>
      </p:sp>
      <p:pic>
        <p:nvPicPr>
          <p:cNvPr id="23" name="Image 3" descr="icon">    </p:cNvPr>
          <p:cNvPicPr>
            <a:picLocks noChangeAspect="1"/>
          </p:cNvPicPr>
          <p:nvPr/>
        </p:nvPicPr>
        <p:blipFill>
          <a:blip r:embed="rId4"/>
          <a:stretch>
            <a:fillRect/>
          </a:stretch>
        </p:blipFill>
        <p:spPr>
          <a:xfrm>
            <a:off x="9729216" y="4059936"/>
            <a:ext cx="246888" cy="246888"/>
          </a:xfrm>
          <a:prstGeom prst="rect">
            <a:avLst/>
          </a:prstGeom>
        </p:spPr>
      </p:pic>
      <p:sp>
        <p:nvSpPr>
          <p:cNvPr id="24" name="text-27"/>
          <p:cNvSpPr txBox="1"/>
          <p:nvPr/>
        </p:nvSpPr>
        <p:spPr>
          <a:xfrm>
            <a:off x="9601200" y="4572000"/>
            <a:ext cx="2011680" cy="640080"/>
          </a:xfrm>
          <a:prstGeom prst="rect">
            <a:avLst/>
          </a:prstGeom>
          <a:noFill/>
          <a:ln/>
        </p:spPr>
        <p:txBody>
          <a:bodyPr wrap="square" lIns="0" tIns="0" rIns="0" bIns="0" rtlCol="0" anchor="t"/>
          <a:lstStyle/>
          <a:p>
            <a:pPr algn="l" indent="0" marL="0">
              <a:buNone/>
            </a:pPr>
            <a:r>
              <a:rPr lang="en-US" sz="4000" b="1" dirty="0">
                <a:solidFill>
                  <a:schemeClr val="tx2"/>
                </a:solidFill>
                <a:latin typeface="Cambria" pitchFamily="34" charset="0"/>
                <a:ea typeface="Cambria" pitchFamily="34" charset="-122"/>
                <a:cs typeface="Cambria" pitchFamily="34" charset="-120"/>
              </a:rPr>
              <a:t>1 Dec</a:t>
            </a:r>
            <a:endParaRPr lang="en-US" sz="4000" dirty="0"/>
          </a:p>
        </p:txBody>
      </p:sp>
      <p:sp>
        <p:nvSpPr>
          <p:cNvPr id="25" name="text-28"/>
          <p:cNvSpPr txBox="1"/>
          <p:nvPr/>
        </p:nvSpPr>
        <p:spPr>
          <a:xfrm>
            <a:off x="9601200" y="5212080"/>
            <a:ext cx="2011680" cy="548640"/>
          </a:xfrm>
          <a:prstGeom prst="rect">
            <a:avLst/>
          </a:prstGeom>
          <a:noFill/>
          <a:ln/>
        </p:spPr>
        <p:txBody>
          <a:bodyPr wrap="square" lIns="0" tIns="0" rIns="0" bIns="0" rtlCol="0" anchor="t"/>
          <a:lstStyle/>
          <a:p>
            <a:pPr algn="l" indent="0" marL="0">
              <a:buNone/>
            </a:pPr>
            <a:r>
              <a:rPr lang="en-US" sz="1300" dirty="0">
                <a:solidFill>
                  <a:schemeClr val="accent6"/>
                </a:solidFill>
              </a:rPr>
              <a:t>go-live for the first client cohort</a:t>
            </a:r>
            <a:endParaRPr lang="en-US" sz="13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Three apps, three jobs</a:t>
            </a:r>
            <a:endParaRPr lang="en-US" sz="3000" dirty="0"/>
          </a:p>
        </p:txBody>
      </p:sp>
      <p:sp>
        <p:nvSpPr>
          <p:cNvPr id="3" name="app-card-1"/>
          <p:cNvSpPr/>
          <p:nvPr/>
        </p:nvSpPr>
        <p:spPr>
          <a:xfrm>
            <a:off x="548640" y="1371600"/>
            <a:ext cx="3566160" cy="3886200"/>
          </a:xfrm>
          <a:prstGeom prst="roundRect">
            <a:avLst>
              <a:gd name="adj" fmla="val 2564"/>
            </a:avLst>
          </a:prstGeom>
          <a:solidFill>
            <a:srgbClr val="EEF2F6"/>
          </a:solidFill>
          <a:ln/>
        </p:spPr>
      </p:sp>
      <p:sp>
        <p:nvSpPr>
          <p:cNvPr id="4" name="badge-29"/>
          <p:cNvSpPr/>
          <p:nvPr/>
        </p:nvSpPr>
        <p:spPr>
          <a:xfrm>
            <a:off x="822960" y="1645920"/>
            <a:ext cx="731520" cy="731520"/>
          </a:xfrm>
          <a:prstGeom prst="ellipse">
            <a:avLst/>
          </a:prstGeom>
          <a:solidFill>
            <a:srgbClr val="2F855A"/>
          </a:solidFill>
          <a:ln/>
        </p:spPr>
      </p:sp>
      <p:pic>
        <p:nvPicPr>
          <p:cNvPr id="5" name="Image 0" descr="icon">    </p:cNvPr>
          <p:cNvPicPr>
            <a:picLocks noChangeAspect="1"/>
          </p:cNvPicPr>
          <p:nvPr/>
        </p:nvPicPr>
        <p:blipFill>
          <a:blip r:embed="rId1"/>
          <a:stretch>
            <a:fillRect/>
          </a:stretch>
        </p:blipFill>
        <p:spPr>
          <a:xfrm>
            <a:off x="1013155" y="1836115"/>
            <a:ext cx="351130" cy="351130"/>
          </a:xfrm>
          <a:prstGeom prst="rect">
            <a:avLst/>
          </a:prstGeom>
        </p:spPr>
      </p:pic>
      <p:sp>
        <p:nvSpPr>
          <p:cNvPr id="6" name="text-30"/>
          <p:cNvSpPr txBox="1"/>
          <p:nvPr/>
        </p:nvSpPr>
        <p:spPr>
          <a:xfrm>
            <a:off x="822960" y="2560320"/>
            <a:ext cx="3108960" cy="365760"/>
          </a:xfrm>
          <a:prstGeom prst="rect">
            <a:avLst/>
          </a:prstGeom>
          <a:noFill/>
          <a:ln/>
        </p:spPr>
        <p:txBody>
          <a:bodyPr wrap="square" lIns="0" tIns="0" rIns="0" bIns="0" rtlCol="0" anchor="t"/>
          <a:lstStyle/>
          <a:p>
            <a:pPr algn="l" indent="0" marL="0">
              <a:buNone/>
            </a:pPr>
            <a:r>
              <a:rPr lang="en-US" sz="2000" b="1" dirty="0">
                <a:solidFill>
                  <a:schemeClr val="tx2"/>
                </a:solidFill>
              </a:rPr>
              <a:t>Django: INOVEXA Core</a:t>
            </a:r>
            <a:endParaRPr lang="en-US" sz="2000" dirty="0"/>
          </a:p>
        </p:txBody>
      </p:sp>
      <p:sp>
        <p:nvSpPr>
          <p:cNvPr id="7" name="text-31"/>
          <p:cNvSpPr txBox="1"/>
          <p:nvPr/>
        </p:nvSpPr>
        <p:spPr>
          <a:xfrm>
            <a:off x="822960" y="2944368"/>
            <a:ext cx="3108960" cy="274320"/>
          </a:xfrm>
          <a:prstGeom prst="rect">
            <a:avLst/>
          </a:prstGeom>
          <a:noFill/>
          <a:ln/>
        </p:spPr>
        <p:txBody>
          <a:bodyPr wrap="square" lIns="0" tIns="0" rIns="0" bIns="0" rtlCol="0" anchor="t"/>
          <a:lstStyle/>
          <a:p>
            <a:pPr algn="l" indent="0" marL="0">
              <a:buNone/>
            </a:pPr>
            <a:r>
              <a:rPr lang="en-US" sz="1200" b="1" dirty="0">
                <a:solidFill>
                  <a:schemeClr val="accent1"/>
                </a:solidFill>
              </a:rPr>
              <a:t>The hub · app.inovexa.com</a:t>
            </a:r>
            <a:endParaRPr lang="en-US" sz="1200" dirty="0"/>
          </a:p>
        </p:txBody>
      </p:sp>
      <p:sp>
        <p:nvSpPr>
          <p:cNvPr id="8" name="app-list-1"/>
          <p:cNvSpPr txBox="1"/>
          <p:nvPr/>
        </p:nvSpPr>
        <p:spPr>
          <a:xfrm>
            <a:off x="822960" y="3429000"/>
            <a:ext cx="310896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Identity, organizations and roles</a:t>
            </a:r>
            <a:endParaRPr lang="en-US" sz="1400" dirty="0"/>
          </a:p>
          <a:p>
            <a:pPr marL="342900" indent="-342900">
              <a:spcAft>
                <a:spcPts val="800"/>
              </a:spcAft>
              <a:buSzPct val="100000"/>
              <a:buChar char="•"/>
            </a:pPr>
            <a:r>
              <a:rPr lang="en-US" sz="1400" dirty="0">
                <a:solidFill>
                  <a:schemeClr val="tx1"/>
                </a:solidFill>
              </a:rPr>
              <a:t>Billing, licenses and payments</a:t>
            </a:r>
            <a:endParaRPr lang="en-US" sz="1400" dirty="0"/>
          </a:p>
          <a:p>
            <a:pPr marL="342900" indent="-342900">
              <a:spcAft>
                <a:spcPts val="800"/>
              </a:spcAft>
              <a:buSzPct val="100000"/>
              <a:buChar char="•"/>
            </a:pPr>
            <a:r>
              <a:rPr lang="en-US" sz="1400" dirty="0">
                <a:solidFill>
                  <a:schemeClr val="tx1"/>
                </a:solidFill>
              </a:rPr>
              <a:t>Tenant isolation with PostgreSQL RLS</a:t>
            </a:r>
            <a:endParaRPr lang="en-US" sz="1400" dirty="0"/>
          </a:p>
        </p:txBody>
      </p:sp>
      <p:sp>
        <p:nvSpPr>
          <p:cNvPr id="9" name="app-card-2"/>
          <p:cNvSpPr/>
          <p:nvPr/>
        </p:nvSpPr>
        <p:spPr>
          <a:xfrm>
            <a:off x="4297680" y="1371600"/>
            <a:ext cx="3566160" cy="3886200"/>
          </a:xfrm>
          <a:prstGeom prst="roundRect">
            <a:avLst>
              <a:gd name="adj" fmla="val 2564"/>
            </a:avLst>
          </a:prstGeom>
          <a:solidFill>
            <a:srgbClr val="EEF2F6"/>
          </a:solidFill>
          <a:ln/>
        </p:spPr>
      </p:sp>
      <p:sp>
        <p:nvSpPr>
          <p:cNvPr id="10" name="badge-32"/>
          <p:cNvSpPr/>
          <p:nvPr/>
        </p:nvSpPr>
        <p:spPr>
          <a:xfrm>
            <a:off x="4572000" y="1645920"/>
            <a:ext cx="731520" cy="731520"/>
          </a:xfrm>
          <a:prstGeom prst="ellipse">
            <a:avLst/>
          </a:prstGeom>
          <a:solidFill>
            <a:srgbClr val="D9822B"/>
          </a:solidFill>
          <a:ln/>
        </p:spPr>
      </p:sp>
      <p:pic>
        <p:nvPicPr>
          <p:cNvPr id="11" name="Image 1" descr="icon">    </p:cNvPr>
          <p:cNvPicPr>
            <a:picLocks noChangeAspect="1"/>
          </p:cNvPicPr>
          <p:nvPr/>
        </p:nvPicPr>
        <p:blipFill>
          <a:blip r:embed="rId2"/>
          <a:stretch>
            <a:fillRect/>
          </a:stretch>
        </p:blipFill>
        <p:spPr>
          <a:xfrm>
            <a:off x="4762195" y="1836115"/>
            <a:ext cx="351130" cy="351130"/>
          </a:xfrm>
          <a:prstGeom prst="rect">
            <a:avLst/>
          </a:prstGeom>
        </p:spPr>
      </p:pic>
      <p:sp>
        <p:nvSpPr>
          <p:cNvPr id="12" name="text-33"/>
          <p:cNvSpPr txBox="1"/>
          <p:nvPr/>
        </p:nvSpPr>
        <p:spPr>
          <a:xfrm>
            <a:off x="4572000" y="2560320"/>
            <a:ext cx="3108960" cy="365760"/>
          </a:xfrm>
          <a:prstGeom prst="rect">
            <a:avLst/>
          </a:prstGeom>
          <a:noFill/>
          <a:ln/>
        </p:spPr>
        <p:txBody>
          <a:bodyPr wrap="square" lIns="0" tIns="0" rIns="0" bIns="0" rtlCol="0" anchor="t"/>
          <a:lstStyle/>
          <a:p>
            <a:pPr algn="l" indent="0" marL="0">
              <a:buNone/>
            </a:pPr>
            <a:r>
              <a:rPr lang="en-US" sz="2000" b="1" dirty="0">
                <a:solidFill>
                  <a:schemeClr val="tx2"/>
                </a:solidFill>
              </a:rPr>
              <a:t>Moodle LMS</a:t>
            </a:r>
            <a:endParaRPr lang="en-US" sz="2000" dirty="0"/>
          </a:p>
        </p:txBody>
      </p:sp>
      <p:sp>
        <p:nvSpPr>
          <p:cNvPr id="13" name="text-34"/>
          <p:cNvSpPr txBox="1"/>
          <p:nvPr/>
        </p:nvSpPr>
        <p:spPr>
          <a:xfrm>
            <a:off x="4572000" y="2944368"/>
            <a:ext cx="3108960" cy="274320"/>
          </a:xfrm>
          <a:prstGeom prst="rect">
            <a:avLst/>
          </a:prstGeom>
          <a:noFill/>
          <a:ln/>
        </p:spPr>
        <p:txBody>
          <a:bodyPr wrap="square" lIns="0" tIns="0" rIns="0" bIns="0" rtlCol="0" anchor="t"/>
          <a:lstStyle/>
          <a:p>
            <a:pPr algn="l" indent="0" marL="0">
              <a:buNone/>
            </a:pPr>
            <a:r>
              <a:rPr lang="en-US" sz="1200" b="1" dirty="0">
                <a:solidFill>
                  <a:schemeClr val="accent2"/>
                </a:solidFill>
              </a:rPr>
              <a:t>Learning spoke · learn.inovexa.com</a:t>
            </a:r>
            <a:endParaRPr lang="en-US" sz="1200" dirty="0"/>
          </a:p>
        </p:txBody>
      </p:sp>
      <p:sp>
        <p:nvSpPr>
          <p:cNvPr id="14" name="app-list-2"/>
          <p:cNvSpPr txBox="1"/>
          <p:nvPr/>
        </p:nvSpPr>
        <p:spPr>
          <a:xfrm>
            <a:off x="4572000" y="3429000"/>
            <a:ext cx="310896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Courses, quizzes and SCORM</a:t>
            </a:r>
            <a:endParaRPr lang="en-US" sz="1400" dirty="0"/>
          </a:p>
          <a:p>
            <a:pPr marL="342900" indent="-342900">
              <a:spcAft>
                <a:spcPts val="800"/>
              </a:spcAft>
              <a:buSzPct val="100000"/>
              <a:buChar char="•"/>
            </a:pPr>
            <a:r>
              <a:rPr lang="en-US" sz="1400" dirty="0">
                <a:solidFill>
                  <a:schemeClr val="tx1"/>
                </a:solidFill>
              </a:rPr>
              <a:t>Cohorts and course groups</a:t>
            </a:r>
            <a:endParaRPr lang="en-US" sz="1400" dirty="0"/>
          </a:p>
          <a:p>
            <a:pPr marL="342900" indent="-342900">
              <a:spcAft>
                <a:spcPts val="800"/>
              </a:spcAft>
              <a:buSzPct val="100000"/>
              <a:buChar char="•"/>
            </a:pPr>
            <a:r>
              <a:rPr lang="en-US" sz="1400" dirty="0">
                <a:solidFill>
                  <a:schemeClr val="tx1"/>
                </a:solidFill>
              </a:rPr>
              <a:t>Signed-token sign-in via a custom plugin</a:t>
            </a:r>
            <a:endParaRPr lang="en-US" sz="1400" dirty="0"/>
          </a:p>
        </p:txBody>
      </p:sp>
      <p:sp>
        <p:nvSpPr>
          <p:cNvPr id="15" name="app-card-3"/>
          <p:cNvSpPr/>
          <p:nvPr/>
        </p:nvSpPr>
        <p:spPr>
          <a:xfrm>
            <a:off x="8046720" y="1371600"/>
            <a:ext cx="3566160" cy="3886200"/>
          </a:xfrm>
          <a:prstGeom prst="roundRect">
            <a:avLst>
              <a:gd name="adj" fmla="val 2564"/>
            </a:avLst>
          </a:prstGeom>
          <a:solidFill>
            <a:srgbClr val="EEF2F6"/>
          </a:solidFill>
          <a:ln/>
        </p:spPr>
      </p:sp>
      <p:sp>
        <p:nvSpPr>
          <p:cNvPr id="16" name="badge-35"/>
          <p:cNvSpPr/>
          <p:nvPr/>
        </p:nvSpPr>
        <p:spPr>
          <a:xfrm>
            <a:off x="8321040" y="1645920"/>
            <a:ext cx="731520" cy="731520"/>
          </a:xfrm>
          <a:prstGeom prst="ellipse">
            <a:avLst/>
          </a:prstGeom>
          <a:solidFill>
            <a:srgbClr val="2B6CB0"/>
          </a:solidFill>
          <a:ln/>
        </p:spPr>
      </p:sp>
      <p:pic>
        <p:nvPicPr>
          <p:cNvPr id="17" name="Image 2" descr="icon">    </p:cNvPr>
          <p:cNvPicPr>
            <a:picLocks noChangeAspect="1"/>
          </p:cNvPicPr>
          <p:nvPr/>
        </p:nvPicPr>
        <p:blipFill>
          <a:blip r:embed="rId3"/>
          <a:stretch>
            <a:fillRect/>
          </a:stretch>
        </p:blipFill>
        <p:spPr>
          <a:xfrm>
            <a:off x="8511235" y="1836115"/>
            <a:ext cx="351130" cy="351130"/>
          </a:xfrm>
          <a:prstGeom prst="rect">
            <a:avLst/>
          </a:prstGeom>
        </p:spPr>
      </p:pic>
      <p:sp>
        <p:nvSpPr>
          <p:cNvPr id="18" name="text-36"/>
          <p:cNvSpPr txBox="1"/>
          <p:nvPr/>
        </p:nvSpPr>
        <p:spPr>
          <a:xfrm>
            <a:off x="8321040" y="2560320"/>
            <a:ext cx="3108960" cy="365760"/>
          </a:xfrm>
          <a:prstGeom prst="rect">
            <a:avLst/>
          </a:prstGeom>
          <a:noFill/>
          <a:ln/>
        </p:spPr>
        <p:txBody>
          <a:bodyPr wrap="square" lIns="0" tIns="0" rIns="0" bIns="0" rtlCol="0" anchor="t"/>
          <a:lstStyle/>
          <a:p>
            <a:pPr algn="l" indent="0" marL="0">
              <a:buNone/>
            </a:pPr>
            <a:r>
              <a:rPr lang="en-US" sz="2000" b="1" dirty="0">
                <a:solidFill>
                  <a:schemeClr val="tx2"/>
                </a:solidFill>
              </a:rPr>
              <a:t>FastAPI AI service</a:t>
            </a:r>
            <a:endParaRPr lang="en-US" sz="2000" dirty="0"/>
          </a:p>
        </p:txBody>
      </p:sp>
      <p:sp>
        <p:nvSpPr>
          <p:cNvPr id="19" name="text-37"/>
          <p:cNvSpPr txBox="1"/>
          <p:nvPr/>
        </p:nvSpPr>
        <p:spPr>
          <a:xfrm>
            <a:off x="8321040" y="2944368"/>
            <a:ext cx="3108960" cy="274320"/>
          </a:xfrm>
          <a:prstGeom prst="rect">
            <a:avLst/>
          </a:prstGeom>
          <a:noFill/>
          <a:ln/>
        </p:spPr>
        <p:txBody>
          <a:bodyPr wrap="square" lIns="0" tIns="0" rIns="0" bIns="0" rtlCol="0" anchor="t"/>
          <a:lstStyle/>
          <a:p>
            <a:pPr algn="l" indent="0" marL="0">
              <a:buNone/>
            </a:pPr>
            <a:r>
              <a:rPr lang="en-US" sz="1200" b="1" dirty="0">
                <a:solidFill>
                  <a:schemeClr val="accent3"/>
                </a:solidFill>
              </a:rPr>
              <a:t>Coaching spoke · private network</a:t>
            </a:r>
            <a:endParaRPr lang="en-US" sz="1200" dirty="0"/>
          </a:p>
        </p:txBody>
      </p:sp>
      <p:sp>
        <p:nvSpPr>
          <p:cNvPr id="20" name="app-list-3"/>
          <p:cNvSpPr txBox="1"/>
          <p:nvPr/>
        </p:nvSpPr>
        <p:spPr>
          <a:xfrm>
            <a:off x="8321040" y="3429000"/>
            <a:ext cx="310896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Socratic prompts that guide, not answer</a:t>
            </a:r>
            <a:endParaRPr lang="en-US" sz="1400" dirty="0"/>
          </a:p>
          <a:p>
            <a:pPr marL="342900" indent="-342900">
              <a:spcAft>
                <a:spcPts val="800"/>
              </a:spcAft>
              <a:buSzPct val="100000"/>
              <a:buChar char="•"/>
            </a:pPr>
            <a:r>
              <a:rPr lang="en-US" sz="1400" dirty="0">
                <a:solidFill>
                  <a:schemeClr val="tx1"/>
                </a:solidFill>
              </a:rPr>
              <a:t>Live streaming of feedback (SSE)</a:t>
            </a:r>
            <a:endParaRPr lang="en-US" sz="1400" dirty="0"/>
          </a:p>
          <a:p>
            <a:pPr marL="342900" indent="-342900">
              <a:spcAft>
                <a:spcPts val="800"/>
              </a:spcAft>
              <a:buSzPct val="100000"/>
              <a:buChar char="•"/>
            </a:pPr>
            <a:r>
              <a:rPr lang="en-US" sz="1400" dirty="0">
                <a:solidFill>
                  <a:schemeClr val="tx1"/>
                </a:solidFill>
              </a:rPr>
              <a:t>Usage ledger and model fallback</a:t>
            </a:r>
            <a:endParaRPr lang="en-US" sz="1400" dirty="0"/>
          </a:p>
        </p:txBody>
      </p:sp>
      <p:sp>
        <p:nvSpPr>
          <p:cNvPr id="21" name="stack-strip"/>
          <p:cNvSpPr/>
          <p:nvPr/>
        </p:nvSpPr>
        <p:spPr>
          <a:xfrm>
            <a:off x="548640" y="5486400"/>
            <a:ext cx="11064240" cy="640080"/>
          </a:xfrm>
          <a:prstGeom prst="roundRect">
            <a:avLst>
              <a:gd name="adj" fmla="val 14286"/>
            </a:avLst>
          </a:prstGeom>
          <a:solidFill>
            <a:srgbClr val="0F2A43"/>
          </a:solidFill>
          <a:ln/>
        </p:spPr>
      </p:sp>
      <p:sp>
        <p:nvSpPr>
          <p:cNvPr id="22" name="text-38"/>
          <p:cNvSpPr txBox="1"/>
          <p:nvPr/>
        </p:nvSpPr>
        <p:spPr>
          <a:xfrm>
            <a:off x="822960" y="5486400"/>
            <a:ext cx="10515600" cy="640080"/>
          </a:xfrm>
          <a:prstGeom prst="rect">
            <a:avLst/>
          </a:prstGeom>
          <a:noFill/>
          <a:ln/>
        </p:spPr>
        <p:txBody>
          <a:bodyPr wrap="square" lIns="0" tIns="0" rIns="0" bIns="0" rtlCol="0" anchor="ctr"/>
          <a:lstStyle/>
          <a:p>
            <a:pPr algn="ctr" indent="0" marL="0">
              <a:buNone/>
            </a:pPr>
            <a:r>
              <a:rPr lang="en-US" sz="1400" dirty="0">
                <a:solidFill>
                  <a:schemeClr val="bg1"/>
                </a:solidFill>
              </a:rPr>
              <a:t>Django 5 · Python 3.12 · PostgreSQL 16 (RLS) · Redis 7 + Celery · Moodle 4 · FastAPI · Docker Compose · Nginx + Let's Encrypt</a:t>
            </a:r>
            <a:endParaRPr lang="en-US" sz="14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Architecture: Django is the hub, the others are spokes</a:t>
            </a:r>
            <a:endParaRPr lang="en-US" sz="3000" dirty="0"/>
          </a:p>
        </p:txBody>
      </p:sp>
      <p:sp>
        <p:nvSpPr>
          <p:cNvPr id="3" name="users"/>
          <p:cNvSpPr/>
          <p:nvPr/>
        </p:nvSpPr>
        <p:spPr>
          <a:xfrm>
            <a:off x="5486400" y="1280160"/>
            <a:ext cx="2286000" cy="457200"/>
          </a:xfrm>
          <a:prstGeom prst="roundRect">
            <a:avLst>
              <a:gd name="adj" fmla="val 20000"/>
            </a:avLst>
          </a:prstGeom>
          <a:solidFill>
            <a:srgbClr val="EEF2F6"/>
          </a:solidFill>
          <a:ln w="22225">
            <a:solidFill>
              <a:schemeClr val="accent6"/>
            </a:solidFill>
            <a:prstDash val="solid"/>
          </a:ln>
        </p:spPr>
      </p:sp>
      <p:sp>
        <p:nvSpPr>
          <p:cNvPr id="4" name="label-39"/>
          <p:cNvSpPr txBox="1"/>
          <p:nvPr/>
        </p:nvSpPr>
        <p:spPr>
          <a:xfrm>
            <a:off x="5486400" y="1280160"/>
            <a:ext cx="2286000" cy="457200"/>
          </a:xfrm>
          <a:prstGeom prst="rect">
            <a:avLst/>
          </a:prstGeom>
          <a:noFill/>
          <a:ln/>
        </p:spPr>
        <p:txBody>
          <a:bodyPr wrap="square" lIns="635" tIns="635" rIns="635" bIns="635" rtlCol="0" anchor="ctr"/>
          <a:lstStyle/>
          <a:p>
            <a:pPr algn="ctr" indent="0" marL="0">
              <a:buNone/>
            </a:pPr>
            <a:r>
              <a:rPr lang="en-US" sz="1400" b="1" dirty="0">
                <a:solidFill>
                  <a:schemeClr val="tx1"/>
                </a:solidFill>
              </a:rPr>
              <a:t>Users and clients</a:t>
            </a:r>
            <a:endParaRPr lang="en-US" sz="1400" dirty="0"/>
          </a:p>
        </p:txBody>
      </p:sp>
      <p:sp>
        <p:nvSpPr>
          <p:cNvPr id="5" name="nginx"/>
          <p:cNvSpPr/>
          <p:nvPr/>
        </p:nvSpPr>
        <p:spPr>
          <a:xfrm>
            <a:off x="2514600" y="2057400"/>
            <a:ext cx="8275320" cy="566928"/>
          </a:xfrm>
          <a:prstGeom prst="roundRect">
            <a:avLst>
              <a:gd name="adj" fmla="val 16129"/>
            </a:avLst>
          </a:prstGeom>
          <a:solidFill>
            <a:srgbClr val="FFFFFF"/>
          </a:solidFill>
          <a:ln w="28575">
            <a:solidFill>
              <a:schemeClr val="tx2"/>
            </a:solidFill>
            <a:prstDash val="solid"/>
          </a:ln>
        </p:spPr>
      </p:sp>
      <p:sp>
        <p:nvSpPr>
          <p:cNvPr id="6" name="label-40"/>
          <p:cNvSpPr txBox="1"/>
          <p:nvPr/>
        </p:nvSpPr>
        <p:spPr>
          <a:xfrm>
            <a:off x="2514600" y="2057400"/>
            <a:ext cx="8275320" cy="566928"/>
          </a:xfrm>
          <a:prstGeom prst="rect">
            <a:avLst/>
          </a:prstGeom>
          <a:noFill/>
          <a:ln/>
        </p:spPr>
        <p:txBody>
          <a:bodyPr wrap="square" lIns="635" tIns="635" rIns="635" bIns="635" rtlCol="0" anchor="ctr"/>
          <a:lstStyle/>
          <a:p>
            <a:pPr algn="ctr" indent="0" marL="0">
              <a:buNone/>
            </a:pPr>
            <a:r>
              <a:rPr lang="en-US" sz="1400" b="1" dirty="0">
                <a:solidFill>
                  <a:schemeClr val="tx1"/>
                </a:solidFill>
              </a:rPr>
              <a:t>Nginx reverse proxy</a:t>
            </a:r>
            <a:endParaRPr lang="en-US" sz="1400" dirty="0"/>
          </a:p>
          <a:p>
            <a:pPr algn="ctr" indent="0" marL="0">
              <a:buNone/>
            </a:pPr>
            <a:r>
              <a:rPr lang="en-US" sz="1100" dirty="0">
                <a:solidFill>
                  <a:schemeClr val="accent6"/>
                </a:solidFill>
              </a:rPr>
              <a:t>TLS · domain routing · rate limiting</a:t>
            </a:r>
            <a:endParaRPr lang="en-US" sz="1400" dirty="0"/>
          </a:p>
        </p:txBody>
      </p:sp>
      <p:sp>
        <p:nvSpPr>
          <p:cNvPr id="7" name="payments"/>
          <p:cNvSpPr/>
          <p:nvPr/>
        </p:nvSpPr>
        <p:spPr>
          <a:xfrm>
            <a:off x="548640" y="2057400"/>
            <a:ext cx="1737360" cy="566928"/>
          </a:xfrm>
          <a:prstGeom prst="roundRect">
            <a:avLst>
              <a:gd name="adj" fmla="val 16129"/>
            </a:avLst>
          </a:prstGeom>
          <a:solidFill>
            <a:srgbClr val="EEF2F6"/>
          </a:solidFill>
          <a:ln w="22225">
            <a:solidFill>
              <a:schemeClr val="accent6"/>
            </a:solidFill>
            <a:prstDash val="solid"/>
          </a:ln>
        </p:spPr>
      </p:sp>
      <p:sp>
        <p:nvSpPr>
          <p:cNvPr id="8" name="label-41"/>
          <p:cNvSpPr txBox="1"/>
          <p:nvPr/>
        </p:nvSpPr>
        <p:spPr>
          <a:xfrm>
            <a:off x="548640" y="2057400"/>
            <a:ext cx="1737360" cy="566928"/>
          </a:xfrm>
          <a:prstGeom prst="rect">
            <a:avLst/>
          </a:prstGeom>
          <a:noFill/>
          <a:ln/>
        </p:spPr>
        <p:txBody>
          <a:bodyPr wrap="square" lIns="635" tIns="635" rIns="635" bIns="635" rtlCol="0" anchor="ctr"/>
          <a:lstStyle/>
          <a:p>
            <a:pPr algn="ctr" indent="0" marL="0">
              <a:buNone/>
            </a:pPr>
            <a:r>
              <a:rPr lang="en-US" sz="1200" b="1" dirty="0">
                <a:solidFill>
                  <a:schemeClr val="tx1"/>
                </a:solidFill>
              </a:rPr>
              <a:t>Payment gateway</a:t>
            </a:r>
            <a:endParaRPr lang="en-US" sz="1200" dirty="0"/>
          </a:p>
          <a:p>
            <a:pPr algn="ctr" indent="0" marL="0">
              <a:buNone/>
            </a:pPr>
            <a:r>
              <a:rPr lang="en-US" sz="1000" dirty="0">
                <a:solidFill>
                  <a:schemeClr val="accent6"/>
                </a:solidFill>
              </a:rPr>
              <a:t>mobile money · card</a:t>
            </a:r>
            <a:endParaRPr lang="en-US" sz="1200" dirty="0"/>
          </a:p>
        </p:txBody>
      </p:sp>
      <p:sp>
        <p:nvSpPr>
          <p:cNvPr id="9" name="django"/>
          <p:cNvSpPr/>
          <p:nvPr/>
        </p:nvSpPr>
        <p:spPr>
          <a:xfrm>
            <a:off x="548640" y="3017520"/>
            <a:ext cx="3200400" cy="1325880"/>
          </a:xfrm>
          <a:prstGeom prst="roundRect">
            <a:avLst>
              <a:gd name="adj" fmla="val 6897"/>
            </a:avLst>
          </a:prstGeom>
          <a:solidFill>
            <a:srgbClr val="2F855A">
              <a:alpha val="12000"/>
            </a:srgbClr>
          </a:solidFill>
          <a:ln w="44450">
            <a:solidFill>
              <a:schemeClr val="accent1"/>
            </a:solidFill>
            <a:prstDash val="solid"/>
          </a:ln>
        </p:spPr>
      </p:sp>
      <p:sp>
        <p:nvSpPr>
          <p:cNvPr id="10" name="label-42"/>
          <p:cNvSpPr txBox="1"/>
          <p:nvPr/>
        </p:nvSpPr>
        <p:spPr>
          <a:xfrm>
            <a:off x="548640" y="3017520"/>
            <a:ext cx="3200400" cy="1325880"/>
          </a:xfrm>
          <a:prstGeom prst="rect">
            <a:avLst/>
          </a:prstGeom>
          <a:noFill/>
          <a:ln/>
        </p:spPr>
        <p:txBody>
          <a:bodyPr wrap="square" lIns="635" tIns="635" rIns="635" bIns="635" rtlCol="0" anchor="ctr"/>
          <a:lstStyle/>
          <a:p>
            <a:pPr algn="ctr" indent="0" marL="0">
              <a:buNone/>
            </a:pPr>
            <a:r>
              <a:rPr lang="en-US" sz="1500" b="1" dirty="0">
                <a:solidFill>
                  <a:schemeClr val="tx1"/>
                </a:solidFill>
              </a:rPr>
              <a:t>INOVEXA Core · Django</a:t>
            </a:r>
            <a:endParaRPr lang="en-US" sz="1500" dirty="0"/>
          </a:p>
          <a:p>
            <a:pPr algn="ctr" indent="0" marL="0">
              <a:buNone/>
            </a:pPr>
            <a:r>
              <a:rPr lang="en-US" sz="1100" dirty="0">
                <a:solidFill>
                  <a:schemeClr val="accent6"/>
                </a:solidFill>
              </a:rPr>
              <a:t>app.inovexa.com</a:t>
            </a:r>
            <a:endParaRPr lang="en-US" sz="1500" dirty="0"/>
          </a:p>
          <a:p>
            <a:pPr algn="ctr" indent="0" marL="0">
              <a:buNone/>
            </a:pPr>
            <a:r>
              <a:rPr lang="en-US" sz="1300" dirty="0">
                <a:solidFill>
                  <a:schemeClr val="tx1"/>
                </a:solidFill>
              </a:rPr>
              <a:t>CRM · identity · billing</a:t>
            </a:r>
            <a:endParaRPr lang="en-US" sz="1500" dirty="0"/>
          </a:p>
          <a:p>
            <a:pPr algn="ctr" indent="0" marL="0">
              <a:buNone/>
            </a:pPr>
            <a:r>
              <a:rPr lang="en-US" sz="1300" dirty="0">
                <a:solidFill>
                  <a:schemeClr val="tx1"/>
                </a:solidFill>
              </a:rPr>
              <a:t>subscriptions · RLS tenancy</a:t>
            </a:r>
            <a:endParaRPr lang="en-US" sz="1500" dirty="0"/>
          </a:p>
        </p:txBody>
      </p:sp>
      <p:sp>
        <p:nvSpPr>
          <p:cNvPr id="11" name="moodle"/>
          <p:cNvSpPr/>
          <p:nvPr/>
        </p:nvSpPr>
        <p:spPr>
          <a:xfrm>
            <a:off x="4526280" y="3017520"/>
            <a:ext cx="3200400" cy="1325880"/>
          </a:xfrm>
          <a:prstGeom prst="roundRect">
            <a:avLst>
              <a:gd name="adj" fmla="val 6897"/>
            </a:avLst>
          </a:prstGeom>
          <a:solidFill>
            <a:srgbClr val="D9822B">
              <a:alpha val="12000"/>
            </a:srgbClr>
          </a:solidFill>
          <a:ln w="22225">
            <a:solidFill>
              <a:schemeClr val="accent2"/>
            </a:solidFill>
            <a:prstDash val="solid"/>
          </a:ln>
        </p:spPr>
      </p:sp>
      <p:sp>
        <p:nvSpPr>
          <p:cNvPr id="12" name="label-43"/>
          <p:cNvSpPr txBox="1"/>
          <p:nvPr/>
        </p:nvSpPr>
        <p:spPr>
          <a:xfrm>
            <a:off x="4526280" y="3017520"/>
            <a:ext cx="3200400" cy="1325880"/>
          </a:xfrm>
          <a:prstGeom prst="rect">
            <a:avLst/>
          </a:prstGeom>
          <a:noFill/>
          <a:ln/>
        </p:spPr>
        <p:txBody>
          <a:bodyPr wrap="square" lIns="635" tIns="635" rIns="635" bIns="635" rtlCol="0" anchor="ctr"/>
          <a:lstStyle/>
          <a:p>
            <a:pPr algn="ctr" indent="0" marL="0">
              <a:buNone/>
            </a:pPr>
            <a:r>
              <a:rPr lang="en-US" sz="1500" b="1" dirty="0">
                <a:solidFill>
                  <a:schemeClr val="tx1"/>
                </a:solidFill>
              </a:rPr>
              <a:t>Moodle LMS</a:t>
            </a:r>
            <a:endParaRPr lang="en-US" sz="1500" dirty="0"/>
          </a:p>
          <a:p>
            <a:pPr algn="ctr" indent="0" marL="0">
              <a:buNone/>
            </a:pPr>
            <a:r>
              <a:rPr lang="en-US" sz="1100" dirty="0">
                <a:solidFill>
                  <a:schemeClr val="accent6"/>
                </a:solidFill>
              </a:rPr>
              <a:t>learn.inovexa.com</a:t>
            </a:r>
            <a:endParaRPr lang="en-US" sz="1500" dirty="0"/>
          </a:p>
          <a:p>
            <a:pPr algn="ctr" indent="0" marL="0">
              <a:buNone/>
            </a:pPr>
            <a:r>
              <a:rPr lang="en-US" sz="1300" dirty="0">
                <a:solidFill>
                  <a:schemeClr val="tx1"/>
                </a:solidFill>
              </a:rPr>
              <a:t>courses · quizzes · SCORM</a:t>
            </a:r>
            <a:endParaRPr lang="en-US" sz="1500" dirty="0"/>
          </a:p>
          <a:p>
            <a:pPr algn="ctr" indent="0" marL="0">
              <a:buNone/>
            </a:pPr>
            <a:r>
              <a:rPr lang="en-US" sz="1300" dirty="0">
                <a:solidFill>
                  <a:schemeClr val="tx1"/>
                </a:solidFill>
              </a:rPr>
              <a:t>cohorts · groups · JWT login</a:t>
            </a:r>
            <a:endParaRPr lang="en-US" sz="1500" dirty="0"/>
          </a:p>
        </p:txBody>
      </p:sp>
      <p:sp>
        <p:nvSpPr>
          <p:cNvPr id="13" name="fastapi"/>
          <p:cNvSpPr/>
          <p:nvPr/>
        </p:nvSpPr>
        <p:spPr>
          <a:xfrm>
            <a:off x="8503920" y="3017520"/>
            <a:ext cx="3108960" cy="1325880"/>
          </a:xfrm>
          <a:prstGeom prst="roundRect">
            <a:avLst>
              <a:gd name="adj" fmla="val 6897"/>
            </a:avLst>
          </a:prstGeom>
          <a:solidFill>
            <a:srgbClr val="2B6CB0">
              <a:alpha val="12000"/>
            </a:srgbClr>
          </a:solidFill>
          <a:ln w="22225">
            <a:solidFill>
              <a:schemeClr val="accent3"/>
            </a:solidFill>
            <a:prstDash val="dash"/>
          </a:ln>
        </p:spPr>
      </p:sp>
      <p:sp>
        <p:nvSpPr>
          <p:cNvPr id="14" name="label-44"/>
          <p:cNvSpPr txBox="1"/>
          <p:nvPr/>
        </p:nvSpPr>
        <p:spPr>
          <a:xfrm>
            <a:off x="8503920" y="3017520"/>
            <a:ext cx="3108960" cy="1325880"/>
          </a:xfrm>
          <a:prstGeom prst="rect">
            <a:avLst/>
          </a:prstGeom>
          <a:noFill/>
          <a:ln/>
        </p:spPr>
        <p:txBody>
          <a:bodyPr wrap="square" lIns="635" tIns="635" rIns="635" bIns="635" rtlCol="0" anchor="ctr"/>
          <a:lstStyle/>
          <a:p>
            <a:pPr algn="ctr" indent="0" marL="0">
              <a:buNone/>
            </a:pPr>
            <a:r>
              <a:rPr lang="en-US" sz="1500" b="1" dirty="0">
                <a:solidFill>
                  <a:schemeClr val="tx1"/>
                </a:solidFill>
              </a:rPr>
              <a:t>FastAPI AI service</a:t>
            </a:r>
            <a:endParaRPr lang="en-US" sz="1500" dirty="0"/>
          </a:p>
          <a:p>
            <a:pPr algn="ctr" indent="0" marL="0">
              <a:buNone/>
            </a:pPr>
            <a:r>
              <a:rPr lang="en-US" sz="1100" b="1" dirty="0">
                <a:solidFill>
                  <a:schemeClr val="accent3"/>
                </a:solidFill>
              </a:rPr>
              <a:t>internal network only</a:t>
            </a:r>
            <a:endParaRPr lang="en-US" sz="1500" dirty="0"/>
          </a:p>
          <a:p>
            <a:pPr algn="ctr" indent="0" marL="0">
              <a:buNone/>
            </a:pPr>
            <a:r>
              <a:rPr lang="en-US" sz="1300" dirty="0">
                <a:solidFill>
                  <a:schemeClr val="tx1"/>
                </a:solidFill>
              </a:rPr>
              <a:t>Socratic prompts · SSE</a:t>
            </a:r>
            <a:endParaRPr lang="en-US" sz="1500" dirty="0"/>
          </a:p>
          <a:p>
            <a:pPr algn="ctr" indent="0" marL="0">
              <a:buNone/>
            </a:pPr>
            <a:r>
              <a:rPr lang="en-US" sz="1300" dirty="0">
                <a:solidFill>
                  <a:schemeClr val="tx1"/>
                </a:solidFill>
              </a:rPr>
              <a:t>usage ledger · fallback</a:t>
            </a:r>
            <a:endParaRPr lang="en-US" sz="1500" dirty="0"/>
          </a:p>
        </p:txBody>
      </p:sp>
      <p:sp>
        <p:nvSpPr>
          <p:cNvPr id="15" name="celery"/>
          <p:cNvSpPr/>
          <p:nvPr/>
        </p:nvSpPr>
        <p:spPr>
          <a:xfrm>
            <a:off x="1280160" y="4617720"/>
            <a:ext cx="2651760" cy="548640"/>
          </a:xfrm>
          <a:prstGeom prst="roundRect">
            <a:avLst>
              <a:gd name="adj" fmla="val 16667"/>
            </a:avLst>
          </a:prstGeom>
          <a:solidFill>
            <a:srgbClr val="2F855A">
              <a:alpha val="12000"/>
            </a:srgbClr>
          </a:solidFill>
          <a:ln w="22225">
            <a:solidFill>
              <a:schemeClr val="accent1"/>
            </a:solidFill>
            <a:prstDash val="solid"/>
          </a:ln>
        </p:spPr>
      </p:sp>
      <p:sp>
        <p:nvSpPr>
          <p:cNvPr id="16" name="label-45"/>
          <p:cNvSpPr txBox="1"/>
          <p:nvPr/>
        </p:nvSpPr>
        <p:spPr>
          <a:xfrm>
            <a:off x="1280160" y="4617720"/>
            <a:ext cx="2651760" cy="548640"/>
          </a:xfrm>
          <a:prstGeom prst="rect">
            <a:avLst/>
          </a:prstGeom>
          <a:noFill/>
          <a:ln/>
        </p:spPr>
        <p:txBody>
          <a:bodyPr wrap="square" lIns="635" tIns="635" rIns="635" bIns="635" rtlCol="0" anchor="ctr"/>
          <a:lstStyle/>
          <a:p>
            <a:pPr algn="ctr" indent="0" marL="0">
              <a:buNone/>
            </a:pPr>
            <a:r>
              <a:rPr lang="en-US" sz="1300" b="1" dirty="0">
                <a:solidFill>
                  <a:schemeClr val="tx1"/>
                </a:solidFill>
              </a:rPr>
              <a:t>Celery workers</a:t>
            </a:r>
            <a:endParaRPr lang="en-US" sz="1300" dirty="0"/>
          </a:p>
          <a:p>
            <a:pPr algn="ctr" indent="0" marL="0">
              <a:buNone/>
            </a:pPr>
            <a:r>
              <a:rPr lang="en-US" sz="1100" dirty="0">
                <a:solidFill>
                  <a:schemeClr val="accent6"/>
                </a:solidFill>
              </a:rPr>
              <a:t>provisioning · retries</a:t>
            </a:r>
            <a:endParaRPr lang="en-US" sz="1300" dirty="0"/>
          </a:p>
        </p:txBody>
      </p:sp>
      <p:sp>
        <p:nvSpPr>
          <p:cNvPr id="17" name="db-core"/>
          <p:cNvSpPr/>
          <p:nvPr/>
        </p:nvSpPr>
        <p:spPr>
          <a:xfrm>
            <a:off x="548640" y="5486400"/>
            <a:ext cx="1828800" cy="658368"/>
          </a:xfrm>
          <a:prstGeom prst="roundRect">
            <a:avLst>
              <a:gd name="adj" fmla="val 13889"/>
            </a:avLst>
          </a:prstGeom>
          <a:solidFill>
            <a:srgbClr val="6B46C1">
              <a:alpha val="12000"/>
            </a:srgbClr>
          </a:solidFill>
          <a:ln w="22225">
            <a:solidFill>
              <a:schemeClr val="accent4"/>
            </a:solidFill>
            <a:prstDash val="solid"/>
          </a:ln>
        </p:spPr>
      </p:sp>
      <p:sp>
        <p:nvSpPr>
          <p:cNvPr id="18" name="label-46"/>
          <p:cNvSpPr txBox="1"/>
          <p:nvPr/>
        </p:nvSpPr>
        <p:spPr>
          <a:xfrm>
            <a:off x="548640" y="5486400"/>
            <a:ext cx="1828800" cy="658368"/>
          </a:xfrm>
          <a:prstGeom prst="rect">
            <a:avLst/>
          </a:prstGeom>
          <a:noFill/>
          <a:ln/>
        </p:spPr>
        <p:txBody>
          <a:bodyPr wrap="square" lIns="635" tIns="635" rIns="635" bIns="635" rtlCol="0" anchor="ctr"/>
          <a:lstStyle/>
          <a:p>
            <a:pPr algn="ctr" indent="0" marL="0">
              <a:buNone/>
            </a:pPr>
            <a:r>
              <a:rPr lang="en-US" sz="1200" b="1" dirty="0">
                <a:solidFill>
                  <a:schemeClr val="tx1"/>
                </a:solidFill>
              </a:rPr>
              <a:t>PostgreSQL 16</a:t>
            </a:r>
            <a:endParaRPr lang="en-US" sz="1200" dirty="0"/>
          </a:p>
          <a:p>
            <a:pPr algn="ctr" indent="0" marL="0">
              <a:buNone/>
            </a:pPr>
            <a:r>
              <a:rPr lang="en-US" sz="1100" dirty="0">
                <a:solidFill>
                  <a:schemeClr val="accent6"/>
                </a:solidFill>
              </a:rPr>
              <a:t>inovexa_db · RLS</a:t>
            </a:r>
            <a:endParaRPr lang="en-US" sz="1200" dirty="0"/>
          </a:p>
        </p:txBody>
      </p:sp>
      <p:sp>
        <p:nvSpPr>
          <p:cNvPr id="19" name="redis"/>
          <p:cNvSpPr/>
          <p:nvPr/>
        </p:nvSpPr>
        <p:spPr>
          <a:xfrm>
            <a:off x="2606040" y="5486400"/>
            <a:ext cx="1554480" cy="658368"/>
          </a:xfrm>
          <a:prstGeom prst="roundRect">
            <a:avLst>
              <a:gd name="adj" fmla="val 13889"/>
            </a:avLst>
          </a:prstGeom>
          <a:solidFill>
            <a:srgbClr val="6B46C1">
              <a:alpha val="12000"/>
            </a:srgbClr>
          </a:solidFill>
          <a:ln w="22225">
            <a:solidFill>
              <a:schemeClr val="accent4"/>
            </a:solidFill>
            <a:prstDash val="solid"/>
          </a:ln>
        </p:spPr>
      </p:sp>
      <p:sp>
        <p:nvSpPr>
          <p:cNvPr id="20" name="label-47"/>
          <p:cNvSpPr txBox="1"/>
          <p:nvPr/>
        </p:nvSpPr>
        <p:spPr>
          <a:xfrm>
            <a:off x="2606040" y="5486400"/>
            <a:ext cx="1554480" cy="658368"/>
          </a:xfrm>
          <a:prstGeom prst="rect">
            <a:avLst/>
          </a:prstGeom>
          <a:noFill/>
          <a:ln/>
        </p:spPr>
        <p:txBody>
          <a:bodyPr wrap="square" lIns="635" tIns="635" rIns="635" bIns="635" rtlCol="0" anchor="ctr"/>
          <a:lstStyle/>
          <a:p>
            <a:pPr algn="ctr" indent="0" marL="0">
              <a:buNone/>
            </a:pPr>
            <a:r>
              <a:rPr lang="en-US" sz="1200" b="1" dirty="0">
                <a:solidFill>
                  <a:schemeClr val="tx1"/>
                </a:solidFill>
              </a:rPr>
              <a:t>Redis 7</a:t>
            </a:r>
            <a:endParaRPr lang="en-US" sz="1200" dirty="0"/>
          </a:p>
          <a:p>
            <a:pPr algn="ctr" indent="0" marL="0">
              <a:buNone/>
            </a:pPr>
            <a:r>
              <a:rPr lang="en-US" sz="1100" dirty="0">
                <a:solidFill>
                  <a:schemeClr val="accent6"/>
                </a:solidFill>
              </a:rPr>
              <a:t>sessions · queues</a:t>
            </a:r>
            <a:endParaRPr lang="en-US" sz="1200" dirty="0"/>
          </a:p>
        </p:txBody>
      </p:sp>
      <p:sp>
        <p:nvSpPr>
          <p:cNvPr id="21" name="db-moodle"/>
          <p:cNvSpPr/>
          <p:nvPr/>
        </p:nvSpPr>
        <p:spPr>
          <a:xfrm>
            <a:off x="5166360" y="5486400"/>
            <a:ext cx="2194560" cy="658368"/>
          </a:xfrm>
          <a:prstGeom prst="roundRect">
            <a:avLst>
              <a:gd name="adj" fmla="val 13889"/>
            </a:avLst>
          </a:prstGeom>
          <a:solidFill>
            <a:srgbClr val="6B46C1">
              <a:alpha val="12000"/>
            </a:srgbClr>
          </a:solidFill>
          <a:ln w="22225">
            <a:solidFill>
              <a:schemeClr val="accent4"/>
            </a:solidFill>
            <a:prstDash val="solid"/>
          </a:ln>
        </p:spPr>
      </p:sp>
      <p:sp>
        <p:nvSpPr>
          <p:cNvPr id="22" name="label-48"/>
          <p:cNvSpPr txBox="1"/>
          <p:nvPr/>
        </p:nvSpPr>
        <p:spPr>
          <a:xfrm>
            <a:off x="5166360" y="5486400"/>
            <a:ext cx="2194560" cy="658368"/>
          </a:xfrm>
          <a:prstGeom prst="rect">
            <a:avLst/>
          </a:prstGeom>
          <a:noFill/>
          <a:ln/>
        </p:spPr>
        <p:txBody>
          <a:bodyPr wrap="square" lIns="635" tIns="635" rIns="635" bIns="635" rtlCol="0" anchor="ctr"/>
          <a:lstStyle/>
          <a:p>
            <a:pPr algn="ctr" indent="0" marL="0">
              <a:buNone/>
            </a:pPr>
            <a:r>
              <a:rPr lang="en-US" sz="1200" b="1" dirty="0">
                <a:solidFill>
                  <a:schemeClr val="tx1"/>
                </a:solidFill>
              </a:rPr>
              <a:t>PostgreSQL 16</a:t>
            </a:r>
            <a:endParaRPr lang="en-US" sz="1200" dirty="0"/>
          </a:p>
          <a:p>
            <a:pPr algn="ctr" indent="0" marL="0">
              <a:buNone/>
            </a:pPr>
            <a:r>
              <a:rPr lang="en-US" sz="1100" dirty="0">
                <a:solidFill>
                  <a:schemeClr val="accent6"/>
                </a:solidFill>
              </a:rPr>
              <a:t>moodle_db</a:t>
            </a:r>
            <a:endParaRPr lang="en-US" sz="1200" dirty="0"/>
          </a:p>
        </p:txBody>
      </p:sp>
      <p:sp>
        <p:nvSpPr>
          <p:cNvPr id="23" name="llm"/>
          <p:cNvSpPr/>
          <p:nvPr/>
        </p:nvSpPr>
        <p:spPr>
          <a:xfrm>
            <a:off x="9144000" y="5486400"/>
            <a:ext cx="2468880" cy="658368"/>
          </a:xfrm>
          <a:prstGeom prst="roundRect">
            <a:avLst>
              <a:gd name="adj" fmla="val 13889"/>
            </a:avLst>
          </a:prstGeom>
          <a:solidFill>
            <a:srgbClr val="EEF2F6"/>
          </a:solidFill>
          <a:ln w="22225">
            <a:solidFill>
              <a:schemeClr val="accent6"/>
            </a:solidFill>
            <a:prstDash val="solid"/>
          </a:ln>
        </p:spPr>
      </p:sp>
      <p:sp>
        <p:nvSpPr>
          <p:cNvPr id="24" name="label-49"/>
          <p:cNvSpPr txBox="1"/>
          <p:nvPr/>
        </p:nvSpPr>
        <p:spPr>
          <a:xfrm>
            <a:off x="9144000" y="5486400"/>
            <a:ext cx="2468880" cy="658368"/>
          </a:xfrm>
          <a:prstGeom prst="rect">
            <a:avLst/>
          </a:prstGeom>
          <a:noFill/>
          <a:ln/>
        </p:spPr>
        <p:txBody>
          <a:bodyPr wrap="square" lIns="635" tIns="635" rIns="635" bIns="635" rtlCol="0" anchor="ctr"/>
          <a:lstStyle/>
          <a:p>
            <a:pPr algn="ctr" indent="0" marL="0">
              <a:buNone/>
            </a:pPr>
            <a:r>
              <a:rPr lang="en-US" sz="1200" b="1" dirty="0">
                <a:solidFill>
                  <a:schemeClr val="tx1"/>
                </a:solidFill>
              </a:rPr>
              <a:t>LLM providers</a:t>
            </a:r>
            <a:endParaRPr lang="en-US" sz="1200" dirty="0"/>
          </a:p>
          <a:p>
            <a:pPr algn="ctr" indent="0" marL="0">
              <a:buNone/>
            </a:pPr>
            <a:r>
              <a:rPr lang="en-US" sz="1100" dirty="0">
                <a:solidFill>
                  <a:schemeClr val="accent6"/>
                </a:solidFill>
              </a:rPr>
              <a:t>external or self-hosted</a:t>
            </a:r>
            <a:endParaRPr lang="en-US" sz="1200" dirty="0"/>
          </a:p>
        </p:txBody>
      </p:sp>
      <p:sp>
        <p:nvSpPr>
          <p:cNvPr id="25" name="arrow-50"/>
          <p:cNvSpPr/>
          <p:nvPr/>
        </p:nvSpPr>
        <p:spPr>
          <a:xfrm>
            <a:off x="6629400" y="1737360"/>
            <a:ext cx="0" cy="320040"/>
          </a:xfrm>
          <a:prstGeom prst="line">
            <a:avLst/>
          </a:prstGeom>
          <a:noFill/>
          <a:ln w="22225">
            <a:solidFill>
              <a:schemeClr val="accent6"/>
            </a:solidFill>
            <a:prstDash val="solid"/>
            <a:tailEnd type="triangle"/>
          </a:ln>
        </p:spPr>
      </p:sp>
      <p:sp>
        <p:nvSpPr>
          <p:cNvPr id="26" name="arrow-51"/>
          <p:cNvSpPr/>
          <p:nvPr/>
        </p:nvSpPr>
        <p:spPr>
          <a:xfrm>
            <a:off x="3017520" y="2624328"/>
            <a:ext cx="0" cy="393192"/>
          </a:xfrm>
          <a:prstGeom prst="line">
            <a:avLst/>
          </a:prstGeom>
          <a:noFill/>
          <a:ln w="22225">
            <a:solidFill>
              <a:schemeClr val="accent6"/>
            </a:solidFill>
            <a:prstDash val="solid"/>
            <a:tailEnd type="triangle"/>
          </a:ln>
        </p:spPr>
      </p:sp>
      <p:sp>
        <p:nvSpPr>
          <p:cNvPr id="27" name="arrow-52"/>
          <p:cNvSpPr/>
          <p:nvPr/>
        </p:nvSpPr>
        <p:spPr>
          <a:xfrm>
            <a:off x="6126480" y="2624328"/>
            <a:ext cx="0" cy="393192"/>
          </a:xfrm>
          <a:prstGeom prst="line">
            <a:avLst/>
          </a:prstGeom>
          <a:noFill/>
          <a:ln w="22225">
            <a:solidFill>
              <a:schemeClr val="accent6"/>
            </a:solidFill>
            <a:prstDash val="solid"/>
            <a:tailEnd type="triangle"/>
          </a:ln>
        </p:spPr>
      </p:sp>
      <p:sp>
        <p:nvSpPr>
          <p:cNvPr id="28" name="arrow-53"/>
          <p:cNvSpPr/>
          <p:nvPr/>
        </p:nvSpPr>
        <p:spPr>
          <a:xfrm>
            <a:off x="10058400" y="2624328"/>
            <a:ext cx="0" cy="393192"/>
          </a:xfrm>
          <a:prstGeom prst="line">
            <a:avLst/>
          </a:prstGeom>
          <a:noFill/>
          <a:ln w="22225">
            <a:solidFill>
              <a:schemeClr val="accent5"/>
            </a:solidFill>
            <a:prstDash val="dash"/>
            <a:tailEnd type="triangle"/>
          </a:ln>
        </p:spPr>
      </p:sp>
      <p:sp>
        <p:nvSpPr>
          <p:cNvPr id="29" name="text-54"/>
          <p:cNvSpPr txBox="1"/>
          <p:nvPr/>
        </p:nvSpPr>
        <p:spPr>
          <a:xfrm>
            <a:off x="8595360" y="2697480"/>
            <a:ext cx="1417320" cy="228600"/>
          </a:xfrm>
          <a:prstGeom prst="rect">
            <a:avLst/>
          </a:prstGeom>
          <a:noFill/>
          <a:ln/>
        </p:spPr>
        <p:txBody>
          <a:bodyPr wrap="square" lIns="0" tIns="0" rIns="0" bIns="0" rtlCol="0" anchor="t"/>
          <a:lstStyle/>
          <a:p>
            <a:pPr algn="r" indent="0" marL="0">
              <a:buNone/>
            </a:pPr>
            <a:r>
              <a:rPr lang="en-US" sz="1000" dirty="0">
                <a:solidFill>
                  <a:schemeClr val="accent5"/>
                </a:solidFill>
              </a:rPr>
              <a:t>no public route</a:t>
            </a:r>
            <a:endParaRPr lang="en-US" sz="1000" dirty="0"/>
          </a:p>
        </p:txBody>
      </p:sp>
      <p:sp>
        <p:nvSpPr>
          <p:cNvPr id="30" name="arrow-55"/>
          <p:cNvSpPr/>
          <p:nvPr/>
        </p:nvSpPr>
        <p:spPr>
          <a:xfrm>
            <a:off x="914400" y="2624328"/>
            <a:ext cx="0" cy="393192"/>
          </a:xfrm>
          <a:prstGeom prst="line">
            <a:avLst/>
          </a:prstGeom>
          <a:noFill/>
          <a:ln w="22225">
            <a:solidFill>
              <a:schemeClr val="accent6"/>
            </a:solidFill>
            <a:prstDash val="solid"/>
            <a:tailEnd type="triangle"/>
          </a:ln>
        </p:spPr>
      </p:sp>
      <p:sp>
        <p:nvSpPr>
          <p:cNvPr id="31" name="text-56"/>
          <p:cNvSpPr txBox="1"/>
          <p:nvPr/>
        </p:nvSpPr>
        <p:spPr>
          <a:xfrm>
            <a:off x="1005840" y="2697480"/>
            <a:ext cx="1188720" cy="228600"/>
          </a:xfrm>
          <a:prstGeom prst="rect">
            <a:avLst/>
          </a:prstGeom>
          <a:noFill/>
          <a:ln/>
        </p:spPr>
        <p:txBody>
          <a:bodyPr wrap="square" lIns="0" tIns="0" rIns="0" bIns="0" rtlCol="0" anchor="t"/>
          <a:lstStyle/>
          <a:p>
            <a:pPr algn="l" indent="0" marL="0">
              <a:buNone/>
            </a:pPr>
            <a:r>
              <a:rPr lang="en-US" sz="1000" dirty="0">
                <a:solidFill>
                  <a:schemeClr val="accent6"/>
                </a:solidFill>
              </a:rPr>
              <a:t>receipt / webhook</a:t>
            </a:r>
            <a:endParaRPr lang="en-US" sz="1000" dirty="0"/>
          </a:p>
        </p:txBody>
      </p:sp>
      <p:sp>
        <p:nvSpPr>
          <p:cNvPr id="32" name="arrow-57"/>
          <p:cNvSpPr/>
          <p:nvPr/>
        </p:nvSpPr>
        <p:spPr>
          <a:xfrm flipH="1">
            <a:off x="3749040" y="3383280"/>
            <a:ext cx="777240" cy="0"/>
          </a:xfrm>
          <a:prstGeom prst="line">
            <a:avLst/>
          </a:prstGeom>
          <a:noFill/>
          <a:ln w="22225">
            <a:solidFill>
              <a:schemeClr val="accent6"/>
            </a:solidFill>
            <a:prstDash val="solid"/>
            <a:tailEnd type="triangle"/>
          </a:ln>
        </p:spPr>
      </p:sp>
      <p:sp>
        <p:nvSpPr>
          <p:cNvPr id="33" name="text-58"/>
          <p:cNvSpPr txBox="1"/>
          <p:nvPr/>
        </p:nvSpPr>
        <p:spPr>
          <a:xfrm>
            <a:off x="3749040" y="3108960"/>
            <a:ext cx="777240" cy="228600"/>
          </a:xfrm>
          <a:prstGeom prst="rect">
            <a:avLst/>
          </a:prstGeom>
          <a:noFill/>
          <a:ln/>
        </p:spPr>
        <p:txBody>
          <a:bodyPr wrap="square" lIns="0" tIns="0" rIns="0" bIns="0" rtlCol="0" anchor="t"/>
          <a:lstStyle/>
          <a:p>
            <a:pPr algn="ctr" indent="0" marL="0">
              <a:buNone/>
            </a:pPr>
            <a:r>
              <a:rPr lang="en-US" sz="1000" dirty="0">
                <a:solidFill>
                  <a:schemeClr val="accent6"/>
                </a:solidFill>
              </a:rPr>
              <a:t>grade webhook</a:t>
            </a:r>
            <a:endParaRPr lang="en-US" sz="1000" dirty="0"/>
          </a:p>
        </p:txBody>
      </p:sp>
      <p:sp>
        <p:nvSpPr>
          <p:cNvPr id="34" name="arrow-59"/>
          <p:cNvSpPr/>
          <p:nvPr/>
        </p:nvSpPr>
        <p:spPr>
          <a:xfrm>
            <a:off x="7726680" y="3383280"/>
            <a:ext cx="777240" cy="0"/>
          </a:xfrm>
          <a:prstGeom prst="line">
            <a:avLst/>
          </a:prstGeom>
          <a:noFill/>
          <a:ln w="22225">
            <a:solidFill>
              <a:schemeClr val="accent6"/>
            </a:solidFill>
            <a:prstDash val="solid"/>
            <a:tailEnd type="triangle"/>
          </a:ln>
        </p:spPr>
      </p:sp>
      <p:sp>
        <p:nvSpPr>
          <p:cNvPr id="35" name="text-60"/>
          <p:cNvSpPr txBox="1"/>
          <p:nvPr/>
        </p:nvSpPr>
        <p:spPr>
          <a:xfrm>
            <a:off x="7726680" y="3108960"/>
            <a:ext cx="777240" cy="228600"/>
          </a:xfrm>
          <a:prstGeom prst="rect">
            <a:avLst/>
          </a:prstGeom>
          <a:noFill/>
          <a:ln/>
        </p:spPr>
        <p:txBody>
          <a:bodyPr wrap="square" lIns="0" tIns="0" rIns="0" bIns="0" rtlCol="0" anchor="t"/>
          <a:lstStyle/>
          <a:p>
            <a:pPr algn="ctr" indent="0" marL="0">
              <a:buNone/>
            </a:pPr>
            <a:r>
              <a:rPr lang="en-US" sz="1000" dirty="0">
                <a:solidFill>
                  <a:schemeClr val="accent6"/>
                </a:solidFill>
              </a:rPr>
              <a:t>quiz context</a:t>
            </a:r>
            <a:endParaRPr lang="en-US" sz="1000" dirty="0"/>
          </a:p>
        </p:txBody>
      </p:sp>
      <p:sp>
        <p:nvSpPr>
          <p:cNvPr id="36" name="arrow-61"/>
          <p:cNvSpPr/>
          <p:nvPr/>
        </p:nvSpPr>
        <p:spPr>
          <a:xfrm flipH="1">
            <a:off x="7726680" y="3931920"/>
            <a:ext cx="777240" cy="0"/>
          </a:xfrm>
          <a:prstGeom prst="line">
            <a:avLst/>
          </a:prstGeom>
          <a:noFill/>
          <a:ln w="22225">
            <a:solidFill>
              <a:schemeClr val="accent6"/>
            </a:solidFill>
            <a:prstDash val="solid"/>
            <a:tailEnd type="triangle"/>
          </a:ln>
        </p:spPr>
      </p:sp>
      <p:sp>
        <p:nvSpPr>
          <p:cNvPr id="37" name="text-62"/>
          <p:cNvSpPr txBox="1"/>
          <p:nvPr/>
        </p:nvSpPr>
        <p:spPr>
          <a:xfrm>
            <a:off x="7726680" y="3959352"/>
            <a:ext cx="777240" cy="228600"/>
          </a:xfrm>
          <a:prstGeom prst="rect">
            <a:avLst/>
          </a:prstGeom>
          <a:noFill/>
          <a:ln/>
        </p:spPr>
        <p:txBody>
          <a:bodyPr wrap="square" lIns="0" tIns="0" rIns="0" bIns="0" rtlCol="0" anchor="t"/>
          <a:lstStyle/>
          <a:p>
            <a:pPr algn="ctr" indent="0" marL="0">
              <a:buNone/>
            </a:pPr>
            <a:r>
              <a:rPr lang="en-US" sz="1000" dirty="0">
                <a:solidFill>
                  <a:schemeClr val="accent6"/>
                </a:solidFill>
              </a:rPr>
              <a:t>SSE stream</a:t>
            </a:r>
            <a:endParaRPr lang="en-US" sz="1000" dirty="0"/>
          </a:p>
        </p:txBody>
      </p:sp>
      <p:sp>
        <p:nvSpPr>
          <p:cNvPr id="38" name="arrow-63"/>
          <p:cNvSpPr/>
          <p:nvPr/>
        </p:nvSpPr>
        <p:spPr>
          <a:xfrm>
            <a:off x="2606040" y="4343400"/>
            <a:ext cx="0" cy="274320"/>
          </a:xfrm>
          <a:prstGeom prst="line">
            <a:avLst/>
          </a:prstGeom>
          <a:noFill/>
          <a:ln w="22225">
            <a:solidFill>
              <a:schemeClr val="accent6"/>
            </a:solidFill>
            <a:prstDash val="solid"/>
            <a:tailEnd type="triangle"/>
          </a:ln>
        </p:spPr>
      </p:sp>
      <p:sp>
        <p:nvSpPr>
          <p:cNvPr id="39" name="text-64"/>
          <p:cNvSpPr txBox="1"/>
          <p:nvPr/>
        </p:nvSpPr>
        <p:spPr>
          <a:xfrm>
            <a:off x="2670048" y="4407408"/>
            <a:ext cx="640080" cy="182880"/>
          </a:xfrm>
          <a:prstGeom prst="rect">
            <a:avLst/>
          </a:prstGeom>
          <a:noFill/>
          <a:ln/>
        </p:spPr>
        <p:txBody>
          <a:bodyPr wrap="square" lIns="0" tIns="0" rIns="0" bIns="0" rtlCol="0" anchor="t"/>
          <a:lstStyle/>
          <a:p>
            <a:pPr algn="l" indent="0" marL="0">
              <a:buNone/>
            </a:pPr>
            <a:r>
              <a:rPr lang="en-US" sz="1000" dirty="0">
                <a:solidFill>
                  <a:schemeClr val="accent6"/>
                </a:solidFill>
              </a:rPr>
              <a:t>enqueue</a:t>
            </a:r>
            <a:endParaRPr lang="en-US" sz="1000" dirty="0"/>
          </a:p>
        </p:txBody>
      </p:sp>
      <p:sp>
        <p:nvSpPr>
          <p:cNvPr id="40" name="arrow-65"/>
          <p:cNvSpPr/>
          <p:nvPr/>
        </p:nvSpPr>
        <p:spPr>
          <a:xfrm>
            <a:off x="822960" y="4343400"/>
            <a:ext cx="0" cy="1143000"/>
          </a:xfrm>
          <a:prstGeom prst="line">
            <a:avLst/>
          </a:prstGeom>
          <a:noFill/>
          <a:ln w="22225">
            <a:solidFill>
              <a:schemeClr val="accent6"/>
            </a:solidFill>
            <a:prstDash val="solid"/>
            <a:tailEnd type="triangle"/>
          </a:ln>
        </p:spPr>
      </p:sp>
      <p:sp>
        <p:nvSpPr>
          <p:cNvPr id="41" name="arrow-66"/>
          <p:cNvSpPr/>
          <p:nvPr/>
        </p:nvSpPr>
        <p:spPr>
          <a:xfrm>
            <a:off x="1737360" y="5166360"/>
            <a:ext cx="0" cy="320040"/>
          </a:xfrm>
          <a:prstGeom prst="line">
            <a:avLst/>
          </a:prstGeom>
          <a:noFill/>
          <a:ln w="22225">
            <a:solidFill>
              <a:schemeClr val="accent6"/>
            </a:solidFill>
            <a:prstDash val="solid"/>
            <a:tailEnd type="triangle"/>
          </a:ln>
        </p:spPr>
      </p:sp>
      <p:sp>
        <p:nvSpPr>
          <p:cNvPr id="42" name="arrow-67"/>
          <p:cNvSpPr/>
          <p:nvPr/>
        </p:nvSpPr>
        <p:spPr>
          <a:xfrm>
            <a:off x="3383280" y="5166360"/>
            <a:ext cx="0" cy="320040"/>
          </a:xfrm>
          <a:prstGeom prst="line">
            <a:avLst/>
          </a:prstGeom>
          <a:noFill/>
          <a:ln w="22225">
            <a:solidFill>
              <a:schemeClr val="accent6"/>
            </a:solidFill>
            <a:prstDash val="solid"/>
            <a:tailEnd type="triangle"/>
          </a:ln>
        </p:spPr>
      </p:sp>
      <p:sp>
        <p:nvSpPr>
          <p:cNvPr id="43" name="arrow-68"/>
          <p:cNvSpPr/>
          <p:nvPr/>
        </p:nvSpPr>
        <p:spPr>
          <a:xfrm>
            <a:off x="3931920" y="4892040"/>
            <a:ext cx="1005840" cy="0"/>
          </a:xfrm>
          <a:prstGeom prst="line">
            <a:avLst/>
          </a:prstGeom>
          <a:noFill/>
          <a:ln w="22225">
            <a:solidFill>
              <a:schemeClr val="accent6"/>
            </a:solidFill>
            <a:prstDash val="solid"/>
          </a:ln>
        </p:spPr>
      </p:sp>
      <p:sp>
        <p:nvSpPr>
          <p:cNvPr id="44" name="arrow-69"/>
          <p:cNvSpPr/>
          <p:nvPr/>
        </p:nvSpPr>
        <p:spPr>
          <a:xfrm flipV="1">
            <a:off x="4937760" y="4343400"/>
            <a:ext cx="0" cy="548640"/>
          </a:xfrm>
          <a:prstGeom prst="line">
            <a:avLst/>
          </a:prstGeom>
          <a:noFill/>
          <a:ln w="22225">
            <a:solidFill>
              <a:schemeClr val="accent6"/>
            </a:solidFill>
            <a:prstDash val="solid"/>
            <a:tailEnd type="triangle"/>
          </a:ln>
        </p:spPr>
      </p:sp>
      <p:sp>
        <p:nvSpPr>
          <p:cNvPr id="45" name="text-70"/>
          <p:cNvSpPr txBox="1"/>
          <p:nvPr/>
        </p:nvSpPr>
        <p:spPr>
          <a:xfrm>
            <a:off x="4023360" y="4919472"/>
            <a:ext cx="1280160" cy="201168"/>
          </a:xfrm>
          <a:prstGeom prst="rect">
            <a:avLst/>
          </a:prstGeom>
          <a:noFill/>
          <a:ln/>
        </p:spPr>
        <p:txBody>
          <a:bodyPr wrap="square" lIns="0" tIns="0" rIns="0" bIns="0" rtlCol="0" anchor="t"/>
          <a:lstStyle/>
          <a:p>
            <a:pPr algn="l" indent="0" marL="0">
              <a:buNone/>
            </a:pPr>
            <a:r>
              <a:rPr lang="en-US" sz="1000" dirty="0">
                <a:solidFill>
                  <a:schemeClr val="accent6"/>
                </a:solidFill>
              </a:rPr>
              <a:t>Moodle REST API</a:t>
            </a:r>
            <a:endParaRPr lang="en-US" sz="1000" dirty="0"/>
          </a:p>
        </p:txBody>
      </p:sp>
      <p:sp>
        <p:nvSpPr>
          <p:cNvPr id="46" name="arrow-71"/>
          <p:cNvSpPr/>
          <p:nvPr/>
        </p:nvSpPr>
        <p:spPr>
          <a:xfrm>
            <a:off x="6263640" y="4343400"/>
            <a:ext cx="0" cy="1143000"/>
          </a:xfrm>
          <a:prstGeom prst="line">
            <a:avLst/>
          </a:prstGeom>
          <a:noFill/>
          <a:ln w="22225">
            <a:solidFill>
              <a:schemeClr val="accent6"/>
            </a:solidFill>
            <a:prstDash val="solid"/>
            <a:tailEnd type="triangle"/>
          </a:ln>
        </p:spPr>
      </p:sp>
      <p:sp>
        <p:nvSpPr>
          <p:cNvPr id="47" name="arrow-72"/>
          <p:cNvSpPr/>
          <p:nvPr/>
        </p:nvSpPr>
        <p:spPr>
          <a:xfrm>
            <a:off x="10058400" y="4343400"/>
            <a:ext cx="0" cy="1143000"/>
          </a:xfrm>
          <a:prstGeom prst="line">
            <a:avLst/>
          </a:prstGeom>
          <a:noFill/>
          <a:ln w="22225">
            <a:solidFill>
              <a:schemeClr val="accent6"/>
            </a:solidFill>
            <a:prstDash val="solid"/>
            <a:tailEnd type="triangle"/>
          </a:ln>
        </p:spPr>
      </p:sp>
      <p:sp>
        <p:nvSpPr>
          <p:cNvPr id="48" name="text-73"/>
          <p:cNvSpPr txBox="1"/>
          <p:nvPr/>
        </p:nvSpPr>
        <p:spPr>
          <a:xfrm>
            <a:off x="7315200" y="4800600"/>
            <a:ext cx="2651760" cy="228600"/>
          </a:xfrm>
          <a:prstGeom prst="rect">
            <a:avLst/>
          </a:prstGeom>
          <a:noFill/>
          <a:ln/>
        </p:spPr>
        <p:txBody>
          <a:bodyPr wrap="square" lIns="0" tIns="0" rIns="0" bIns="0" rtlCol="0" anchor="t"/>
          <a:lstStyle/>
          <a:p>
            <a:pPr algn="r" indent="0" marL="0">
              <a:buNone/>
            </a:pPr>
            <a:r>
              <a:rPr lang="en-US" sz="1000" dirty="0">
                <a:solidFill>
                  <a:schemeClr val="accent6"/>
                </a:solidFill>
              </a:rPr>
              <a:t>provider keys stay in FastAPI env</a:t>
            </a:r>
            <a:endParaRPr lang="en-US" sz="1000" dirty="0"/>
          </a:p>
        </p:txBody>
      </p:sp>
      <p:sp>
        <p:nvSpPr>
          <p:cNvPr id="49" name="text-74"/>
          <p:cNvSpPr txBox="1"/>
          <p:nvPr/>
        </p:nvSpPr>
        <p:spPr>
          <a:xfrm>
            <a:off x="4480560" y="6263640"/>
            <a:ext cx="7132320" cy="201168"/>
          </a:xfrm>
          <a:prstGeom prst="rect">
            <a:avLst/>
          </a:prstGeom>
          <a:noFill/>
          <a:ln/>
        </p:spPr>
        <p:txBody>
          <a:bodyPr wrap="square" lIns="0" tIns="0" rIns="0" bIns="0" rtlCol="0" anchor="t"/>
          <a:lstStyle/>
          <a:p>
            <a:pPr algn="r" indent="0" marL="0">
              <a:buNone/>
            </a:pPr>
            <a:r>
              <a:rPr lang="en-US" sz="1000" dirty="0">
                <a:solidFill>
                  <a:schemeClr val="accent6"/>
                </a:solidFill>
              </a:rPr>
              <a:t>One VPS · Docker Compose · Nginx is the only public entry point</a:t>
            </a:r>
            <a:endParaRPr lang="en-US" sz="10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Learner journey: from sign-up to AI feedback</a:t>
            </a:r>
            <a:endParaRPr lang="en-US" sz="3000" dirty="0"/>
          </a:p>
        </p:txBody>
      </p:sp>
      <p:sp>
        <p:nvSpPr>
          <p:cNvPr id="3" name="step-card-1"/>
          <p:cNvSpPr/>
          <p:nvPr/>
        </p:nvSpPr>
        <p:spPr>
          <a:xfrm>
            <a:off x="548640" y="1371600"/>
            <a:ext cx="1691640" cy="1920240"/>
          </a:xfrm>
          <a:prstGeom prst="roundRect">
            <a:avLst>
              <a:gd name="adj" fmla="val 5405"/>
            </a:avLst>
          </a:prstGeom>
          <a:solidFill>
            <a:srgbClr val="EEF2F6"/>
          </a:solidFill>
          <a:ln/>
        </p:spPr>
      </p:sp>
      <p:sp>
        <p:nvSpPr>
          <p:cNvPr id="4" name="step-num-75"/>
          <p:cNvSpPr/>
          <p:nvPr/>
        </p:nvSpPr>
        <p:spPr>
          <a:xfrm>
            <a:off x="685800" y="1508760"/>
            <a:ext cx="365760" cy="365760"/>
          </a:xfrm>
          <a:prstGeom prst="ellipse">
            <a:avLst/>
          </a:prstGeom>
          <a:solidFill>
            <a:srgbClr val="5F6B7A"/>
          </a:solidFill>
          <a:ln/>
        </p:spPr>
      </p:sp>
      <p:sp>
        <p:nvSpPr>
          <p:cNvPr id="5" name="text-76"/>
          <p:cNvSpPr txBox="1"/>
          <p:nvPr/>
        </p:nvSpPr>
        <p:spPr>
          <a:xfrm>
            <a:off x="685800" y="15087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77"/>
          <p:cNvSpPr txBox="1"/>
          <p:nvPr/>
        </p:nvSpPr>
        <p:spPr>
          <a:xfrm>
            <a:off x="1143000" y="1554480"/>
            <a:ext cx="1005840" cy="274320"/>
          </a:xfrm>
          <a:prstGeom prst="rect">
            <a:avLst/>
          </a:prstGeom>
          <a:noFill/>
          <a:ln/>
        </p:spPr>
        <p:txBody>
          <a:bodyPr wrap="square" lIns="0" tIns="0" rIns="0" bIns="0" rtlCol="0" anchor="ctr"/>
          <a:lstStyle/>
          <a:p>
            <a:pPr algn="l" indent="0" marL="0">
              <a:buNone/>
            </a:pPr>
            <a:r>
              <a:rPr lang="en-US" sz="1100" b="1" dirty="0">
                <a:solidFill>
                  <a:schemeClr val="accent6"/>
                </a:solidFill>
              </a:rPr>
              <a:t>USER</a:t>
            </a:r>
            <a:endParaRPr lang="en-US" sz="1100" dirty="0"/>
          </a:p>
        </p:txBody>
      </p:sp>
      <p:sp>
        <p:nvSpPr>
          <p:cNvPr id="7" name="text-78"/>
          <p:cNvSpPr txBox="1"/>
          <p:nvPr/>
        </p:nvSpPr>
        <p:spPr>
          <a:xfrm>
            <a:off x="685800" y="201168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Register and pick a plan</a:t>
            </a:r>
            <a:endParaRPr lang="en-US" sz="1400" dirty="0"/>
          </a:p>
        </p:txBody>
      </p:sp>
      <p:sp>
        <p:nvSpPr>
          <p:cNvPr id="8" name="text-79"/>
          <p:cNvSpPr txBox="1"/>
          <p:nvPr/>
        </p:nvSpPr>
        <p:spPr>
          <a:xfrm>
            <a:off x="685800" y="256032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Individual or school signs up.</a:t>
            </a:r>
            <a:endParaRPr lang="en-US" sz="1200" dirty="0"/>
          </a:p>
        </p:txBody>
      </p:sp>
      <p:sp>
        <p:nvSpPr>
          <p:cNvPr id="9" name="step-card-2"/>
          <p:cNvSpPr/>
          <p:nvPr/>
        </p:nvSpPr>
        <p:spPr>
          <a:xfrm>
            <a:off x="2423160" y="1371600"/>
            <a:ext cx="1691640" cy="1920240"/>
          </a:xfrm>
          <a:prstGeom prst="roundRect">
            <a:avLst>
              <a:gd name="adj" fmla="val 5405"/>
            </a:avLst>
          </a:prstGeom>
          <a:solidFill>
            <a:srgbClr val="EEF2F6"/>
          </a:solidFill>
          <a:ln/>
        </p:spPr>
      </p:sp>
      <p:sp>
        <p:nvSpPr>
          <p:cNvPr id="10" name="step-num-80"/>
          <p:cNvSpPr/>
          <p:nvPr/>
        </p:nvSpPr>
        <p:spPr>
          <a:xfrm>
            <a:off x="2560320" y="1508760"/>
            <a:ext cx="365760" cy="365760"/>
          </a:xfrm>
          <a:prstGeom prst="ellipse">
            <a:avLst/>
          </a:prstGeom>
          <a:solidFill>
            <a:srgbClr val="5F6B7A"/>
          </a:solidFill>
          <a:ln/>
        </p:spPr>
      </p:sp>
      <p:sp>
        <p:nvSpPr>
          <p:cNvPr id="11" name="text-81"/>
          <p:cNvSpPr txBox="1"/>
          <p:nvPr/>
        </p:nvSpPr>
        <p:spPr>
          <a:xfrm>
            <a:off x="2560320" y="15087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82"/>
          <p:cNvSpPr txBox="1"/>
          <p:nvPr/>
        </p:nvSpPr>
        <p:spPr>
          <a:xfrm>
            <a:off x="3017520" y="1554480"/>
            <a:ext cx="1005840" cy="274320"/>
          </a:xfrm>
          <a:prstGeom prst="rect">
            <a:avLst/>
          </a:prstGeom>
          <a:noFill/>
          <a:ln/>
        </p:spPr>
        <p:txBody>
          <a:bodyPr wrap="square" lIns="0" tIns="0" rIns="0" bIns="0" rtlCol="0" anchor="ctr"/>
          <a:lstStyle/>
          <a:p>
            <a:pPr algn="l" indent="0" marL="0">
              <a:buNone/>
            </a:pPr>
            <a:r>
              <a:rPr lang="en-US" sz="1100" b="1" dirty="0">
                <a:solidFill>
                  <a:schemeClr val="accent6"/>
                </a:solidFill>
              </a:rPr>
              <a:t>USER</a:t>
            </a:r>
            <a:endParaRPr lang="en-US" sz="1100" dirty="0"/>
          </a:p>
        </p:txBody>
      </p:sp>
      <p:sp>
        <p:nvSpPr>
          <p:cNvPr id="13" name="text-83"/>
          <p:cNvSpPr txBox="1"/>
          <p:nvPr/>
        </p:nvSpPr>
        <p:spPr>
          <a:xfrm>
            <a:off x="2560320" y="201168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Pay</a:t>
            </a:r>
            <a:endParaRPr lang="en-US" sz="1400" dirty="0"/>
          </a:p>
        </p:txBody>
      </p:sp>
      <p:sp>
        <p:nvSpPr>
          <p:cNvPr id="14" name="text-84"/>
          <p:cNvSpPr txBox="1"/>
          <p:nvPr/>
        </p:nvSpPr>
        <p:spPr>
          <a:xfrm>
            <a:off x="2560320" y="256032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Mobile money or card.</a:t>
            </a:r>
            <a:endParaRPr lang="en-US" sz="1200" dirty="0"/>
          </a:p>
        </p:txBody>
      </p:sp>
      <p:sp>
        <p:nvSpPr>
          <p:cNvPr id="15" name="step-card-3"/>
          <p:cNvSpPr/>
          <p:nvPr/>
        </p:nvSpPr>
        <p:spPr>
          <a:xfrm>
            <a:off x="4297680" y="1371600"/>
            <a:ext cx="1691640" cy="1920240"/>
          </a:xfrm>
          <a:prstGeom prst="roundRect">
            <a:avLst>
              <a:gd name="adj" fmla="val 5405"/>
            </a:avLst>
          </a:prstGeom>
          <a:solidFill>
            <a:srgbClr val="EEF2F6"/>
          </a:solidFill>
          <a:ln/>
        </p:spPr>
      </p:sp>
      <p:sp>
        <p:nvSpPr>
          <p:cNvPr id="16" name="step-num-85"/>
          <p:cNvSpPr/>
          <p:nvPr/>
        </p:nvSpPr>
        <p:spPr>
          <a:xfrm>
            <a:off x="4434840" y="1508760"/>
            <a:ext cx="365760" cy="365760"/>
          </a:xfrm>
          <a:prstGeom prst="ellipse">
            <a:avLst/>
          </a:prstGeom>
          <a:solidFill>
            <a:srgbClr val="2F855A"/>
          </a:solidFill>
          <a:ln/>
        </p:spPr>
      </p:sp>
      <p:sp>
        <p:nvSpPr>
          <p:cNvPr id="17" name="text-86"/>
          <p:cNvSpPr txBox="1"/>
          <p:nvPr/>
        </p:nvSpPr>
        <p:spPr>
          <a:xfrm>
            <a:off x="4434840" y="15087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87"/>
          <p:cNvSpPr txBox="1"/>
          <p:nvPr/>
        </p:nvSpPr>
        <p:spPr>
          <a:xfrm>
            <a:off x="4892040" y="1554480"/>
            <a:ext cx="1005840" cy="274320"/>
          </a:xfrm>
          <a:prstGeom prst="rect">
            <a:avLst/>
          </a:prstGeom>
          <a:noFill/>
          <a:ln/>
        </p:spPr>
        <p:txBody>
          <a:bodyPr wrap="square" lIns="0" tIns="0" rIns="0" bIns="0" rtlCol="0" anchor="ctr"/>
          <a:lstStyle/>
          <a:p>
            <a:pPr algn="l" indent="0" marL="0">
              <a:buNone/>
            </a:pPr>
            <a:r>
              <a:rPr lang="en-US" sz="1100" b="1" dirty="0">
                <a:solidFill>
                  <a:schemeClr val="accent1"/>
                </a:solidFill>
              </a:rPr>
              <a:t>DJANGO</a:t>
            </a:r>
            <a:endParaRPr lang="en-US" sz="1100" dirty="0"/>
          </a:p>
        </p:txBody>
      </p:sp>
      <p:sp>
        <p:nvSpPr>
          <p:cNvPr id="19" name="text-88"/>
          <p:cNvSpPr txBox="1"/>
          <p:nvPr/>
        </p:nvSpPr>
        <p:spPr>
          <a:xfrm>
            <a:off x="4434840" y="201168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Payment receipt</a:t>
            </a:r>
            <a:endParaRPr lang="en-US" sz="1400" dirty="0"/>
          </a:p>
        </p:txBody>
      </p:sp>
      <p:sp>
        <p:nvSpPr>
          <p:cNvPr id="20" name="text-89"/>
          <p:cNvSpPr txBox="1"/>
          <p:nvPr/>
        </p:nvSpPr>
        <p:spPr>
          <a:xfrm>
            <a:off x="4434840" y="256032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Webhook activates the license.</a:t>
            </a:r>
            <a:endParaRPr lang="en-US" sz="1200" dirty="0"/>
          </a:p>
        </p:txBody>
      </p:sp>
      <p:sp>
        <p:nvSpPr>
          <p:cNvPr id="21" name="step-card-4"/>
          <p:cNvSpPr/>
          <p:nvPr/>
        </p:nvSpPr>
        <p:spPr>
          <a:xfrm>
            <a:off x="6172200" y="1371600"/>
            <a:ext cx="1691640" cy="1920240"/>
          </a:xfrm>
          <a:prstGeom prst="roundRect">
            <a:avLst>
              <a:gd name="adj" fmla="val 5405"/>
            </a:avLst>
          </a:prstGeom>
          <a:solidFill>
            <a:srgbClr val="EEF2F6"/>
          </a:solidFill>
          <a:ln/>
        </p:spPr>
      </p:sp>
      <p:sp>
        <p:nvSpPr>
          <p:cNvPr id="22" name="step-num-90"/>
          <p:cNvSpPr/>
          <p:nvPr/>
        </p:nvSpPr>
        <p:spPr>
          <a:xfrm>
            <a:off x="6309360" y="1508760"/>
            <a:ext cx="365760" cy="365760"/>
          </a:xfrm>
          <a:prstGeom prst="ellipse">
            <a:avLst/>
          </a:prstGeom>
          <a:solidFill>
            <a:srgbClr val="2F855A"/>
          </a:solidFill>
          <a:ln/>
        </p:spPr>
      </p:sp>
      <p:sp>
        <p:nvSpPr>
          <p:cNvPr id="23" name="text-91"/>
          <p:cNvSpPr txBox="1"/>
          <p:nvPr/>
        </p:nvSpPr>
        <p:spPr>
          <a:xfrm>
            <a:off x="6309360" y="15087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92"/>
          <p:cNvSpPr txBox="1"/>
          <p:nvPr/>
        </p:nvSpPr>
        <p:spPr>
          <a:xfrm>
            <a:off x="6766560" y="1554480"/>
            <a:ext cx="1005840" cy="274320"/>
          </a:xfrm>
          <a:prstGeom prst="rect">
            <a:avLst/>
          </a:prstGeom>
          <a:noFill/>
          <a:ln/>
        </p:spPr>
        <p:txBody>
          <a:bodyPr wrap="square" lIns="0" tIns="0" rIns="0" bIns="0" rtlCol="0" anchor="ctr"/>
          <a:lstStyle/>
          <a:p>
            <a:pPr algn="l" indent="0" marL="0">
              <a:buNone/>
            </a:pPr>
            <a:r>
              <a:rPr lang="en-US" sz="1100" b="1" dirty="0">
                <a:solidFill>
                  <a:schemeClr val="accent1"/>
                </a:solidFill>
              </a:rPr>
              <a:t>CELERY</a:t>
            </a:r>
            <a:endParaRPr lang="en-US" sz="1100" dirty="0"/>
          </a:p>
        </p:txBody>
      </p:sp>
      <p:sp>
        <p:nvSpPr>
          <p:cNvPr id="25" name="text-93"/>
          <p:cNvSpPr txBox="1"/>
          <p:nvPr/>
        </p:nvSpPr>
        <p:spPr>
          <a:xfrm>
            <a:off x="6309360" y="201168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Create Moodle user</a:t>
            </a:r>
            <a:endParaRPr lang="en-US" sz="1400" dirty="0"/>
          </a:p>
        </p:txBody>
      </p:sp>
      <p:sp>
        <p:nvSpPr>
          <p:cNvPr id="26" name="text-94"/>
          <p:cNvSpPr txBox="1"/>
          <p:nvPr/>
        </p:nvSpPr>
        <p:spPr>
          <a:xfrm>
            <a:off x="6309360" y="256032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Moodle REST API, async task.</a:t>
            </a:r>
            <a:endParaRPr lang="en-US" sz="1200" dirty="0"/>
          </a:p>
        </p:txBody>
      </p:sp>
      <p:sp>
        <p:nvSpPr>
          <p:cNvPr id="27" name="step-card-5"/>
          <p:cNvSpPr/>
          <p:nvPr/>
        </p:nvSpPr>
        <p:spPr>
          <a:xfrm>
            <a:off x="8046720" y="1371600"/>
            <a:ext cx="1691640" cy="1920240"/>
          </a:xfrm>
          <a:prstGeom prst="roundRect">
            <a:avLst>
              <a:gd name="adj" fmla="val 5405"/>
            </a:avLst>
          </a:prstGeom>
          <a:solidFill>
            <a:srgbClr val="EEF2F6"/>
          </a:solidFill>
          <a:ln/>
        </p:spPr>
      </p:sp>
      <p:sp>
        <p:nvSpPr>
          <p:cNvPr id="28" name="step-num-95"/>
          <p:cNvSpPr/>
          <p:nvPr/>
        </p:nvSpPr>
        <p:spPr>
          <a:xfrm>
            <a:off x="8183880" y="1508760"/>
            <a:ext cx="365760" cy="365760"/>
          </a:xfrm>
          <a:prstGeom prst="ellipse">
            <a:avLst/>
          </a:prstGeom>
          <a:solidFill>
            <a:srgbClr val="2F855A"/>
          </a:solidFill>
          <a:ln/>
        </p:spPr>
      </p:sp>
      <p:sp>
        <p:nvSpPr>
          <p:cNvPr id="29" name="text-96"/>
          <p:cNvSpPr txBox="1"/>
          <p:nvPr/>
        </p:nvSpPr>
        <p:spPr>
          <a:xfrm>
            <a:off x="8183880" y="15087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text-97"/>
          <p:cNvSpPr txBox="1"/>
          <p:nvPr/>
        </p:nvSpPr>
        <p:spPr>
          <a:xfrm>
            <a:off x="8641080" y="1554480"/>
            <a:ext cx="1005840" cy="274320"/>
          </a:xfrm>
          <a:prstGeom prst="rect">
            <a:avLst/>
          </a:prstGeom>
          <a:noFill/>
          <a:ln/>
        </p:spPr>
        <p:txBody>
          <a:bodyPr wrap="square" lIns="0" tIns="0" rIns="0" bIns="0" rtlCol="0" anchor="ctr"/>
          <a:lstStyle/>
          <a:p>
            <a:pPr algn="l" indent="0" marL="0">
              <a:buNone/>
            </a:pPr>
            <a:r>
              <a:rPr lang="en-US" sz="1100" b="1" dirty="0">
                <a:solidFill>
                  <a:schemeClr val="accent1"/>
                </a:solidFill>
              </a:rPr>
              <a:t>CELERY</a:t>
            </a:r>
            <a:endParaRPr lang="en-US" sz="1100" dirty="0"/>
          </a:p>
        </p:txBody>
      </p:sp>
      <p:sp>
        <p:nvSpPr>
          <p:cNvPr id="31" name="text-98"/>
          <p:cNvSpPr txBox="1"/>
          <p:nvPr/>
        </p:nvSpPr>
        <p:spPr>
          <a:xfrm>
            <a:off x="8183880" y="201168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Cohort or group</a:t>
            </a:r>
            <a:endParaRPr lang="en-US" sz="1400" dirty="0"/>
          </a:p>
        </p:txBody>
      </p:sp>
      <p:sp>
        <p:nvSpPr>
          <p:cNvPr id="32" name="text-99"/>
          <p:cNvSpPr txBox="1"/>
          <p:nvPr/>
        </p:nvSpPr>
        <p:spPr>
          <a:xfrm>
            <a:off x="8183880" y="256032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School: cohort. Individual: group.</a:t>
            </a:r>
            <a:endParaRPr lang="en-US" sz="1200" dirty="0"/>
          </a:p>
        </p:txBody>
      </p:sp>
      <p:sp>
        <p:nvSpPr>
          <p:cNvPr id="33" name="step-card-6"/>
          <p:cNvSpPr/>
          <p:nvPr/>
        </p:nvSpPr>
        <p:spPr>
          <a:xfrm>
            <a:off x="9921240" y="1371600"/>
            <a:ext cx="1691640" cy="1920240"/>
          </a:xfrm>
          <a:prstGeom prst="roundRect">
            <a:avLst>
              <a:gd name="adj" fmla="val 5405"/>
            </a:avLst>
          </a:prstGeom>
          <a:solidFill>
            <a:srgbClr val="EEF2F6"/>
          </a:solidFill>
          <a:ln/>
        </p:spPr>
      </p:sp>
      <p:sp>
        <p:nvSpPr>
          <p:cNvPr id="34" name="step-num-100"/>
          <p:cNvSpPr/>
          <p:nvPr/>
        </p:nvSpPr>
        <p:spPr>
          <a:xfrm>
            <a:off x="10058400" y="1508760"/>
            <a:ext cx="365760" cy="365760"/>
          </a:xfrm>
          <a:prstGeom prst="ellipse">
            <a:avLst/>
          </a:prstGeom>
          <a:solidFill>
            <a:srgbClr val="2F855A"/>
          </a:solidFill>
          <a:ln/>
        </p:spPr>
      </p:sp>
      <p:sp>
        <p:nvSpPr>
          <p:cNvPr id="35" name="text-101"/>
          <p:cNvSpPr txBox="1"/>
          <p:nvPr/>
        </p:nvSpPr>
        <p:spPr>
          <a:xfrm>
            <a:off x="10058400" y="15087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6" name="text-102"/>
          <p:cNvSpPr txBox="1"/>
          <p:nvPr/>
        </p:nvSpPr>
        <p:spPr>
          <a:xfrm>
            <a:off x="10515600" y="1554480"/>
            <a:ext cx="1005840" cy="274320"/>
          </a:xfrm>
          <a:prstGeom prst="rect">
            <a:avLst/>
          </a:prstGeom>
          <a:noFill/>
          <a:ln/>
        </p:spPr>
        <p:txBody>
          <a:bodyPr wrap="square" lIns="0" tIns="0" rIns="0" bIns="0" rtlCol="0" anchor="ctr"/>
          <a:lstStyle/>
          <a:p>
            <a:pPr algn="l" indent="0" marL="0">
              <a:buNone/>
            </a:pPr>
            <a:r>
              <a:rPr lang="en-US" sz="1100" b="1" dirty="0">
                <a:solidFill>
                  <a:schemeClr val="accent1"/>
                </a:solidFill>
              </a:rPr>
              <a:t>DJANGO</a:t>
            </a:r>
            <a:endParaRPr lang="en-US" sz="1100" dirty="0"/>
          </a:p>
        </p:txBody>
      </p:sp>
      <p:sp>
        <p:nvSpPr>
          <p:cNvPr id="37" name="text-103"/>
          <p:cNvSpPr txBox="1"/>
          <p:nvPr/>
        </p:nvSpPr>
        <p:spPr>
          <a:xfrm>
            <a:off x="10058400" y="201168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Signed SSO token</a:t>
            </a:r>
            <a:endParaRPr lang="en-US" sz="1400" dirty="0"/>
          </a:p>
        </p:txBody>
      </p:sp>
      <p:sp>
        <p:nvSpPr>
          <p:cNvPr id="38" name="text-104"/>
          <p:cNvSpPr txBox="1"/>
          <p:nvPr/>
        </p:nvSpPr>
        <p:spPr>
          <a:xfrm>
            <a:off x="10058400" y="256032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JWT: identity, cohort, expiry.</a:t>
            </a:r>
            <a:endParaRPr lang="en-US" sz="1200" dirty="0"/>
          </a:p>
        </p:txBody>
      </p:sp>
      <p:sp>
        <p:nvSpPr>
          <p:cNvPr id="39" name="step-card-7"/>
          <p:cNvSpPr/>
          <p:nvPr/>
        </p:nvSpPr>
        <p:spPr>
          <a:xfrm>
            <a:off x="548640" y="3474720"/>
            <a:ext cx="1691640" cy="1920240"/>
          </a:xfrm>
          <a:prstGeom prst="roundRect">
            <a:avLst>
              <a:gd name="adj" fmla="val 5405"/>
            </a:avLst>
          </a:prstGeom>
          <a:solidFill>
            <a:srgbClr val="EEF2F6"/>
          </a:solidFill>
          <a:ln/>
        </p:spPr>
      </p:sp>
      <p:sp>
        <p:nvSpPr>
          <p:cNvPr id="40" name="step-num-105"/>
          <p:cNvSpPr/>
          <p:nvPr/>
        </p:nvSpPr>
        <p:spPr>
          <a:xfrm>
            <a:off x="685800" y="3611880"/>
            <a:ext cx="365760" cy="365760"/>
          </a:xfrm>
          <a:prstGeom prst="ellipse">
            <a:avLst/>
          </a:prstGeom>
          <a:solidFill>
            <a:srgbClr val="D9822B"/>
          </a:solidFill>
          <a:ln/>
        </p:spPr>
      </p:sp>
      <p:sp>
        <p:nvSpPr>
          <p:cNvPr id="41" name="text-106"/>
          <p:cNvSpPr txBox="1"/>
          <p:nvPr/>
        </p:nvSpPr>
        <p:spPr>
          <a:xfrm>
            <a:off x="685800"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2" name="text-107"/>
          <p:cNvSpPr txBox="1"/>
          <p:nvPr/>
        </p:nvSpPr>
        <p:spPr>
          <a:xfrm>
            <a:off x="1143000" y="3657600"/>
            <a:ext cx="1005840" cy="274320"/>
          </a:xfrm>
          <a:prstGeom prst="rect">
            <a:avLst/>
          </a:prstGeom>
          <a:noFill/>
          <a:ln/>
        </p:spPr>
        <p:txBody>
          <a:bodyPr wrap="square" lIns="0" tIns="0" rIns="0" bIns="0" rtlCol="0" anchor="ctr"/>
          <a:lstStyle/>
          <a:p>
            <a:pPr algn="l" indent="0" marL="0">
              <a:buNone/>
            </a:pPr>
            <a:r>
              <a:rPr lang="en-US" sz="1100" b="1" dirty="0">
                <a:solidFill>
                  <a:schemeClr val="accent2"/>
                </a:solidFill>
              </a:rPr>
              <a:t>MOODLE</a:t>
            </a:r>
            <a:endParaRPr lang="en-US" sz="1100" dirty="0"/>
          </a:p>
        </p:txBody>
      </p:sp>
      <p:sp>
        <p:nvSpPr>
          <p:cNvPr id="43" name="text-108"/>
          <p:cNvSpPr txBox="1"/>
          <p:nvPr/>
        </p:nvSpPr>
        <p:spPr>
          <a:xfrm>
            <a:off x="685800" y="411480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Validate and log in</a:t>
            </a:r>
            <a:endParaRPr lang="en-US" sz="1400" dirty="0"/>
          </a:p>
        </p:txBody>
      </p:sp>
      <p:sp>
        <p:nvSpPr>
          <p:cNvPr id="44" name="text-109"/>
          <p:cNvSpPr txBox="1"/>
          <p:nvPr/>
        </p:nvSpPr>
        <p:spPr>
          <a:xfrm>
            <a:off x="685800" y="466344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Custom auth plugin starts session.</a:t>
            </a:r>
            <a:endParaRPr lang="en-US" sz="1200" dirty="0"/>
          </a:p>
        </p:txBody>
      </p:sp>
      <p:sp>
        <p:nvSpPr>
          <p:cNvPr id="45" name="step-card-8"/>
          <p:cNvSpPr/>
          <p:nvPr/>
        </p:nvSpPr>
        <p:spPr>
          <a:xfrm>
            <a:off x="2423160" y="3474720"/>
            <a:ext cx="1691640" cy="1920240"/>
          </a:xfrm>
          <a:prstGeom prst="roundRect">
            <a:avLst>
              <a:gd name="adj" fmla="val 5405"/>
            </a:avLst>
          </a:prstGeom>
          <a:solidFill>
            <a:srgbClr val="EEF2F6"/>
          </a:solidFill>
          <a:ln/>
        </p:spPr>
      </p:sp>
      <p:sp>
        <p:nvSpPr>
          <p:cNvPr id="46" name="step-num-110"/>
          <p:cNvSpPr/>
          <p:nvPr/>
        </p:nvSpPr>
        <p:spPr>
          <a:xfrm>
            <a:off x="2560320" y="3611880"/>
            <a:ext cx="365760" cy="365760"/>
          </a:xfrm>
          <a:prstGeom prst="ellipse">
            <a:avLst/>
          </a:prstGeom>
          <a:solidFill>
            <a:srgbClr val="D9822B"/>
          </a:solidFill>
          <a:ln/>
        </p:spPr>
      </p:sp>
      <p:sp>
        <p:nvSpPr>
          <p:cNvPr id="47" name="text-111"/>
          <p:cNvSpPr txBox="1"/>
          <p:nvPr/>
        </p:nvSpPr>
        <p:spPr>
          <a:xfrm>
            <a:off x="2560320"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8" name="text-112"/>
          <p:cNvSpPr txBox="1"/>
          <p:nvPr/>
        </p:nvSpPr>
        <p:spPr>
          <a:xfrm>
            <a:off x="3017520" y="3657600"/>
            <a:ext cx="1005840" cy="274320"/>
          </a:xfrm>
          <a:prstGeom prst="rect">
            <a:avLst/>
          </a:prstGeom>
          <a:noFill/>
          <a:ln/>
        </p:spPr>
        <p:txBody>
          <a:bodyPr wrap="square" lIns="0" tIns="0" rIns="0" bIns="0" rtlCol="0" anchor="ctr"/>
          <a:lstStyle/>
          <a:p>
            <a:pPr algn="l" indent="0" marL="0">
              <a:buNone/>
            </a:pPr>
            <a:r>
              <a:rPr lang="en-US" sz="1100" b="1" dirty="0">
                <a:solidFill>
                  <a:schemeClr val="accent2"/>
                </a:solidFill>
              </a:rPr>
              <a:t>MOODLE</a:t>
            </a:r>
            <a:endParaRPr lang="en-US" sz="1100" dirty="0"/>
          </a:p>
        </p:txBody>
      </p:sp>
      <p:sp>
        <p:nvSpPr>
          <p:cNvPr id="49" name="text-113"/>
          <p:cNvSpPr txBox="1"/>
          <p:nvPr/>
        </p:nvSpPr>
        <p:spPr>
          <a:xfrm>
            <a:off x="2560320" y="411480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Attempt a quiz</a:t>
            </a:r>
            <a:endParaRPr lang="en-US" sz="1400" dirty="0"/>
          </a:p>
        </p:txBody>
      </p:sp>
      <p:sp>
        <p:nvSpPr>
          <p:cNvPr id="50" name="text-114"/>
          <p:cNvSpPr txBox="1"/>
          <p:nvPr/>
        </p:nvSpPr>
        <p:spPr>
          <a:xfrm>
            <a:off x="2560320" y="466344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Stuck answers go to the AI.</a:t>
            </a:r>
            <a:endParaRPr lang="en-US" sz="1200" dirty="0"/>
          </a:p>
        </p:txBody>
      </p:sp>
      <p:sp>
        <p:nvSpPr>
          <p:cNvPr id="51" name="step-card-9"/>
          <p:cNvSpPr/>
          <p:nvPr/>
        </p:nvSpPr>
        <p:spPr>
          <a:xfrm>
            <a:off x="4297680" y="3474720"/>
            <a:ext cx="1691640" cy="1920240"/>
          </a:xfrm>
          <a:prstGeom prst="roundRect">
            <a:avLst>
              <a:gd name="adj" fmla="val 5405"/>
            </a:avLst>
          </a:prstGeom>
          <a:solidFill>
            <a:srgbClr val="EEF2F6"/>
          </a:solidFill>
          <a:ln/>
        </p:spPr>
      </p:sp>
      <p:sp>
        <p:nvSpPr>
          <p:cNvPr id="52" name="step-num-115"/>
          <p:cNvSpPr/>
          <p:nvPr/>
        </p:nvSpPr>
        <p:spPr>
          <a:xfrm>
            <a:off x="4434840" y="3611880"/>
            <a:ext cx="365760" cy="365760"/>
          </a:xfrm>
          <a:prstGeom prst="ellipse">
            <a:avLst/>
          </a:prstGeom>
          <a:solidFill>
            <a:srgbClr val="2B6CB0"/>
          </a:solidFill>
          <a:ln/>
        </p:spPr>
      </p:sp>
      <p:sp>
        <p:nvSpPr>
          <p:cNvPr id="53" name="text-116"/>
          <p:cNvSpPr txBox="1"/>
          <p:nvPr/>
        </p:nvSpPr>
        <p:spPr>
          <a:xfrm>
            <a:off x="4434840"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54" name="text-117"/>
          <p:cNvSpPr txBox="1"/>
          <p:nvPr/>
        </p:nvSpPr>
        <p:spPr>
          <a:xfrm>
            <a:off x="4892040" y="3657600"/>
            <a:ext cx="1005840" cy="274320"/>
          </a:xfrm>
          <a:prstGeom prst="rect">
            <a:avLst/>
          </a:prstGeom>
          <a:noFill/>
          <a:ln/>
        </p:spPr>
        <p:txBody>
          <a:bodyPr wrap="square" lIns="0" tIns="0" rIns="0" bIns="0" rtlCol="0" anchor="ctr"/>
          <a:lstStyle/>
          <a:p>
            <a:pPr algn="l" indent="0" marL="0">
              <a:buNone/>
            </a:pPr>
            <a:r>
              <a:rPr lang="en-US" sz="1100" b="1" dirty="0">
                <a:solidFill>
                  <a:schemeClr val="accent3"/>
                </a:solidFill>
              </a:rPr>
              <a:t>FASTAPI</a:t>
            </a:r>
            <a:endParaRPr lang="en-US" sz="1100" dirty="0"/>
          </a:p>
        </p:txBody>
      </p:sp>
      <p:sp>
        <p:nvSpPr>
          <p:cNvPr id="55" name="text-118"/>
          <p:cNvSpPr txBox="1"/>
          <p:nvPr/>
        </p:nvSpPr>
        <p:spPr>
          <a:xfrm>
            <a:off x="4434840" y="411480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Socratic evaluation</a:t>
            </a:r>
            <a:endParaRPr lang="en-US" sz="1400" dirty="0"/>
          </a:p>
        </p:txBody>
      </p:sp>
      <p:sp>
        <p:nvSpPr>
          <p:cNvPr id="56" name="text-119"/>
          <p:cNvSpPr txBox="1"/>
          <p:nvPr/>
        </p:nvSpPr>
        <p:spPr>
          <a:xfrm>
            <a:off x="4434840" y="466344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Guides step by step, no answer.</a:t>
            </a:r>
            <a:endParaRPr lang="en-US" sz="1200" dirty="0"/>
          </a:p>
        </p:txBody>
      </p:sp>
      <p:sp>
        <p:nvSpPr>
          <p:cNvPr id="57" name="step-card-10"/>
          <p:cNvSpPr/>
          <p:nvPr/>
        </p:nvSpPr>
        <p:spPr>
          <a:xfrm>
            <a:off x="6172200" y="3474720"/>
            <a:ext cx="1691640" cy="1920240"/>
          </a:xfrm>
          <a:prstGeom prst="roundRect">
            <a:avLst>
              <a:gd name="adj" fmla="val 5405"/>
            </a:avLst>
          </a:prstGeom>
          <a:solidFill>
            <a:srgbClr val="EEF2F6"/>
          </a:solidFill>
          <a:ln/>
        </p:spPr>
      </p:sp>
      <p:sp>
        <p:nvSpPr>
          <p:cNvPr id="58" name="step-num-120"/>
          <p:cNvSpPr/>
          <p:nvPr/>
        </p:nvSpPr>
        <p:spPr>
          <a:xfrm>
            <a:off x="6309360" y="3611880"/>
            <a:ext cx="365760" cy="365760"/>
          </a:xfrm>
          <a:prstGeom prst="ellipse">
            <a:avLst/>
          </a:prstGeom>
          <a:solidFill>
            <a:srgbClr val="2B6CB0"/>
          </a:solidFill>
          <a:ln/>
        </p:spPr>
      </p:sp>
      <p:sp>
        <p:nvSpPr>
          <p:cNvPr id="59" name="text-121"/>
          <p:cNvSpPr txBox="1"/>
          <p:nvPr/>
        </p:nvSpPr>
        <p:spPr>
          <a:xfrm>
            <a:off x="6309360"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60" name="text-122"/>
          <p:cNvSpPr txBox="1"/>
          <p:nvPr/>
        </p:nvSpPr>
        <p:spPr>
          <a:xfrm>
            <a:off x="6766560" y="3657600"/>
            <a:ext cx="1005840" cy="274320"/>
          </a:xfrm>
          <a:prstGeom prst="rect">
            <a:avLst/>
          </a:prstGeom>
          <a:noFill/>
          <a:ln/>
        </p:spPr>
        <p:txBody>
          <a:bodyPr wrap="square" lIns="0" tIns="0" rIns="0" bIns="0" rtlCol="0" anchor="ctr"/>
          <a:lstStyle/>
          <a:p>
            <a:pPr algn="l" indent="0" marL="0">
              <a:buNone/>
            </a:pPr>
            <a:r>
              <a:rPr lang="en-US" sz="1100" b="1" dirty="0">
                <a:solidFill>
                  <a:schemeClr val="accent3"/>
                </a:solidFill>
              </a:rPr>
              <a:t>FASTAPI</a:t>
            </a:r>
            <a:endParaRPr lang="en-US" sz="1100" dirty="0"/>
          </a:p>
        </p:txBody>
      </p:sp>
      <p:sp>
        <p:nvSpPr>
          <p:cNvPr id="61" name="text-123"/>
          <p:cNvSpPr txBox="1"/>
          <p:nvPr/>
        </p:nvSpPr>
        <p:spPr>
          <a:xfrm>
            <a:off x="6309360" y="411480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Stream feedback</a:t>
            </a:r>
            <a:endParaRPr lang="en-US" sz="1400" dirty="0"/>
          </a:p>
        </p:txBody>
      </p:sp>
      <p:sp>
        <p:nvSpPr>
          <p:cNvPr id="62" name="text-124"/>
          <p:cNvSpPr txBox="1"/>
          <p:nvPr/>
        </p:nvSpPr>
        <p:spPr>
          <a:xfrm>
            <a:off x="6309360" y="466344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SSE into the quiz, under 1.5 s.</a:t>
            </a:r>
            <a:endParaRPr lang="en-US" sz="1200" dirty="0"/>
          </a:p>
        </p:txBody>
      </p:sp>
      <p:sp>
        <p:nvSpPr>
          <p:cNvPr id="63" name="step-card-11"/>
          <p:cNvSpPr/>
          <p:nvPr/>
        </p:nvSpPr>
        <p:spPr>
          <a:xfrm>
            <a:off x="8046720" y="3474720"/>
            <a:ext cx="1691640" cy="1920240"/>
          </a:xfrm>
          <a:prstGeom prst="roundRect">
            <a:avLst>
              <a:gd name="adj" fmla="val 5405"/>
            </a:avLst>
          </a:prstGeom>
          <a:solidFill>
            <a:srgbClr val="EEF2F6"/>
          </a:solidFill>
          <a:ln/>
        </p:spPr>
      </p:sp>
      <p:sp>
        <p:nvSpPr>
          <p:cNvPr id="64" name="step-num-125"/>
          <p:cNvSpPr/>
          <p:nvPr/>
        </p:nvSpPr>
        <p:spPr>
          <a:xfrm>
            <a:off x="8183880" y="3611880"/>
            <a:ext cx="365760" cy="365760"/>
          </a:xfrm>
          <a:prstGeom prst="ellipse">
            <a:avLst/>
          </a:prstGeom>
          <a:solidFill>
            <a:srgbClr val="D9822B"/>
          </a:solidFill>
          <a:ln/>
        </p:spPr>
      </p:sp>
      <p:sp>
        <p:nvSpPr>
          <p:cNvPr id="65" name="text-126"/>
          <p:cNvSpPr txBox="1"/>
          <p:nvPr/>
        </p:nvSpPr>
        <p:spPr>
          <a:xfrm>
            <a:off x="8183880"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11</a:t>
            </a:r>
            <a:endParaRPr lang="en-US" sz="1300" dirty="0"/>
          </a:p>
        </p:txBody>
      </p:sp>
      <p:sp>
        <p:nvSpPr>
          <p:cNvPr id="66" name="text-127"/>
          <p:cNvSpPr txBox="1"/>
          <p:nvPr/>
        </p:nvSpPr>
        <p:spPr>
          <a:xfrm>
            <a:off x="8641080" y="3657600"/>
            <a:ext cx="1005840" cy="274320"/>
          </a:xfrm>
          <a:prstGeom prst="rect">
            <a:avLst/>
          </a:prstGeom>
          <a:noFill/>
          <a:ln/>
        </p:spPr>
        <p:txBody>
          <a:bodyPr wrap="square" lIns="0" tIns="0" rIns="0" bIns="0" rtlCol="0" anchor="ctr"/>
          <a:lstStyle/>
          <a:p>
            <a:pPr algn="l" indent="0" marL="0">
              <a:buNone/>
            </a:pPr>
            <a:r>
              <a:rPr lang="en-US" sz="1100" b="1" dirty="0">
                <a:solidFill>
                  <a:schemeClr val="accent2"/>
                </a:solidFill>
              </a:rPr>
              <a:t>MOODLE</a:t>
            </a:r>
            <a:endParaRPr lang="en-US" sz="1100" dirty="0"/>
          </a:p>
        </p:txBody>
      </p:sp>
      <p:sp>
        <p:nvSpPr>
          <p:cNvPr id="67" name="text-128"/>
          <p:cNvSpPr txBox="1"/>
          <p:nvPr/>
        </p:nvSpPr>
        <p:spPr>
          <a:xfrm>
            <a:off x="8183880" y="411480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Quiz complete</a:t>
            </a:r>
            <a:endParaRPr lang="en-US" sz="1400" dirty="0"/>
          </a:p>
        </p:txBody>
      </p:sp>
      <p:sp>
        <p:nvSpPr>
          <p:cNvPr id="68" name="text-129"/>
          <p:cNvSpPr txBox="1"/>
          <p:nvPr/>
        </p:nvSpPr>
        <p:spPr>
          <a:xfrm>
            <a:off x="8183880" y="466344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Completion or grade event.</a:t>
            </a:r>
            <a:endParaRPr lang="en-US" sz="1200" dirty="0"/>
          </a:p>
        </p:txBody>
      </p:sp>
      <p:sp>
        <p:nvSpPr>
          <p:cNvPr id="69" name="step-card-12"/>
          <p:cNvSpPr/>
          <p:nvPr/>
        </p:nvSpPr>
        <p:spPr>
          <a:xfrm>
            <a:off x="9921240" y="3474720"/>
            <a:ext cx="1691640" cy="1920240"/>
          </a:xfrm>
          <a:prstGeom prst="roundRect">
            <a:avLst>
              <a:gd name="adj" fmla="val 5405"/>
            </a:avLst>
          </a:prstGeom>
          <a:solidFill>
            <a:srgbClr val="EEF2F6"/>
          </a:solidFill>
          <a:ln/>
        </p:spPr>
      </p:sp>
      <p:sp>
        <p:nvSpPr>
          <p:cNvPr id="70" name="step-num-130"/>
          <p:cNvSpPr/>
          <p:nvPr/>
        </p:nvSpPr>
        <p:spPr>
          <a:xfrm>
            <a:off x="10058400" y="3611880"/>
            <a:ext cx="365760" cy="365760"/>
          </a:xfrm>
          <a:prstGeom prst="ellipse">
            <a:avLst/>
          </a:prstGeom>
          <a:solidFill>
            <a:srgbClr val="2F855A"/>
          </a:solidFill>
          <a:ln/>
        </p:spPr>
      </p:sp>
      <p:sp>
        <p:nvSpPr>
          <p:cNvPr id="71" name="text-131"/>
          <p:cNvSpPr txBox="1"/>
          <p:nvPr/>
        </p:nvSpPr>
        <p:spPr>
          <a:xfrm>
            <a:off x="10058400"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12</a:t>
            </a:r>
            <a:endParaRPr lang="en-US" sz="1300" dirty="0"/>
          </a:p>
        </p:txBody>
      </p:sp>
      <p:sp>
        <p:nvSpPr>
          <p:cNvPr id="72" name="text-132"/>
          <p:cNvSpPr txBox="1"/>
          <p:nvPr/>
        </p:nvSpPr>
        <p:spPr>
          <a:xfrm>
            <a:off x="10515600" y="3657600"/>
            <a:ext cx="1005840" cy="274320"/>
          </a:xfrm>
          <a:prstGeom prst="rect">
            <a:avLst/>
          </a:prstGeom>
          <a:noFill/>
          <a:ln/>
        </p:spPr>
        <p:txBody>
          <a:bodyPr wrap="square" lIns="0" tIns="0" rIns="0" bIns="0" rtlCol="0" anchor="ctr"/>
          <a:lstStyle/>
          <a:p>
            <a:pPr algn="l" indent="0" marL="0">
              <a:buNone/>
            </a:pPr>
            <a:r>
              <a:rPr lang="en-US" sz="1100" b="1" dirty="0">
                <a:solidFill>
                  <a:schemeClr val="accent1"/>
                </a:solidFill>
              </a:rPr>
              <a:t>DJANGO</a:t>
            </a:r>
            <a:endParaRPr lang="en-US" sz="1100" dirty="0"/>
          </a:p>
        </p:txBody>
      </p:sp>
      <p:sp>
        <p:nvSpPr>
          <p:cNvPr id="73" name="text-133"/>
          <p:cNvSpPr txBox="1"/>
          <p:nvPr/>
        </p:nvSpPr>
        <p:spPr>
          <a:xfrm>
            <a:off x="10058400" y="4114800"/>
            <a:ext cx="1417320" cy="548640"/>
          </a:xfrm>
          <a:prstGeom prst="rect">
            <a:avLst/>
          </a:prstGeom>
          <a:noFill/>
          <a:ln/>
        </p:spPr>
        <p:txBody>
          <a:bodyPr wrap="square" lIns="0" tIns="0" rIns="0" bIns="0" rtlCol="0" anchor="t"/>
          <a:lstStyle/>
          <a:p>
            <a:pPr algn="l" indent="0" marL="0">
              <a:buNone/>
            </a:pPr>
            <a:r>
              <a:rPr lang="en-US" sz="1400" b="1" dirty="0">
                <a:solidFill>
                  <a:schemeClr val="tx2"/>
                </a:solidFill>
              </a:rPr>
              <a:t>Grade webhook</a:t>
            </a:r>
            <a:endParaRPr lang="en-US" sz="1400" dirty="0"/>
          </a:p>
        </p:txBody>
      </p:sp>
      <p:sp>
        <p:nvSpPr>
          <p:cNvPr id="74" name="text-134"/>
          <p:cNvSpPr txBox="1"/>
          <p:nvPr/>
        </p:nvSpPr>
        <p:spPr>
          <a:xfrm>
            <a:off x="10058400" y="4663440"/>
            <a:ext cx="1417320" cy="640080"/>
          </a:xfrm>
          <a:prstGeom prst="rect">
            <a:avLst/>
          </a:prstGeom>
          <a:noFill/>
          <a:ln/>
        </p:spPr>
        <p:txBody>
          <a:bodyPr wrap="square" lIns="0" tIns="0" rIns="0" bIns="0" rtlCol="0" anchor="t"/>
          <a:lstStyle/>
          <a:p>
            <a:pPr algn="l" indent="0" marL="0">
              <a:buNone/>
            </a:pPr>
            <a:r>
              <a:rPr lang="en-US" sz="1200" dirty="0">
                <a:solidFill>
                  <a:schemeClr val="tx1"/>
                </a:solidFill>
              </a:rPr>
              <a:t>Django records the sync.</a:t>
            </a:r>
            <a:endParaRPr lang="en-US" sz="1200" dirty="0"/>
          </a:p>
        </p:txBody>
      </p:sp>
      <p:sp>
        <p:nvSpPr>
          <p:cNvPr id="75" name="retry-banner"/>
          <p:cNvSpPr/>
          <p:nvPr/>
        </p:nvSpPr>
        <p:spPr>
          <a:xfrm>
            <a:off x="548640" y="5623560"/>
            <a:ext cx="11064240" cy="640080"/>
          </a:xfrm>
          <a:prstGeom prst="roundRect">
            <a:avLst>
              <a:gd name="adj" fmla="val 14286"/>
            </a:avLst>
          </a:prstGeom>
          <a:solidFill>
            <a:srgbClr val="D9822B">
              <a:alpha val="14000"/>
            </a:srgbClr>
          </a:solidFill>
          <a:ln/>
        </p:spPr>
      </p:sp>
      <p:sp>
        <p:nvSpPr>
          <p:cNvPr id="76" name="retry-text"/>
          <p:cNvSpPr txBox="1"/>
          <p:nvPr/>
        </p:nvSpPr>
        <p:spPr>
          <a:xfrm>
            <a:off x="777240" y="5623560"/>
            <a:ext cx="10607040" cy="640080"/>
          </a:xfrm>
          <a:prstGeom prst="rect">
            <a:avLst/>
          </a:prstGeom>
          <a:noFill/>
          <a:ln/>
        </p:spPr>
        <p:txBody>
          <a:bodyPr wrap="square" lIns="0" tIns="0" rIns="0" bIns="0" rtlCol="0" anchor="ctr"/>
          <a:lstStyle/>
          <a:p>
            <a:pPr indent="0" marL="0">
              <a:buNone/>
            </a:pPr>
            <a:r>
              <a:rPr lang="en-US" sz="1300" b="1" dirty="0">
                <a:solidFill>
                  <a:schemeClr val="tx1"/>
                </a:solidFill>
              </a:rPr>
              <a:t>Failure path: </a:t>
            </a:r>
            <a:pPr indent="0" marL="0">
              <a:buNone/>
            </a:pPr>
            <a:r>
              <a:rPr lang="en-US" sz="1300" dirty="0">
                <a:solidFill>
                  <a:schemeClr val="tx1"/>
                </a:solidFill>
              </a:rPr>
              <a:t>webhook or Moodle API errors retry with exponential backoff. Retry limits, duplicate events and dead-letter handling are still open.</a:t>
            </a:r>
            <a:endParaRPr lang="en-US" sz="13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Socratic AI: guided hints under a fair-use budget</a:t>
            </a:r>
            <a:endParaRPr lang="en-US" sz="3000" dirty="0"/>
          </a:p>
        </p:txBody>
      </p:sp>
      <p:sp>
        <p:nvSpPr>
          <p:cNvPr id="3" name="n-quiz"/>
          <p:cNvSpPr/>
          <p:nvPr/>
        </p:nvSpPr>
        <p:spPr>
          <a:xfrm>
            <a:off x="548640" y="1737360"/>
            <a:ext cx="1783080" cy="1097280"/>
          </a:xfrm>
          <a:prstGeom prst="roundRect">
            <a:avLst>
              <a:gd name="adj" fmla="val 8333"/>
            </a:avLst>
          </a:prstGeom>
          <a:solidFill>
            <a:srgbClr val="D9822B">
              <a:alpha val="12000"/>
            </a:srgbClr>
          </a:solidFill>
          <a:ln w="19050">
            <a:solidFill>
              <a:schemeClr val="accent2"/>
            </a:solidFill>
            <a:prstDash val="solid"/>
          </a:ln>
        </p:spPr>
      </p:sp>
      <p:sp>
        <p:nvSpPr>
          <p:cNvPr id="4" name="label-135"/>
          <p:cNvSpPr txBox="1"/>
          <p:nvPr/>
        </p:nvSpPr>
        <p:spPr>
          <a:xfrm>
            <a:off x="548640" y="1737360"/>
            <a:ext cx="1783080" cy="1097280"/>
          </a:xfrm>
          <a:prstGeom prst="rect">
            <a:avLst/>
          </a:prstGeom>
          <a:noFill/>
          <a:ln/>
        </p:spPr>
        <p:txBody>
          <a:bodyPr wrap="square" lIns="762" tIns="762" rIns="762" bIns="762" rtlCol="0" anchor="ctr"/>
          <a:lstStyle/>
          <a:p>
            <a:pPr algn="ctr" indent="0" marL="0">
              <a:buNone/>
            </a:pPr>
            <a:r>
              <a:rPr lang="en-US" sz="1400" b="1" dirty="0">
                <a:solidFill>
                  <a:schemeClr val="tx1"/>
                </a:solidFill>
              </a:rPr>
              <a:t>Moodle quiz</a:t>
            </a:r>
            <a:endParaRPr lang="en-US" sz="1400" dirty="0"/>
          </a:p>
          <a:p>
            <a:pPr algn="ctr" indent="0" marL="0">
              <a:buNone/>
            </a:pPr>
            <a:r>
              <a:rPr lang="en-US" sz="1100" dirty="0">
                <a:solidFill>
                  <a:schemeClr val="accent6"/>
                </a:solidFill>
              </a:rPr>
              <a:t>question · rubric · answer</a:t>
            </a:r>
            <a:endParaRPr lang="en-US" sz="1400" dirty="0"/>
          </a:p>
        </p:txBody>
      </p:sp>
      <p:sp>
        <p:nvSpPr>
          <p:cNvPr id="5" name="n-prompt"/>
          <p:cNvSpPr/>
          <p:nvPr/>
        </p:nvSpPr>
        <p:spPr>
          <a:xfrm>
            <a:off x="2743200" y="1737360"/>
            <a:ext cx="2057400" cy="1097280"/>
          </a:xfrm>
          <a:prstGeom prst="roundRect">
            <a:avLst>
              <a:gd name="adj" fmla="val 8333"/>
            </a:avLst>
          </a:prstGeom>
          <a:solidFill>
            <a:srgbClr val="2B6CB0">
              <a:alpha val="12000"/>
            </a:srgbClr>
          </a:solidFill>
          <a:ln w="19050">
            <a:solidFill>
              <a:schemeClr val="accent3"/>
            </a:solidFill>
            <a:prstDash val="solid"/>
          </a:ln>
        </p:spPr>
      </p:sp>
      <p:sp>
        <p:nvSpPr>
          <p:cNvPr id="6" name="label-136"/>
          <p:cNvSpPr txBox="1"/>
          <p:nvPr/>
        </p:nvSpPr>
        <p:spPr>
          <a:xfrm>
            <a:off x="2743200" y="1737360"/>
            <a:ext cx="2057400" cy="1097280"/>
          </a:xfrm>
          <a:prstGeom prst="rect">
            <a:avLst/>
          </a:prstGeom>
          <a:noFill/>
          <a:ln/>
        </p:spPr>
        <p:txBody>
          <a:bodyPr wrap="square" lIns="762" tIns="762" rIns="762" bIns="762" rtlCol="0" anchor="ctr"/>
          <a:lstStyle/>
          <a:p>
            <a:pPr algn="ctr" indent="0" marL="0">
              <a:buNone/>
            </a:pPr>
            <a:r>
              <a:rPr lang="en-US" sz="1400" b="1" dirty="0">
                <a:solidFill>
                  <a:schemeClr val="tx1"/>
                </a:solidFill>
              </a:rPr>
              <a:t>Build the prompt</a:t>
            </a:r>
            <a:endParaRPr lang="en-US" sz="1400" dirty="0"/>
          </a:p>
          <a:p>
            <a:pPr algn="ctr" indent="0" marL="0">
              <a:buNone/>
            </a:pPr>
            <a:r>
              <a:rPr lang="en-US" sz="1100" dirty="0">
                <a:solidFill>
                  <a:schemeClr val="accent6"/>
                </a:solidFill>
              </a:rPr>
              <a:t>context + mastery + Socratic rule</a:t>
            </a:r>
            <a:endParaRPr lang="en-US" sz="1400" dirty="0"/>
          </a:p>
        </p:txBody>
      </p:sp>
      <p:sp>
        <p:nvSpPr>
          <p:cNvPr id="7" name="n-decision"/>
          <p:cNvSpPr/>
          <p:nvPr/>
        </p:nvSpPr>
        <p:spPr>
          <a:xfrm>
            <a:off x="5212080" y="1554480"/>
            <a:ext cx="2011680" cy="1463040"/>
          </a:xfrm>
          <a:prstGeom prst="diamond">
            <a:avLst/>
          </a:prstGeom>
          <a:solidFill>
            <a:srgbClr val="FFFFFF"/>
          </a:solidFill>
          <a:ln w="25400">
            <a:solidFill>
              <a:schemeClr val="tx2"/>
            </a:solidFill>
            <a:prstDash val="solid"/>
          </a:ln>
        </p:spPr>
      </p:sp>
      <p:sp>
        <p:nvSpPr>
          <p:cNvPr id="8" name="text-137"/>
          <p:cNvSpPr txBox="1"/>
          <p:nvPr/>
        </p:nvSpPr>
        <p:spPr>
          <a:xfrm>
            <a:off x="5532120" y="2011680"/>
            <a:ext cx="1371600" cy="548640"/>
          </a:xfrm>
          <a:prstGeom prst="rect">
            <a:avLst/>
          </a:prstGeom>
          <a:noFill/>
          <a:ln/>
        </p:spPr>
        <p:txBody>
          <a:bodyPr wrap="square" lIns="0" tIns="0" rIns="0" bIns="0" rtlCol="0" anchor="ctr"/>
          <a:lstStyle/>
          <a:p>
            <a:pPr algn="ctr" indent="0" marL="0">
              <a:buNone/>
            </a:pPr>
            <a:r>
              <a:rPr lang="en-US" sz="1200" b="1" dirty="0">
                <a:solidFill>
                  <a:schemeClr val="tx2"/>
                </a:solidFill>
              </a:rPr>
              <a:t>High-tier quota reached?</a:t>
            </a:r>
            <a:endParaRPr lang="en-US" sz="1200" dirty="0"/>
          </a:p>
        </p:txBody>
      </p:sp>
      <p:sp>
        <p:nvSpPr>
          <p:cNvPr id="9" name="n-high"/>
          <p:cNvSpPr/>
          <p:nvPr/>
        </p:nvSpPr>
        <p:spPr>
          <a:xfrm>
            <a:off x="7680960" y="1417320"/>
            <a:ext cx="1828800" cy="777240"/>
          </a:xfrm>
          <a:prstGeom prst="roundRect">
            <a:avLst>
              <a:gd name="adj" fmla="val 11765"/>
            </a:avLst>
          </a:prstGeom>
          <a:solidFill>
            <a:srgbClr val="2B6CB0">
              <a:alpha val="12000"/>
            </a:srgbClr>
          </a:solidFill>
          <a:ln w="19050">
            <a:solidFill>
              <a:schemeClr val="accent3"/>
            </a:solidFill>
            <a:prstDash val="solid"/>
          </a:ln>
        </p:spPr>
      </p:sp>
      <p:sp>
        <p:nvSpPr>
          <p:cNvPr id="10" name="label-138"/>
          <p:cNvSpPr txBox="1"/>
          <p:nvPr/>
        </p:nvSpPr>
        <p:spPr>
          <a:xfrm>
            <a:off x="7680960" y="1417320"/>
            <a:ext cx="1828800" cy="777240"/>
          </a:xfrm>
          <a:prstGeom prst="rect">
            <a:avLst/>
          </a:prstGeom>
          <a:noFill/>
          <a:ln/>
        </p:spPr>
        <p:txBody>
          <a:bodyPr wrap="square" lIns="762" tIns="762" rIns="762" bIns="762" rtlCol="0" anchor="ctr"/>
          <a:lstStyle/>
          <a:p>
            <a:pPr algn="ctr" indent="0" marL="0">
              <a:buNone/>
            </a:pPr>
            <a:r>
              <a:rPr lang="en-US" sz="1400" b="1" dirty="0">
                <a:solidFill>
                  <a:schemeClr val="tx1"/>
                </a:solidFill>
              </a:rPr>
              <a:t>High-tier model</a:t>
            </a:r>
            <a:endParaRPr lang="en-US" sz="1400" dirty="0"/>
          </a:p>
          <a:p>
            <a:pPr algn="ctr" indent="0" marL="0">
              <a:buNone/>
            </a:pPr>
            <a:r>
              <a:rPr lang="en-US" sz="1100" dirty="0">
                <a:solidFill>
                  <a:schemeClr val="accent6"/>
                </a:solidFill>
              </a:rPr>
              <a:t>default path</a:t>
            </a:r>
            <a:endParaRPr lang="en-US" sz="1400" dirty="0"/>
          </a:p>
        </p:txBody>
      </p:sp>
      <p:sp>
        <p:nvSpPr>
          <p:cNvPr id="11" name="n-light"/>
          <p:cNvSpPr/>
          <p:nvPr/>
        </p:nvSpPr>
        <p:spPr>
          <a:xfrm>
            <a:off x="7680960" y="2377440"/>
            <a:ext cx="1828800" cy="777240"/>
          </a:xfrm>
          <a:prstGeom prst="roundRect">
            <a:avLst>
              <a:gd name="adj" fmla="val 11765"/>
            </a:avLst>
          </a:prstGeom>
          <a:solidFill>
            <a:srgbClr val="2B6CB0">
              <a:alpha val="12000"/>
            </a:srgbClr>
          </a:solidFill>
          <a:ln w="19050">
            <a:solidFill>
              <a:schemeClr val="accent3"/>
            </a:solidFill>
            <a:prstDash val="dash"/>
          </a:ln>
        </p:spPr>
      </p:sp>
      <p:sp>
        <p:nvSpPr>
          <p:cNvPr id="12" name="label-139"/>
          <p:cNvSpPr txBox="1"/>
          <p:nvPr/>
        </p:nvSpPr>
        <p:spPr>
          <a:xfrm>
            <a:off x="7680960" y="2377440"/>
            <a:ext cx="1828800" cy="777240"/>
          </a:xfrm>
          <a:prstGeom prst="rect">
            <a:avLst/>
          </a:prstGeom>
          <a:noFill/>
          <a:ln/>
        </p:spPr>
        <p:txBody>
          <a:bodyPr wrap="square" lIns="762" tIns="762" rIns="762" bIns="762" rtlCol="0" anchor="ctr"/>
          <a:lstStyle/>
          <a:p>
            <a:pPr algn="ctr" indent="0" marL="0">
              <a:buNone/>
            </a:pPr>
            <a:r>
              <a:rPr lang="en-US" sz="1400" b="1" dirty="0">
                <a:solidFill>
                  <a:schemeClr val="tx1"/>
                </a:solidFill>
              </a:rPr>
              <a:t>Lighter model</a:t>
            </a:r>
            <a:endParaRPr lang="en-US" sz="1400" dirty="0"/>
          </a:p>
          <a:p>
            <a:pPr algn="ctr" indent="0" marL="0">
              <a:buNone/>
            </a:pPr>
            <a:r>
              <a:rPr lang="en-US" sz="1100" dirty="0">
                <a:solidFill>
                  <a:schemeClr val="accent6"/>
                </a:solidFill>
              </a:rPr>
              <a:t>Llama-3 / Qwen class</a:t>
            </a:r>
            <a:endParaRPr lang="en-US" sz="1400" dirty="0"/>
          </a:p>
        </p:txBody>
      </p:sp>
      <p:sp>
        <p:nvSpPr>
          <p:cNvPr id="13" name="n-stream"/>
          <p:cNvSpPr/>
          <p:nvPr/>
        </p:nvSpPr>
        <p:spPr>
          <a:xfrm>
            <a:off x="9921240" y="1737360"/>
            <a:ext cx="1691640" cy="1097280"/>
          </a:xfrm>
          <a:prstGeom prst="roundRect">
            <a:avLst>
              <a:gd name="adj" fmla="val 8333"/>
            </a:avLst>
          </a:prstGeom>
          <a:solidFill>
            <a:srgbClr val="D9822B">
              <a:alpha val="12000"/>
            </a:srgbClr>
          </a:solidFill>
          <a:ln w="19050">
            <a:solidFill>
              <a:schemeClr val="accent2"/>
            </a:solidFill>
            <a:prstDash val="solid"/>
          </a:ln>
        </p:spPr>
      </p:sp>
      <p:sp>
        <p:nvSpPr>
          <p:cNvPr id="14" name="label-140"/>
          <p:cNvSpPr txBox="1"/>
          <p:nvPr/>
        </p:nvSpPr>
        <p:spPr>
          <a:xfrm>
            <a:off x="9921240" y="1737360"/>
            <a:ext cx="1691640" cy="1097280"/>
          </a:xfrm>
          <a:prstGeom prst="rect">
            <a:avLst/>
          </a:prstGeom>
          <a:noFill/>
          <a:ln/>
        </p:spPr>
        <p:txBody>
          <a:bodyPr wrap="square" lIns="762" tIns="762" rIns="762" bIns="762" rtlCol="0" anchor="ctr"/>
          <a:lstStyle/>
          <a:p>
            <a:pPr algn="ctr" indent="0" marL="0">
              <a:buNone/>
            </a:pPr>
            <a:r>
              <a:rPr lang="en-US" sz="1400" b="1" dirty="0">
                <a:solidFill>
                  <a:schemeClr val="tx1"/>
                </a:solidFill>
              </a:rPr>
              <a:t>Stream (SSE)</a:t>
            </a:r>
            <a:endParaRPr lang="en-US" sz="1400" dirty="0"/>
          </a:p>
          <a:p>
            <a:pPr algn="ctr" indent="0" marL="0">
              <a:buNone/>
            </a:pPr>
            <a:r>
              <a:rPr lang="en-US" sz="1100" dirty="0">
                <a:solidFill>
                  <a:schemeClr val="accent6"/>
                </a:solidFill>
              </a:rPr>
              <a:t>first token &lt; 1.5 s</a:t>
            </a:r>
            <a:endParaRPr lang="en-US" sz="1400" dirty="0"/>
          </a:p>
        </p:txBody>
      </p:sp>
      <p:sp>
        <p:nvSpPr>
          <p:cNvPr id="15" name="arrow-141"/>
          <p:cNvSpPr/>
          <p:nvPr/>
        </p:nvSpPr>
        <p:spPr>
          <a:xfrm>
            <a:off x="2331720" y="2286000"/>
            <a:ext cx="411480" cy="0"/>
          </a:xfrm>
          <a:prstGeom prst="line">
            <a:avLst/>
          </a:prstGeom>
          <a:noFill/>
          <a:ln w="22225">
            <a:solidFill>
              <a:schemeClr val="accent6"/>
            </a:solidFill>
            <a:prstDash val="solid"/>
            <a:tailEnd type="triangle"/>
          </a:ln>
        </p:spPr>
      </p:sp>
      <p:sp>
        <p:nvSpPr>
          <p:cNvPr id="16" name="arrow-142"/>
          <p:cNvSpPr/>
          <p:nvPr/>
        </p:nvSpPr>
        <p:spPr>
          <a:xfrm>
            <a:off x="4800600" y="2286000"/>
            <a:ext cx="411480" cy="0"/>
          </a:xfrm>
          <a:prstGeom prst="line">
            <a:avLst/>
          </a:prstGeom>
          <a:noFill/>
          <a:ln w="22225">
            <a:solidFill>
              <a:schemeClr val="accent6"/>
            </a:solidFill>
            <a:prstDash val="solid"/>
            <a:tailEnd type="triangle"/>
          </a:ln>
        </p:spPr>
      </p:sp>
      <p:sp>
        <p:nvSpPr>
          <p:cNvPr id="17" name="arrow-143"/>
          <p:cNvSpPr/>
          <p:nvPr/>
        </p:nvSpPr>
        <p:spPr>
          <a:xfrm flipV="1">
            <a:off x="7223760" y="1810512"/>
            <a:ext cx="457200" cy="475488"/>
          </a:xfrm>
          <a:prstGeom prst="line">
            <a:avLst/>
          </a:prstGeom>
          <a:noFill/>
          <a:ln w="22225">
            <a:solidFill>
              <a:schemeClr val="accent6"/>
            </a:solidFill>
            <a:prstDash val="solid"/>
            <a:tailEnd type="triangle"/>
          </a:ln>
        </p:spPr>
      </p:sp>
      <p:sp>
        <p:nvSpPr>
          <p:cNvPr id="18" name="arrow-144"/>
          <p:cNvSpPr/>
          <p:nvPr/>
        </p:nvSpPr>
        <p:spPr>
          <a:xfrm>
            <a:off x="7223760" y="2286000"/>
            <a:ext cx="457200" cy="475488"/>
          </a:xfrm>
          <a:prstGeom prst="line">
            <a:avLst/>
          </a:prstGeom>
          <a:noFill/>
          <a:ln w="22225">
            <a:solidFill>
              <a:schemeClr val="accent6"/>
            </a:solidFill>
            <a:prstDash val="solid"/>
            <a:tailEnd type="triangle"/>
          </a:ln>
        </p:spPr>
      </p:sp>
      <p:sp>
        <p:nvSpPr>
          <p:cNvPr id="19" name="text-145"/>
          <p:cNvSpPr txBox="1"/>
          <p:nvPr/>
        </p:nvSpPr>
        <p:spPr>
          <a:xfrm>
            <a:off x="7269480" y="1691640"/>
            <a:ext cx="365760" cy="228600"/>
          </a:xfrm>
          <a:prstGeom prst="rect">
            <a:avLst/>
          </a:prstGeom>
          <a:noFill/>
          <a:ln/>
        </p:spPr>
        <p:txBody>
          <a:bodyPr wrap="square" lIns="0" tIns="0" rIns="0" bIns="0" rtlCol="0" anchor="t"/>
          <a:lstStyle/>
          <a:p>
            <a:pPr algn="l" indent="0" marL="0">
              <a:buNone/>
            </a:pPr>
            <a:r>
              <a:rPr lang="en-US" sz="1100" b="1" dirty="0">
                <a:solidFill>
                  <a:schemeClr val="accent6"/>
                </a:solidFill>
              </a:rPr>
              <a:t>No</a:t>
            </a:r>
            <a:endParaRPr lang="en-US" sz="1100" dirty="0"/>
          </a:p>
        </p:txBody>
      </p:sp>
      <p:sp>
        <p:nvSpPr>
          <p:cNvPr id="20" name="text-146"/>
          <p:cNvSpPr txBox="1"/>
          <p:nvPr/>
        </p:nvSpPr>
        <p:spPr>
          <a:xfrm>
            <a:off x="7269480" y="2743200"/>
            <a:ext cx="365760" cy="228600"/>
          </a:xfrm>
          <a:prstGeom prst="rect">
            <a:avLst/>
          </a:prstGeom>
          <a:noFill/>
          <a:ln/>
        </p:spPr>
        <p:txBody>
          <a:bodyPr wrap="square" lIns="0" tIns="0" rIns="0" bIns="0" rtlCol="0" anchor="t"/>
          <a:lstStyle/>
          <a:p>
            <a:pPr algn="l" indent="0" marL="0">
              <a:buNone/>
            </a:pPr>
            <a:r>
              <a:rPr lang="en-US" sz="1100" b="1" dirty="0">
                <a:solidFill>
                  <a:schemeClr val="accent6"/>
                </a:solidFill>
              </a:rPr>
              <a:t>Yes</a:t>
            </a:r>
            <a:endParaRPr lang="en-US" sz="1100" dirty="0"/>
          </a:p>
        </p:txBody>
      </p:sp>
      <p:sp>
        <p:nvSpPr>
          <p:cNvPr id="21" name="arrow-147"/>
          <p:cNvSpPr/>
          <p:nvPr/>
        </p:nvSpPr>
        <p:spPr>
          <a:xfrm>
            <a:off x="9509760" y="1810512"/>
            <a:ext cx="411480" cy="384048"/>
          </a:xfrm>
          <a:prstGeom prst="line">
            <a:avLst/>
          </a:prstGeom>
          <a:noFill/>
          <a:ln w="22225">
            <a:solidFill>
              <a:schemeClr val="accent6"/>
            </a:solidFill>
            <a:prstDash val="solid"/>
            <a:tailEnd type="triangle"/>
          </a:ln>
        </p:spPr>
      </p:sp>
      <p:sp>
        <p:nvSpPr>
          <p:cNvPr id="22" name="arrow-148"/>
          <p:cNvSpPr/>
          <p:nvPr/>
        </p:nvSpPr>
        <p:spPr>
          <a:xfrm flipV="1">
            <a:off x="9509760" y="2377440"/>
            <a:ext cx="411480" cy="384048"/>
          </a:xfrm>
          <a:prstGeom prst="line">
            <a:avLst/>
          </a:prstGeom>
          <a:noFill/>
          <a:ln w="22225">
            <a:solidFill>
              <a:schemeClr val="accent6"/>
            </a:solidFill>
            <a:prstDash val="solid"/>
            <a:tailEnd type="triangle"/>
          </a:ln>
        </p:spPr>
      </p:sp>
      <p:sp>
        <p:nvSpPr>
          <p:cNvPr id="23" name="text-149"/>
          <p:cNvSpPr txBox="1"/>
          <p:nvPr/>
        </p:nvSpPr>
        <p:spPr>
          <a:xfrm>
            <a:off x="548640" y="3291840"/>
            <a:ext cx="11064240" cy="274320"/>
          </a:xfrm>
          <a:prstGeom prst="rect">
            <a:avLst/>
          </a:prstGeom>
          <a:noFill/>
          <a:ln/>
        </p:spPr>
        <p:txBody>
          <a:bodyPr wrap="square" lIns="0" tIns="0" rIns="0" bIns="0" rtlCol="0" anchor="t"/>
          <a:lstStyle/>
          <a:p>
            <a:pPr algn="l" indent="0" marL="0">
              <a:buNone/>
            </a:pPr>
            <a:r>
              <a:rPr lang="en-US" sz="1300" dirty="0">
                <a:solidFill>
                  <a:schemeClr val="accent6"/>
                </a:solidFill>
              </a:rPr>
              <a:t>Only non-critical interactions are downgraded, so the service stays up.</a:t>
            </a:r>
            <a:endParaRPr lang="en-US" sz="1300" dirty="0"/>
          </a:p>
        </p:txBody>
      </p:sp>
      <p:sp>
        <p:nvSpPr>
          <p:cNvPr id="24" name="fair-card-1"/>
          <p:cNvSpPr/>
          <p:nvPr/>
        </p:nvSpPr>
        <p:spPr>
          <a:xfrm>
            <a:off x="548640" y="3794760"/>
            <a:ext cx="3566160" cy="1828800"/>
          </a:xfrm>
          <a:prstGeom prst="roundRect">
            <a:avLst>
              <a:gd name="adj" fmla="val 5000"/>
            </a:avLst>
          </a:prstGeom>
          <a:solidFill>
            <a:srgbClr val="EEF2F6"/>
          </a:solidFill>
          <a:ln/>
        </p:spPr>
      </p:sp>
      <p:sp>
        <p:nvSpPr>
          <p:cNvPr id="25" name="text-150"/>
          <p:cNvSpPr txBox="1"/>
          <p:nvPr/>
        </p:nvSpPr>
        <p:spPr>
          <a:xfrm>
            <a:off x="822960" y="3931920"/>
            <a:ext cx="3017520" cy="731520"/>
          </a:xfrm>
          <a:prstGeom prst="rect">
            <a:avLst/>
          </a:prstGeom>
          <a:noFill/>
          <a:ln/>
        </p:spPr>
        <p:txBody>
          <a:bodyPr wrap="square" lIns="0" tIns="0" rIns="0" bIns="0" rtlCol="0" anchor="t"/>
          <a:lstStyle/>
          <a:p>
            <a:pPr algn="l" indent="0" marL="0">
              <a:buNone/>
            </a:pPr>
            <a:r>
              <a:rPr lang="en-US" sz="3800" b="1" dirty="0">
                <a:solidFill>
                  <a:schemeClr val="tx2"/>
                </a:solidFill>
                <a:latin typeface="Cambria" pitchFamily="34" charset="0"/>
                <a:ea typeface="Cambria" pitchFamily="34" charset="-122"/>
                <a:cs typeface="Cambria" pitchFamily="34" charset="-120"/>
              </a:rPr>
              <a:t>500</a:t>
            </a:r>
            <a:endParaRPr lang="en-US" sz="3800" dirty="0"/>
          </a:p>
        </p:txBody>
      </p:sp>
      <p:sp>
        <p:nvSpPr>
          <p:cNvPr id="26" name="text-151"/>
          <p:cNvSpPr txBox="1"/>
          <p:nvPr/>
        </p:nvSpPr>
        <p:spPr>
          <a:xfrm>
            <a:off x="822960" y="4709160"/>
            <a:ext cx="3017520" cy="822960"/>
          </a:xfrm>
          <a:prstGeom prst="rect">
            <a:avLst/>
          </a:prstGeom>
          <a:noFill/>
          <a:ln/>
        </p:spPr>
        <p:txBody>
          <a:bodyPr wrap="square" lIns="0" tIns="0" rIns="0" bIns="0" rtlCol="0" anchor="t"/>
          <a:lstStyle/>
          <a:p>
            <a:pPr algn="l" indent="0" marL="0">
              <a:buNone/>
            </a:pPr>
            <a:r>
              <a:rPr lang="en-US" sz="1400" dirty="0">
                <a:solidFill>
                  <a:schemeClr val="tx1"/>
                </a:solidFill>
              </a:rPr>
              <a:t>Socratic interactions a month on the standard student plan</a:t>
            </a:r>
            <a:endParaRPr lang="en-US" sz="1400" dirty="0"/>
          </a:p>
        </p:txBody>
      </p:sp>
      <p:sp>
        <p:nvSpPr>
          <p:cNvPr id="27" name="fair-card-2"/>
          <p:cNvSpPr/>
          <p:nvPr/>
        </p:nvSpPr>
        <p:spPr>
          <a:xfrm>
            <a:off x="4297680" y="3794760"/>
            <a:ext cx="3566160" cy="1828800"/>
          </a:xfrm>
          <a:prstGeom prst="roundRect">
            <a:avLst>
              <a:gd name="adj" fmla="val 5000"/>
            </a:avLst>
          </a:prstGeom>
          <a:solidFill>
            <a:srgbClr val="EEF2F6"/>
          </a:solidFill>
          <a:ln/>
        </p:spPr>
      </p:sp>
      <p:sp>
        <p:nvSpPr>
          <p:cNvPr id="28" name="text-152"/>
          <p:cNvSpPr txBox="1"/>
          <p:nvPr/>
        </p:nvSpPr>
        <p:spPr>
          <a:xfrm>
            <a:off x="4572000" y="3931920"/>
            <a:ext cx="3017520" cy="731520"/>
          </a:xfrm>
          <a:prstGeom prst="rect">
            <a:avLst/>
          </a:prstGeom>
          <a:noFill/>
          <a:ln/>
        </p:spPr>
        <p:txBody>
          <a:bodyPr wrap="square" lIns="0" tIns="0" rIns="0" bIns="0" rtlCol="0" anchor="t"/>
          <a:lstStyle/>
          <a:p>
            <a:pPr algn="l" indent="0" marL="0">
              <a:buNone/>
            </a:pPr>
            <a:r>
              <a:rPr lang="en-US" sz="3800" b="1" dirty="0">
                <a:solidFill>
                  <a:schemeClr val="tx2"/>
                </a:solidFill>
                <a:latin typeface="Cambria" pitchFamily="34" charset="0"/>
                <a:ea typeface="Cambria" pitchFamily="34" charset="-122"/>
                <a:cs typeface="Cambria" pitchFamily="34" charset="-120"/>
              </a:rPr>
              <a:t>Pooled</a:t>
            </a:r>
            <a:endParaRPr lang="en-US" sz="3800" dirty="0"/>
          </a:p>
        </p:txBody>
      </p:sp>
      <p:sp>
        <p:nvSpPr>
          <p:cNvPr id="29" name="text-153"/>
          <p:cNvSpPr txBox="1"/>
          <p:nvPr/>
        </p:nvSpPr>
        <p:spPr>
          <a:xfrm>
            <a:off x="4572000" y="4709160"/>
            <a:ext cx="3017520" cy="822960"/>
          </a:xfrm>
          <a:prstGeom prst="rect">
            <a:avLst/>
          </a:prstGeom>
          <a:noFill/>
          <a:ln/>
        </p:spPr>
        <p:txBody>
          <a:bodyPr wrap="square" lIns="0" tIns="0" rIns="0" bIns="0" rtlCol="0" anchor="t"/>
          <a:lstStyle/>
          <a:p>
            <a:pPr algn="l" indent="0" marL="0">
              <a:buNone/>
            </a:pPr>
            <a:r>
              <a:rPr lang="en-US" sz="1400" dirty="0">
                <a:solidFill>
                  <a:schemeClr val="tx1"/>
                </a:solidFill>
              </a:rPr>
              <a:t>Schools share one allowance sized by active student seats</a:t>
            </a:r>
            <a:endParaRPr lang="en-US" sz="1400" dirty="0"/>
          </a:p>
        </p:txBody>
      </p:sp>
      <p:sp>
        <p:nvSpPr>
          <p:cNvPr id="30" name="fair-card-3"/>
          <p:cNvSpPr/>
          <p:nvPr/>
        </p:nvSpPr>
        <p:spPr>
          <a:xfrm>
            <a:off x="8046720" y="3794760"/>
            <a:ext cx="3566160" cy="1828800"/>
          </a:xfrm>
          <a:prstGeom prst="roundRect">
            <a:avLst>
              <a:gd name="adj" fmla="val 5000"/>
            </a:avLst>
          </a:prstGeom>
          <a:solidFill>
            <a:srgbClr val="EEF2F6"/>
          </a:solidFill>
          <a:ln/>
        </p:spPr>
      </p:sp>
      <p:sp>
        <p:nvSpPr>
          <p:cNvPr id="31" name="text-154"/>
          <p:cNvSpPr txBox="1"/>
          <p:nvPr/>
        </p:nvSpPr>
        <p:spPr>
          <a:xfrm>
            <a:off x="8321040" y="3931920"/>
            <a:ext cx="3017520" cy="731520"/>
          </a:xfrm>
          <a:prstGeom prst="rect">
            <a:avLst/>
          </a:prstGeom>
          <a:noFill/>
          <a:ln/>
        </p:spPr>
        <p:txBody>
          <a:bodyPr wrap="square" lIns="0" tIns="0" rIns="0" bIns="0" rtlCol="0" anchor="t"/>
          <a:lstStyle/>
          <a:p>
            <a:pPr algn="l" indent="0" marL="0">
              <a:buNone/>
            </a:pPr>
            <a:r>
              <a:rPr lang="en-US" sz="3800" b="1" dirty="0">
                <a:solidFill>
                  <a:schemeClr val="tx2"/>
                </a:solidFill>
                <a:latin typeface="Cambria" pitchFamily="34" charset="0"/>
                <a:ea typeface="Cambria" pitchFamily="34" charset="-122"/>
                <a:cs typeface="Cambria" pitchFamily="34" charset="-120"/>
              </a:rPr>
              <a:t>Ledger</a:t>
            </a:r>
            <a:endParaRPr lang="en-US" sz="3800" dirty="0"/>
          </a:p>
        </p:txBody>
      </p:sp>
      <p:sp>
        <p:nvSpPr>
          <p:cNvPr id="32" name="text-155"/>
          <p:cNvSpPr txBox="1"/>
          <p:nvPr/>
        </p:nvSpPr>
        <p:spPr>
          <a:xfrm>
            <a:off x="8321040" y="4709160"/>
            <a:ext cx="3017520" cy="822960"/>
          </a:xfrm>
          <a:prstGeom prst="rect">
            <a:avLst/>
          </a:prstGeom>
          <a:noFill/>
          <a:ln/>
        </p:spPr>
        <p:txBody>
          <a:bodyPr wrap="square" lIns="0" tIns="0" rIns="0" bIns="0" rtlCol="0" anchor="t"/>
          <a:lstStyle/>
          <a:p>
            <a:pPr algn="l" indent="0" marL="0">
              <a:buNone/>
            </a:pPr>
            <a:r>
              <a:rPr lang="en-US" sz="1400" dirty="0">
                <a:solidFill>
                  <a:schemeClr val="tx1"/>
                </a:solidFill>
              </a:rPr>
              <a:t>Reserve, consume and reconcile every interaction, in tokens too</a:t>
            </a:r>
            <a:endParaRPr lang="en-US" sz="1400" dirty="0"/>
          </a:p>
        </p:txBody>
      </p:sp>
      <p:sp>
        <p:nvSpPr>
          <p:cNvPr id="33" name="text-156"/>
          <p:cNvSpPr txBox="1"/>
          <p:nvPr/>
        </p:nvSpPr>
        <p:spPr>
          <a:xfrm>
            <a:off x="548640" y="5852160"/>
            <a:ext cx="11064240" cy="457200"/>
          </a:xfrm>
          <a:prstGeom prst="rect">
            <a:avLst/>
          </a:prstGeom>
          <a:noFill/>
          <a:ln/>
        </p:spPr>
        <p:txBody>
          <a:bodyPr wrap="square" lIns="0" tIns="0" rIns="0" bIns="0" rtlCol="0" anchor="t"/>
          <a:lstStyle/>
          <a:p>
            <a:pPr algn="l" indent="0" marL="0">
              <a:buNone/>
            </a:pPr>
            <a:r>
              <a:rPr lang="en-US" sz="1300" b="1" dirty="0">
                <a:solidFill>
                  <a:schemeClr val="accent5"/>
                </a:solidFill>
              </a:rPr>
              <a:t>Still open: whether the allowance is checked before or after model choice, how an interaction maps to tokens, and what counts as "critical".</a:t>
            </a:r>
            <a:endParaRPr lang="en-US" sz="13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Every client is an organization, isolated by the database</a:t>
            </a:r>
            <a:endParaRPr lang="en-US" sz="3000" dirty="0"/>
          </a:p>
        </p:txBody>
      </p:sp>
      <p:sp>
        <p:nvSpPr>
          <p:cNvPr id="3" name="entity-1"/>
          <p:cNvSpPr/>
          <p:nvPr/>
        </p:nvSpPr>
        <p:spPr>
          <a:xfrm>
            <a:off x="548640" y="1325880"/>
            <a:ext cx="3291840" cy="2606040"/>
          </a:xfrm>
          <a:prstGeom prst="roundRect">
            <a:avLst>
              <a:gd name="adj" fmla="val 3509"/>
            </a:avLst>
          </a:prstGeom>
          <a:solidFill>
            <a:srgbClr val="FFFFFF"/>
          </a:solidFill>
          <a:ln w="22225">
            <a:solidFill>
              <a:schemeClr val="accent4"/>
            </a:solidFill>
            <a:prstDash val="solid"/>
          </a:ln>
        </p:spPr>
      </p:sp>
      <p:sp>
        <p:nvSpPr>
          <p:cNvPr id="4" name="entity-head-157"/>
          <p:cNvSpPr/>
          <p:nvPr/>
        </p:nvSpPr>
        <p:spPr>
          <a:xfrm>
            <a:off x="548640" y="1325880"/>
            <a:ext cx="3291840" cy="457200"/>
          </a:xfrm>
          <a:prstGeom prst="rect">
            <a:avLst/>
          </a:prstGeom>
          <a:solidFill>
            <a:srgbClr val="6B46C1">
              <a:alpha val="15000"/>
            </a:srgbClr>
          </a:solidFill>
          <a:ln/>
        </p:spPr>
      </p:sp>
      <p:sp>
        <p:nvSpPr>
          <p:cNvPr id="5" name="text-158"/>
          <p:cNvSpPr txBox="1"/>
          <p:nvPr/>
        </p:nvSpPr>
        <p:spPr>
          <a:xfrm>
            <a:off x="731520" y="1325880"/>
            <a:ext cx="3017520" cy="457200"/>
          </a:xfrm>
          <a:prstGeom prst="rect">
            <a:avLst/>
          </a:prstGeom>
          <a:noFill/>
          <a:ln/>
        </p:spPr>
        <p:txBody>
          <a:bodyPr wrap="square" lIns="0" tIns="0" rIns="0" bIns="0" rtlCol="0" anchor="ctr"/>
          <a:lstStyle/>
          <a:p>
            <a:pPr algn="l" indent="0" marL="0">
              <a:buNone/>
            </a:pPr>
            <a:r>
              <a:rPr lang="en-US" sz="1300" b="1" dirty="0">
                <a:solidFill>
                  <a:schemeClr val="accent4"/>
                </a:solidFill>
              </a:rPr>
              <a:t>ORGANIZATION</a:t>
            </a:r>
            <a:endParaRPr lang="en-US" sz="1300" dirty="0"/>
          </a:p>
        </p:txBody>
      </p:sp>
      <p:sp>
        <p:nvSpPr>
          <p:cNvPr id="6" name="entity-fields-1"/>
          <p:cNvSpPr txBox="1"/>
          <p:nvPr/>
        </p:nvSpPr>
        <p:spPr>
          <a:xfrm>
            <a:off x="731520" y="1874520"/>
            <a:ext cx="2971800" cy="196596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id (uuid, PK)</a:t>
            </a:r>
            <a:endParaRPr lang="en-US" sz="1200" dirty="0"/>
          </a:p>
          <a:p>
            <a:pPr indent="0" marL="0">
              <a:spcAft>
                <a:spcPts val="300"/>
              </a:spcAft>
              <a:buNone/>
            </a:pPr>
            <a:r>
              <a:rPr lang="en-US" sz="1200" dirty="0">
                <a:solidFill>
                  <a:schemeClr val="tx1"/>
                </a:solidFill>
              </a:rPr>
              <a:t>name</a:t>
            </a:r>
            <a:endParaRPr lang="en-US" sz="1200" dirty="0"/>
          </a:p>
          <a:p>
            <a:pPr indent="0" marL="0">
              <a:spcAft>
                <a:spcPts val="300"/>
              </a:spcAft>
              <a:buNone/>
            </a:pPr>
            <a:r>
              <a:rPr lang="en-US" sz="1200" dirty="0">
                <a:solidFill>
                  <a:schemeClr val="tx1"/>
                </a:solidFill>
              </a:rPr>
              <a:t>org_type: individual, school, sme, ngo, enterprise</a:t>
            </a:r>
            <a:endParaRPr lang="en-US" sz="1200" dirty="0"/>
          </a:p>
          <a:p>
            <a:pPr indent="0" marL="0">
              <a:spcAft>
                <a:spcPts val="300"/>
              </a:spcAft>
              <a:buNone/>
            </a:pPr>
            <a:r>
              <a:rPr lang="en-US" sz="1200" dirty="0">
                <a:solidFill>
                  <a:schemeClr val="tx1"/>
                </a:solidFill>
              </a:rPr>
              <a:t>status: pending, active, suspended</a:t>
            </a:r>
            <a:endParaRPr lang="en-US" sz="1200" dirty="0"/>
          </a:p>
          <a:p>
            <a:pPr indent="0" marL="0">
              <a:spcAft>
                <a:spcPts val="300"/>
              </a:spcAft>
              <a:buNone/>
            </a:pPr>
            <a:r>
              <a:rPr lang="en-US" sz="1200" dirty="0">
                <a:solidFill>
                  <a:schemeClr val="tx1"/>
                </a:solidFill>
              </a:rPr>
              <a:t>created_at</a:t>
            </a:r>
            <a:endParaRPr lang="en-US" sz="1200" dirty="0"/>
          </a:p>
        </p:txBody>
      </p:sp>
      <p:sp>
        <p:nvSpPr>
          <p:cNvPr id="7" name="entity-2"/>
          <p:cNvSpPr/>
          <p:nvPr/>
        </p:nvSpPr>
        <p:spPr>
          <a:xfrm>
            <a:off x="4434840" y="1325880"/>
            <a:ext cx="3291840" cy="2606040"/>
          </a:xfrm>
          <a:prstGeom prst="roundRect">
            <a:avLst>
              <a:gd name="adj" fmla="val 3509"/>
            </a:avLst>
          </a:prstGeom>
          <a:solidFill>
            <a:srgbClr val="FFFFFF"/>
          </a:solidFill>
          <a:ln w="22225">
            <a:solidFill>
              <a:schemeClr val="accent4"/>
            </a:solidFill>
            <a:prstDash val="solid"/>
          </a:ln>
        </p:spPr>
      </p:sp>
      <p:sp>
        <p:nvSpPr>
          <p:cNvPr id="8" name="entity-head-159"/>
          <p:cNvSpPr/>
          <p:nvPr/>
        </p:nvSpPr>
        <p:spPr>
          <a:xfrm>
            <a:off x="4434840" y="1325880"/>
            <a:ext cx="3291840" cy="457200"/>
          </a:xfrm>
          <a:prstGeom prst="rect">
            <a:avLst/>
          </a:prstGeom>
          <a:solidFill>
            <a:srgbClr val="6B46C1">
              <a:alpha val="15000"/>
            </a:srgbClr>
          </a:solidFill>
          <a:ln/>
        </p:spPr>
      </p:sp>
      <p:sp>
        <p:nvSpPr>
          <p:cNvPr id="9" name="text-160"/>
          <p:cNvSpPr txBox="1"/>
          <p:nvPr/>
        </p:nvSpPr>
        <p:spPr>
          <a:xfrm>
            <a:off x="4617720" y="1325880"/>
            <a:ext cx="3017520" cy="457200"/>
          </a:xfrm>
          <a:prstGeom prst="rect">
            <a:avLst/>
          </a:prstGeom>
          <a:noFill/>
          <a:ln/>
        </p:spPr>
        <p:txBody>
          <a:bodyPr wrap="square" lIns="0" tIns="0" rIns="0" bIns="0" rtlCol="0" anchor="ctr"/>
          <a:lstStyle/>
          <a:p>
            <a:pPr algn="l" indent="0" marL="0">
              <a:buNone/>
            </a:pPr>
            <a:r>
              <a:rPr lang="en-US" sz="1300" b="1" dirty="0">
                <a:solidFill>
                  <a:schemeClr val="accent4"/>
                </a:solidFill>
              </a:rPr>
              <a:t>USER_PROFILE</a:t>
            </a:r>
            <a:endParaRPr lang="en-US" sz="1300" dirty="0"/>
          </a:p>
        </p:txBody>
      </p:sp>
      <p:sp>
        <p:nvSpPr>
          <p:cNvPr id="10" name="entity-fields-2"/>
          <p:cNvSpPr txBox="1"/>
          <p:nvPr/>
        </p:nvSpPr>
        <p:spPr>
          <a:xfrm>
            <a:off x="4617720" y="1874520"/>
            <a:ext cx="2971800" cy="196596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id (uuid, PK)</a:t>
            </a:r>
            <a:endParaRPr lang="en-US" sz="1200" dirty="0"/>
          </a:p>
          <a:p>
            <a:pPr indent="0" marL="0">
              <a:spcAft>
                <a:spcPts val="300"/>
              </a:spcAft>
              <a:buNone/>
            </a:pPr>
            <a:r>
              <a:rPr lang="en-US" sz="1200" dirty="0">
                <a:solidFill>
                  <a:schemeClr val="tx1"/>
                </a:solidFill>
              </a:rPr>
              <a:t>user_id → auth_user</a:t>
            </a:r>
            <a:endParaRPr lang="en-US" sz="1200" dirty="0"/>
          </a:p>
          <a:p>
            <a:pPr indent="0" marL="0">
              <a:spcAft>
                <a:spcPts val="300"/>
              </a:spcAft>
              <a:buNone/>
            </a:pPr>
            <a:r>
              <a:rPr lang="en-US" sz="1200" dirty="0">
                <a:solidFill>
                  <a:schemeClr val="tx1"/>
                </a:solidFill>
              </a:rPr>
              <a:t>organization_id → organization</a:t>
            </a:r>
            <a:endParaRPr lang="en-US" sz="1200" dirty="0"/>
          </a:p>
          <a:p>
            <a:pPr indent="0" marL="0">
              <a:spcAft>
                <a:spcPts val="300"/>
              </a:spcAft>
              <a:buNone/>
            </a:pPr>
            <a:r>
              <a:rPr lang="en-US" sz="1200" dirty="0">
                <a:solidFill>
                  <a:schemeClr val="tx1"/>
                </a:solidFill>
              </a:rPr>
              <a:t>role: org_admin, teacher, student, parent, sme_staff</a:t>
            </a:r>
            <a:endParaRPr lang="en-US" sz="1200" dirty="0"/>
          </a:p>
          <a:p>
            <a:pPr indent="0" marL="0">
              <a:spcAft>
                <a:spcPts val="300"/>
              </a:spcAft>
              <a:buNone/>
            </a:pPr>
            <a:r>
              <a:rPr lang="en-US" sz="1200" dirty="0">
                <a:solidFill>
                  <a:schemeClr val="tx1"/>
                </a:solidFill>
              </a:rPr>
              <a:t>phone_number</a:t>
            </a:r>
            <a:endParaRPr lang="en-US" sz="1200" dirty="0"/>
          </a:p>
        </p:txBody>
      </p:sp>
      <p:sp>
        <p:nvSpPr>
          <p:cNvPr id="11" name="entity-3"/>
          <p:cNvSpPr/>
          <p:nvPr/>
        </p:nvSpPr>
        <p:spPr>
          <a:xfrm>
            <a:off x="8321040" y="1325880"/>
            <a:ext cx="3291840" cy="2606040"/>
          </a:xfrm>
          <a:prstGeom prst="roundRect">
            <a:avLst>
              <a:gd name="adj" fmla="val 3509"/>
            </a:avLst>
          </a:prstGeom>
          <a:solidFill>
            <a:srgbClr val="FFFFFF"/>
          </a:solidFill>
          <a:ln w="22225">
            <a:solidFill>
              <a:schemeClr val="accent4"/>
            </a:solidFill>
            <a:prstDash val="solid"/>
          </a:ln>
        </p:spPr>
      </p:sp>
      <p:sp>
        <p:nvSpPr>
          <p:cNvPr id="12" name="entity-head-161"/>
          <p:cNvSpPr/>
          <p:nvPr/>
        </p:nvSpPr>
        <p:spPr>
          <a:xfrm>
            <a:off x="8321040" y="1325880"/>
            <a:ext cx="3291840" cy="457200"/>
          </a:xfrm>
          <a:prstGeom prst="rect">
            <a:avLst/>
          </a:prstGeom>
          <a:solidFill>
            <a:srgbClr val="6B46C1">
              <a:alpha val="15000"/>
            </a:srgbClr>
          </a:solidFill>
          <a:ln/>
        </p:spPr>
      </p:sp>
      <p:sp>
        <p:nvSpPr>
          <p:cNvPr id="13" name="text-162"/>
          <p:cNvSpPr txBox="1"/>
          <p:nvPr/>
        </p:nvSpPr>
        <p:spPr>
          <a:xfrm>
            <a:off x="8503920" y="1325880"/>
            <a:ext cx="3017520" cy="457200"/>
          </a:xfrm>
          <a:prstGeom prst="rect">
            <a:avLst/>
          </a:prstGeom>
          <a:noFill/>
          <a:ln/>
        </p:spPr>
        <p:txBody>
          <a:bodyPr wrap="square" lIns="0" tIns="0" rIns="0" bIns="0" rtlCol="0" anchor="ctr"/>
          <a:lstStyle/>
          <a:p>
            <a:pPr algn="l" indent="0" marL="0">
              <a:buNone/>
            </a:pPr>
            <a:r>
              <a:rPr lang="en-US" sz="1300" b="1" dirty="0">
                <a:solidFill>
                  <a:schemeClr val="accent4"/>
                </a:solidFill>
              </a:rPr>
              <a:t>SUBSCRIPTION_LICENSE</a:t>
            </a:r>
            <a:endParaRPr lang="en-US" sz="1300" dirty="0"/>
          </a:p>
        </p:txBody>
      </p:sp>
      <p:sp>
        <p:nvSpPr>
          <p:cNvPr id="14" name="entity-fields-3"/>
          <p:cNvSpPr txBox="1"/>
          <p:nvPr/>
        </p:nvSpPr>
        <p:spPr>
          <a:xfrm>
            <a:off x="8503920" y="1874520"/>
            <a:ext cx="2971800" cy="196596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id (uuid, PK)</a:t>
            </a:r>
            <a:endParaRPr lang="en-US" sz="1200" dirty="0"/>
          </a:p>
          <a:p>
            <a:pPr indent="0" marL="0">
              <a:spcAft>
                <a:spcPts val="300"/>
              </a:spcAft>
              <a:buNone/>
            </a:pPr>
            <a:r>
              <a:rPr lang="en-US" sz="1200" dirty="0">
                <a:solidFill>
                  <a:schemeClr val="tx1"/>
                </a:solidFill>
              </a:rPr>
              <a:t>organization_id → organization</a:t>
            </a:r>
            <a:endParaRPr lang="en-US" sz="1200" dirty="0"/>
          </a:p>
          <a:p>
            <a:pPr indent="0" marL="0">
              <a:spcAft>
                <a:spcPts val="300"/>
              </a:spcAft>
              <a:buNone/>
            </a:pPr>
            <a:r>
              <a:rPr lang="en-US" sz="1200" dirty="0">
                <a:solidFill>
                  <a:schemeClr val="tx1"/>
                </a:solidFill>
              </a:rPr>
              <a:t>product_code: EDTECH_LMS, CRM_BASIC, AI_PRO</a:t>
            </a:r>
            <a:endParaRPr lang="en-US" sz="1200" dirty="0"/>
          </a:p>
          <a:p>
            <a:pPr indent="0" marL="0">
              <a:spcAft>
                <a:spcPts val="300"/>
              </a:spcAft>
              <a:buNone/>
            </a:pPr>
            <a:r>
              <a:rPr lang="en-US" sz="1200" dirty="0">
                <a:solidFill>
                  <a:schemeClr val="tx1"/>
                </a:solidFill>
              </a:rPr>
              <a:t>seat_capacity · moodle_cohort_id</a:t>
            </a:r>
            <a:endParaRPr lang="en-US" sz="1200" dirty="0"/>
          </a:p>
          <a:p>
            <a:pPr indent="0" marL="0">
              <a:spcAft>
                <a:spcPts val="300"/>
              </a:spcAft>
              <a:buNone/>
            </a:pPr>
            <a:r>
              <a:rPr lang="en-US" sz="1200" dirty="0">
                <a:solidFill>
                  <a:schemeClr val="tx1"/>
                </a:solidFill>
              </a:rPr>
              <a:t>AI token allowance and usage · valid_until</a:t>
            </a:r>
            <a:endParaRPr lang="en-US" sz="1200" dirty="0"/>
          </a:p>
        </p:txBody>
      </p:sp>
      <p:sp>
        <p:nvSpPr>
          <p:cNvPr id="15" name="text-163"/>
          <p:cNvSpPr txBox="1"/>
          <p:nvPr/>
        </p:nvSpPr>
        <p:spPr>
          <a:xfrm>
            <a:off x="3840480" y="2468880"/>
            <a:ext cx="594360" cy="274320"/>
          </a:xfrm>
          <a:prstGeom prst="rect">
            <a:avLst/>
          </a:prstGeom>
          <a:noFill/>
          <a:ln/>
        </p:spPr>
        <p:txBody>
          <a:bodyPr wrap="square" lIns="0" tIns="0" rIns="0" bIns="0" rtlCol="0" anchor="t"/>
          <a:lstStyle/>
          <a:p>
            <a:pPr algn="ctr" indent="0" marL="0">
              <a:buNone/>
            </a:pPr>
            <a:r>
              <a:rPr lang="en-US" sz="1300" b="1" dirty="0">
                <a:solidFill>
                  <a:schemeClr val="accent4"/>
                </a:solidFill>
              </a:rPr>
              <a:t>1 → N</a:t>
            </a:r>
            <a:endParaRPr lang="en-US" sz="1300" dirty="0"/>
          </a:p>
        </p:txBody>
      </p:sp>
      <p:sp>
        <p:nvSpPr>
          <p:cNvPr id="16" name="text-164"/>
          <p:cNvSpPr txBox="1"/>
          <p:nvPr/>
        </p:nvSpPr>
        <p:spPr>
          <a:xfrm>
            <a:off x="7726680" y="2468880"/>
            <a:ext cx="594360" cy="274320"/>
          </a:xfrm>
          <a:prstGeom prst="rect">
            <a:avLst/>
          </a:prstGeom>
          <a:noFill/>
          <a:ln/>
        </p:spPr>
        <p:txBody>
          <a:bodyPr wrap="square" lIns="0" tIns="0" rIns="0" bIns="0" rtlCol="0" anchor="t"/>
          <a:lstStyle/>
          <a:p>
            <a:pPr algn="ctr" indent="0" marL="0">
              <a:buNone/>
            </a:pPr>
            <a:r>
              <a:rPr lang="en-US" sz="1300" b="1" dirty="0">
                <a:solidFill>
                  <a:schemeClr val="accent4"/>
                </a:solidFill>
              </a:rPr>
              <a:t>1 → N</a:t>
            </a:r>
            <a:endParaRPr lang="en-US" sz="1300" dirty="0"/>
          </a:p>
        </p:txBody>
      </p:sp>
      <p:sp>
        <p:nvSpPr>
          <p:cNvPr id="17" name="text-165"/>
          <p:cNvSpPr txBox="1"/>
          <p:nvPr/>
        </p:nvSpPr>
        <p:spPr>
          <a:xfrm>
            <a:off x="548640" y="4160520"/>
            <a:ext cx="11064240" cy="320040"/>
          </a:xfrm>
          <a:prstGeom prst="rect">
            <a:avLst/>
          </a:prstGeom>
          <a:noFill/>
          <a:ln/>
        </p:spPr>
        <p:txBody>
          <a:bodyPr wrap="square" lIns="0" tIns="0" rIns="0" bIns="0" rtlCol="0" anchor="t"/>
          <a:lstStyle/>
          <a:p>
            <a:pPr algn="l" indent="0" marL="0">
              <a:buNone/>
            </a:pPr>
            <a:r>
              <a:rPr lang="en-US" sz="1600" b="1" dirty="0">
                <a:solidFill>
                  <a:schemeClr val="tx2"/>
                </a:solidFill>
              </a:rPr>
              <a:t>How a request stays inside its own tenant (PostgreSQL row-level security)</a:t>
            </a:r>
            <a:endParaRPr lang="en-US" sz="1600" dirty="0"/>
          </a:p>
        </p:txBody>
      </p:sp>
      <p:sp>
        <p:nvSpPr>
          <p:cNvPr id="18" name="chain-1"/>
          <p:cNvSpPr/>
          <p:nvPr/>
        </p:nvSpPr>
        <p:spPr>
          <a:xfrm>
            <a:off x="548640" y="4572000"/>
            <a:ext cx="2560320" cy="914400"/>
          </a:xfrm>
          <a:prstGeom prst="roundRect">
            <a:avLst>
              <a:gd name="adj" fmla="val 10000"/>
            </a:avLst>
          </a:prstGeom>
          <a:solidFill>
            <a:srgbClr val="6B46C1">
              <a:alpha val="12000"/>
            </a:srgbClr>
          </a:solidFill>
          <a:ln/>
        </p:spPr>
      </p:sp>
      <p:sp>
        <p:nvSpPr>
          <p:cNvPr id="19" name="text-166"/>
          <p:cNvSpPr txBox="1"/>
          <p:nvPr/>
        </p:nvSpPr>
        <p:spPr>
          <a:xfrm>
            <a:off x="685800" y="4636008"/>
            <a:ext cx="2286000" cy="274320"/>
          </a:xfrm>
          <a:prstGeom prst="rect">
            <a:avLst/>
          </a:prstGeom>
          <a:noFill/>
          <a:ln/>
        </p:spPr>
        <p:txBody>
          <a:bodyPr wrap="square" lIns="0" tIns="0" rIns="0" bIns="0" rtlCol="0" anchor="t"/>
          <a:lstStyle/>
          <a:p>
            <a:pPr algn="l" indent="0" marL="0">
              <a:buNone/>
            </a:pPr>
            <a:r>
              <a:rPr lang="en-US" sz="1200" b="1" dirty="0">
                <a:solidFill>
                  <a:schemeClr val="accent4"/>
                </a:solidFill>
              </a:rPr>
              <a:t>1  Request</a:t>
            </a:r>
            <a:endParaRPr lang="en-US" sz="1200" dirty="0"/>
          </a:p>
        </p:txBody>
      </p:sp>
      <p:sp>
        <p:nvSpPr>
          <p:cNvPr id="20" name="text-167"/>
          <p:cNvSpPr txBox="1"/>
          <p:nvPr/>
        </p:nvSpPr>
        <p:spPr>
          <a:xfrm>
            <a:off x="685800" y="4919472"/>
            <a:ext cx="2331720" cy="548640"/>
          </a:xfrm>
          <a:prstGeom prst="rect">
            <a:avLst/>
          </a:prstGeom>
          <a:noFill/>
          <a:ln/>
        </p:spPr>
        <p:txBody>
          <a:bodyPr wrap="square" lIns="0" tIns="0" rIns="0" bIns="0" rtlCol="0" anchor="t"/>
          <a:lstStyle/>
          <a:p>
            <a:pPr algn="l" indent="0" marL="0">
              <a:buNone/>
            </a:pPr>
            <a:r>
              <a:rPr lang="en-US" sz="1200" dirty="0">
                <a:solidFill>
                  <a:schemeClr val="tx1"/>
                </a:solidFill>
              </a:rPr>
              <a:t>User profile supplies organization_id</a:t>
            </a:r>
            <a:endParaRPr lang="en-US" sz="1200" dirty="0"/>
          </a:p>
        </p:txBody>
      </p:sp>
      <p:sp>
        <p:nvSpPr>
          <p:cNvPr id="21" name="arrow-168"/>
          <p:cNvSpPr/>
          <p:nvPr/>
        </p:nvSpPr>
        <p:spPr>
          <a:xfrm>
            <a:off x="3108960" y="5029200"/>
            <a:ext cx="274320" cy="0"/>
          </a:xfrm>
          <a:prstGeom prst="line">
            <a:avLst/>
          </a:prstGeom>
          <a:noFill/>
          <a:ln w="22225">
            <a:solidFill>
              <a:schemeClr val="accent6"/>
            </a:solidFill>
            <a:prstDash val="solid"/>
            <a:tailEnd type="triangle"/>
          </a:ln>
        </p:spPr>
      </p:sp>
      <p:sp>
        <p:nvSpPr>
          <p:cNvPr id="22" name="chain-2"/>
          <p:cNvSpPr/>
          <p:nvPr/>
        </p:nvSpPr>
        <p:spPr>
          <a:xfrm>
            <a:off x="3383280" y="4572000"/>
            <a:ext cx="2560320" cy="914400"/>
          </a:xfrm>
          <a:prstGeom prst="roundRect">
            <a:avLst>
              <a:gd name="adj" fmla="val 10000"/>
            </a:avLst>
          </a:prstGeom>
          <a:solidFill>
            <a:srgbClr val="6B46C1">
              <a:alpha val="12000"/>
            </a:srgbClr>
          </a:solidFill>
          <a:ln/>
        </p:spPr>
      </p:sp>
      <p:sp>
        <p:nvSpPr>
          <p:cNvPr id="23" name="text-169"/>
          <p:cNvSpPr txBox="1"/>
          <p:nvPr/>
        </p:nvSpPr>
        <p:spPr>
          <a:xfrm>
            <a:off x="3520440" y="4636008"/>
            <a:ext cx="2286000" cy="274320"/>
          </a:xfrm>
          <a:prstGeom prst="rect">
            <a:avLst/>
          </a:prstGeom>
          <a:noFill/>
          <a:ln/>
        </p:spPr>
        <p:txBody>
          <a:bodyPr wrap="square" lIns="0" tIns="0" rIns="0" bIns="0" rtlCol="0" anchor="t"/>
          <a:lstStyle/>
          <a:p>
            <a:pPr algn="l" indent="0" marL="0">
              <a:buNone/>
            </a:pPr>
            <a:r>
              <a:rPr lang="en-US" sz="1200" b="1" dirty="0">
                <a:solidFill>
                  <a:schemeClr val="accent4"/>
                </a:solidFill>
              </a:rPr>
              <a:t>2  Middleware</a:t>
            </a:r>
            <a:endParaRPr lang="en-US" sz="1200" dirty="0"/>
          </a:p>
        </p:txBody>
      </p:sp>
      <p:sp>
        <p:nvSpPr>
          <p:cNvPr id="24" name="text-170"/>
          <p:cNvSpPr txBox="1"/>
          <p:nvPr/>
        </p:nvSpPr>
        <p:spPr>
          <a:xfrm>
            <a:off x="3520440" y="4919472"/>
            <a:ext cx="2331720" cy="548640"/>
          </a:xfrm>
          <a:prstGeom prst="rect">
            <a:avLst/>
          </a:prstGeom>
          <a:noFill/>
          <a:ln/>
        </p:spPr>
        <p:txBody>
          <a:bodyPr wrap="square" lIns="0" tIns="0" rIns="0" bIns="0" rtlCol="0" anchor="t"/>
          <a:lstStyle/>
          <a:p>
            <a:pPr algn="l" indent="0" marL="0">
              <a:buNone/>
            </a:pPr>
            <a:r>
              <a:rPr lang="en-US" sz="1200" dirty="0">
                <a:solidFill>
                  <a:schemeClr val="tx1"/>
                </a:solidFill>
              </a:rPr>
              <a:t>SET LOCAL app.current_organization_id</a:t>
            </a:r>
            <a:endParaRPr lang="en-US" sz="1200" dirty="0"/>
          </a:p>
        </p:txBody>
      </p:sp>
      <p:sp>
        <p:nvSpPr>
          <p:cNvPr id="25" name="arrow-171"/>
          <p:cNvSpPr/>
          <p:nvPr/>
        </p:nvSpPr>
        <p:spPr>
          <a:xfrm>
            <a:off x="5943600" y="5029200"/>
            <a:ext cx="274320" cy="0"/>
          </a:xfrm>
          <a:prstGeom prst="line">
            <a:avLst/>
          </a:prstGeom>
          <a:noFill/>
          <a:ln w="22225">
            <a:solidFill>
              <a:schemeClr val="accent6"/>
            </a:solidFill>
            <a:prstDash val="solid"/>
            <a:tailEnd type="triangle"/>
          </a:ln>
        </p:spPr>
      </p:sp>
      <p:sp>
        <p:nvSpPr>
          <p:cNvPr id="26" name="chain-3"/>
          <p:cNvSpPr/>
          <p:nvPr/>
        </p:nvSpPr>
        <p:spPr>
          <a:xfrm>
            <a:off x="6217920" y="4572000"/>
            <a:ext cx="2560320" cy="914400"/>
          </a:xfrm>
          <a:prstGeom prst="roundRect">
            <a:avLst>
              <a:gd name="adj" fmla="val 10000"/>
            </a:avLst>
          </a:prstGeom>
          <a:solidFill>
            <a:srgbClr val="6B46C1">
              <a:alpha val="12000"/>
            </a:srgbClr>
          </a:solidFill>
          <a:ln/>
        </p:spPr>
      </p:sp>
      <p:sp>
        <p:nvSpPr>
          <p:cNvPr id="27" name="text-172"/>
          <p:cNvSpPr txBox="1"/>
          <p:nvPr/>
        </p:nvSpPr>
        <p:spPr>
          <a:xfrm>
            <a:off x="6355080" y="4636008"/>
            <a:ext cx="2286000" cy="274320"/>
          </a:xfrm>
          <a:prstGeom prst="rect">
            <a:avLst/>
          </a:prstGeom>
          <a:noFill/>
          <a:ln/>
        </p:spPr>
        <p:txBody>
          <a:bodyPr wrap="square" lIns="0" tIns="0" rIns="0" bIns="0" rtlCol="0" anchor="t"/>
          <a:lstStyle/>
          <a:p>
            <a:pPr algn="l" indent="0" marL="0">
              <a:buNone/>
            </a:pPr>
            <a:r>
              <a:rPr lang="en-US" sz="1200" b="1" dirty="0">
                <a:solidFill>
                  <a:schemeClr val="accent4"/>
                </a:solidFill>
              </a:rPr>
              <a:t>3  RLS policy</a:t>
            </a:r>
            <a:endParaRPr lang="en-US" sz="1200" dirty="0"/>
          </a:p>
        </p:txBody>
      </p:sp>
      <p:sp>
        <p:nvSpPr>
          <p:cNvPr id="28" name="text-173"/>
          <p:cNvSpPr txBox="1"/>
          <p:nvPr/>
        </p:nvSpPr>
        <p:spPr>
          <a:xfrm>
            <a:off x="6355080" y="4919472"/>
            <a:ext cx="2331720" cy="548640"/>
          </a:xfrm>
          <a:prstGeom prst="rect">
            <a:avLst/>
          </a:prstGeom>
          <a:noFill/>
          <a:ln/>
        </p:spPr>
        <p:txBody>
          <a:bodyPr wrap="square" lIns="0" tIns="0" rIns="0" bIns="0" rtlCol="0" anchor="t"/>
          <a:lstStyle/>
          <a:p>
            <a:pPr algn="l" indent="0" marL="0">
              <a:buNone/>
            </a:pPr>
            <a:r>
              <a:rPr lang="en-US" sz="1200" dirty="0">
                <a:solidFill>
                  <a:schemeClr val="tx1"/>
                </a:solidFill>
              </a:rPr>
              <a:t>Rows visible only where organization_id matches</a:t>
            </a:r>
            <a:endParaRPr lang="en-US" sz="1200" dirty="0"/>
          </a:p>
        </p:txBody>
      </p:sp>
      <p:sp>
        <p:nvSpPr>
          <p:cNvPr id="29" name="arrow-174"/>
          <p:cNvSpPr/>
          <p:nvPr/>
        </p:nvSpPr>
        <p:spPr>
          <a:xfrm>
            <a:off x="8778240" y="5029200"/>
            <a:ext cx="274320" cy="0"/>
          </a:xfrm>
          <a:prstGeom prst="line">
            <a:avLst/>
          </a:prstGeom>
          <a:noFill/>
          <a:ln w="22225">
            <a:solidFill>
              <a:schemeClr val="accent6"/>
            </a:solidFill>
            <a:prstDash val="solid"/>
            <a:tailEnd type="triangle"/>
          </a:ln>
        </p:spPr>
      </p:sp>
      <p:sp>
        <p:nvSpPr>
          <p:cNvPr id="30" name="chain-4"/>
          <p:cNvSpPr/>
          <p:nvPr/>
        </p:nvSpPr>
        <p:spPr>
          <a:xfrm>
            <a:off x="9052560" y="4572000"/>
            <a:ext cx="2560320" cy="914400"/>
          </a:xfrm>
          <a:prstGeom prst="roundRect">
            <a:avLst>
              <a:gd name="adj" fmla="val 10000"/>
            </a:avLst>
          </a:prstGeom>
          <a:solidFill>
            <a:srgbClr val="6B46C1">
              <a:alpha val="12000"/>
            </a:srgbClr>
          </a:solidFill>
          <a:ln/>
        </p:spPr>
      </p:sp>
      <p:sp>
        <p:nvSpPr>
          <p:cNvPr id="31" name="text-175"/>
          <p:cNvSpPr txBox="1"/>
          <p:nvPr/>
        </p:nvSpPr>
        <p:spPr>
          <a:xfrm>
            <a:off x="9189720" y="4636008"/>
            <a:ext cx="2286000" cy="274320"/>
          </a:xfrm>
          <a:prstGeom prst="rect">
            <a:avLst/>
          </a:prstGeom>
          <a:noFill/>
          <a:ln/>
        </p:spPr>
        <p:txBody>
          <a:bodyPr wrap="square" lIns="0" tIns="0" rIns="0" bIns="0" rtlCol="0" anchor="t"/>
          <a:lstStyle/>
          <a:p>
            <a:pPr algn="l" indent="0" marL="0">
              <a:buNone/>
            </a:pPr>
            <a:r>
              <a:rPr lang="en-US" sz="1200" b="1" dirty="0">
                <a:solidFill>
                  <a:schemeClr val="accent4"/>
                </a:solidFill>
              </a:rPr>
              <a:t>4  Teardown</a:t>
            </a:r>
            <a:endParaRPr lang="en-US" sz="1200" dirty="0"/>
          </a:p>
        </p:txBody>
      </p:sp>
      <p:sp>
        <p:nvSpPr>
          <p:cNvPr id="32" name="text-176"/>
          <p:cNvSpPr txBox="1"/>
          <p:nvPr/>
        </p:nvSpPr>
        <p:spPr>
          <a:xfrm>
            <a:off x="9189720" y="4919472"/>
            <a:ext cx="2331720" cy="548640"/>
          </a:xfrm>
          <a:prstGeom prst="rect">
            <a:avLst/>
          </a:prstGeom>
          <a:noFill/>
          <a:ln/>
        </p:spPr>
        <p:txBody>
          <a:bodyPr wrap="square" lIns="0" tIns="0" rIns="0" bIns="0" rtlCol="0" anchor="t"/>
          <a:lstStyle/>
          <a:p>
            <a:pPr algn="l" indent="0" marL="0">
              <a:buNone/>
            </a:pPr>
            <a:r>
              <a:rPr lang="en-US" sz="1200" dirty="0">
                <a:solidFill>
                  <a:schemeClr val="tx1"/>
                </a:solidFill>
              </a:rPr>
              <a:t>Connection reset, no cross-tenant leakage</a:t>
            </a:r>
            <a:endParaRPr lang="en-US" sz="1200" dirty="0"/>
          </a:p>
        </p:txBody>
      </p:sp>
      <p:sp>
        <p:nvSpPr>
          <p:cNvPr id="33" name="rule-1"/>
          <p:cNvSpPr/>
          <p:nvPr/>
        </p:nvSpPr>
        <p:spPr>
          <a:xfrm>
            <a:off x="548640" y="5669280"/>
            <a:ext cx="3566160" cy="594360"/>
          </a:xfrm>
          <a:prstGeom prst="roundRect">
            <a:avLst>
              <a:gd name="adj" fmla="val 15385"/>
            </a:avLst>
          </a:prstGeom>
          <a:solidFill>
            <a:srgbClr val="C0392B">
              <a:alpha val="12000"/>
            </a:srgbClr>
          </a:solidFill>
          <a:ln/>
        </p:spPr>
      </p:sp>
      <p:sp>
        <p:nvSpPr>
          <p:cNvPr id="34" name="rule-text-177"/>
          <p:cNvSpPr txBox="1"/>
          <p:nvPr/>
        </p:nvSpPr>
        <p:spPr>
          <a:xfrm>
            <a:off x="731520" y="5669280"/>
            <a:ext cx="3246120" cy="594360"/>
          </a:xfrm>
          <a:prstGeom prst="rect">
            <a:avLst/>
          </a:prstGeom>
          <a:noFill/>
          <a:ln/>
        </p:spPr>
        <p:txBody>
          <a:bodyPr wrap="square" lIns="0" tIns="0" rIns="0" bIns="0" rtlCol="0" anchor="ctr"/>
          <a:lstStyle/>
          <a:p>
            <a:pPr indent="0" marL="0">
              <a:buNone/>
            </a:pPr>
            <a:r>
              <a:rPr lang="en-US" sz="1200" b="1" dirty="0">
                <a:solidFill>
                  <a:schemeClr val="tx1"/>
                </a:solidFill>
              </a:rPr>
              <a:t>Fail closed: </a:t>
            </a:r>
            <a:pPr indent="0" marL="0">
              <a:buNone/>
            </a:pPr>
            <a:r>
              <a:rPr lang="en-US" sz="1200" dirty="0">
                <a:solidFill>
                  <a:schemeClr val="tx1"/>
                </a:solidFill>
              </a:rPr>
              <a:t>Missing tenant context means no access.</a:t>
            </a:r>
            <a:endParaRPr lang="en-US" sz="1200" dirty="0"/>
          </a:p>
        </p:txBody>
      </p:sp>
      <p:sp>
        <p:nvSpPr>
          <p:cNvPr id="35" name="rule-2"/>
          <p:cNvSpPr/>
          <p:nvPr/>
        </p:nvSpPr>
        <p:spPr>
          <a:xfrm>
            <a:off x="4297680" y="5669280"/>
            <a:ext cx="3566160" cy="594360"/>
          </a:xfrm>
          <a:prstGeom prst="roundRect">
            <a:avLst>
              <a:gd name="adj" fmla="val 15385"/>
            </a:avLst>
          </a:prstGeom>
          <a:solidFill>
            <a:srgbClr val="5F6B7A">
              <a:alpha val="12000"/>
            </a:srgbClr>
          </a:solidFill>
          <a:ln/>
        </p:spPr>
      </p:sp>
      <p:sp>
        <p:nvSpPr>
          <p:cNvPr id="36" name="rule-text-178"/>
          <p:cNvSpPr txBox="1"/>
          <p:nvPr/>
        </p:nvSpPr>
        <p:spPr>
          <a:xfrm>
            <a:off x="4480560" y="5669280"/>
            <a:ext cx="3246120" cy="594360"/>
          </a:xfrm>
          <a:prstGeom prst="rect">
            <a:avLst/>
          </a:prstGeom>
          <a:noFill/>
          <a:ln/>
        </p:spPr>
        <p:txBody>
          <a:bodyPr wrap="square" lIns="0" tIns="0" rIns="0" bIns="0" rtlCol="0" anchor="ctr"/>
          <a:lstStyle/>
          <a:p>
            <a:pPr indent="0" marL="0">
              <a:buNone/>
            </a:pPr>
            <a:r>
              <a:rPr lang="en-US" sz="1200" b="1" dirty="0">
                <a:solidFill>
                  <a:schemeClr val="tx1"/>
                </a:solidFill>
              </a:rPr>
              <a:t>Celery tasks: </a:t>
            </a:r>
            <a:pPr indent="0" marL="0">
              <a:buNone/>
            </a:pPr>
            <a:r>
              <a:rPr lang="en-US" sz="1200" dirty="0">
                <a:solidFill>
                  <a:schemeClr val="tx1"/>
                </a:solidFill>
              </a:rPr>
              <a:t>Resolve tenant context explicitly.</a:t>
            </a:r>
            <a:endParaRPr lang="en-US" sz="1200" dirty="0"/>
          </a:p>
        </p:txBody>
      </p:sp>
      <p:sp>
        <p:nvSpPr>
          <p:cNvPr id="37" name="rule-3"/>
          <p:cNvSpPr/>
          <p:nvPr/>
        </p:nvSpPr>
        <p:spPr>
          <a:xfrm>
            <a:off x="8046720" y="5669280"/>
            <a:ext cx="3566160" cy="594360"/>
          </a:xfrm>
          <a:prstGeom prst="roundRect">
            <a:avLst>
              <a:gd name="adj" fmla="val 15385"/>
            </a:avLst>
          </a:prstGeom>
          <a:solidFill>
            <a:srgbClr val="2F855A">
              <a:alpha val="12000"/>
            </a:srgbClr>
          </a:solidFill>
          <a:ln/>
        </p:spPr>
      </p:sp>
      <p:sp>
        <p:nvSpPr>
          <p:cNvPr id="38" name="rule-text-179"/>
          <p:cNvSpPr txBox="1"/>
          <p:nvPr/>
        </p:nvSpPr>
        <p:spPr>
          <a:xfrm>
            <a:off x="8229600" y="5669280"/>
            <a:ext cx="3246120" cy="594360"/>
          </a:xfrm>
          <a:prstGeom prst="rect">
            <a:avLst/>
          </a:prstGeom>
          <a:noFill/>
          <a:ln/>
        </p:spPr>
        <p:txBody>
          <a:bodyPr wrap="square" lIns="0" tIns="0" rIns="0" bIns="0" rtlCol="0" anchor="ctr"/>
          <a:lstStyle/>
          <a:p>
            <a:pPr indent="0" marL="0">
              <a:buNone/>
            </a:pPr>
            <a:r>
              <a:rPr lang="en-US" sz="1200" b="1" dirty="0">
                <a:solidFill>
                  <a:schemeClr val="tx1"/>
                </a:solidFill>
              </a:rPr>
              <a:t>Defence in depth: </a:t>
            </a:r>
            <a:pPr indent="0" marL="0">
              <a:buNone/>
            </a:pPr>
            <a:r>
              <a:rPr lang="en-US" sz="1200" dirty="0">
                <a:solidFill>
                  <a:schemeClr val="tx1"/>
                </a:solidFill>
              </a:rPr>
              <a:t>RLS in the database plus Django checks.</a:t>
            </a:r>
            <a:endParaRPr lang="en-US" sz="12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Lifecycles: organization, license and payment are separate</a:t>
            </a:r>
            <a:endParaRPr lang="en-US" sz="3000" dirty="0"/>
          </a:p>
        </p:txBody>
      </p:sp>
      <p:sp>
        <p:nvSpPr>
          <p:cNvPr id="3" name="state-pending"/>
          <p:cNvSpPr/>
          <p:nvPr/>
        </p:nvSpPr>
        <p:spPr>
          <a:xfrm>
            <a:off x="548640" y="3108960"/>
            <a:ext cx="1463040" cy="640080"/>
          </a:xfrm>
          <a:prstGeom prst="roundRect">
            <a:avLst>
              <a:gd name="adj" fmla="val 50000"/>
            </a:avLst>
          </a:prstGeom>
          <a:solidFill>
            <a:srgbClr val="C0392B">
              <a:alpha val="12000"/>
            </a:srgbClr>
          </a:solidFill>
          <a:ln w="25400">
            <a:solidFill>
              <a:schemeClr val="accent5"/>
            </a:solidFill>
            <a:prstDash val="solid"/>
          </a:ln>
        </p:spPr>
      </p:sp>
      <p:sp>
        <p:nvSpPr>
          <p:cNvPr id="4" name="text-180"/>
          <p:cNvSpPr txBox="1"/>
          <p:nvPr/>
        </p:nvSpPr>
        <p:spPr>
          <a:xfrm>
            <a:off x="548640" y="3108960"/>
            <a:ext cx="1463040" cy="640080"/>
          </a:xfrm>
          <a:prstGeom prst="rect">
            <a:avLst/>
          </a:prstGeom>
          <a:noFill/>
          <a:ln/>
        </p:spPr>
        <p:txBody>
          <a:bodyPr wrap="square" lIns="0" tIns="0" rIns="0" bIns="0" rtlCol="0" anchor="ctr"/>
          <a:lstStyle/>
          <a:p>
            <a:pPr algn="ctr" indent="0" marL="0">
              <a:buNone/>
            </a:pPr>
            <a:r>
              <a:rPr lang="en-US" sz="1500" b="1" dirty="0">
                <a:solidFill>
                  <a:schemeClr val="tx2"/>
                </a:solidFill>
              </a:rPr>
              <a:t>Pending</a:t>
            </a:r>
            <a:endParaRPr lang="en-US" sz="1500" dirty="0"/>
          </a:p>
        </p:txBody>
      </p:sp>
      <p:sp>
        <p:nvSpPr>
          <p:cNvPr id="5" name="state-active"/>
          <p:cNvSpPr/>
          <p:nvPr/>
        </p:nvSpPr>
        <p:spPr>
          <a:xfrm>
            <a:off x="3566160" y="3108960"/>
            <a:ext cx="1463040" cy="640080"/>
          </a:xfrm>
          <a:prstGeom prst="roundRect">
            <a:avLst>
              <a:gd name="adj" fmla="val 50000"/>
            </a:avLst>
          </a:prstGeom>
          <a:solidFill>
            <a:srgbClr val="2F855A">
              <a:alpha val="12000"/>
            </a:srgbClr>
          </a:solidFill>
          <a:ln w="31750">
            <a:solidFill>
              <a:schemeClr val="accent1"/>
            </a:solidFill>
            <a:prstDash val="solid"/>
          </a:ln>
        </p:spPr>
      </p:sp>
      <p:sp>
        <p:nvSpPr>
          <p:cNvPr id="6" name="text-181"/>
          <p:cNvSpPr txBox="1"/>
          <p:nvPr/>
        </p:nvSpPr>
        <p:spPr>
          <a:xfrm>
            <a:off x="3566160" y="3108960"/>
            <a:ext cx="1463040" cy="640080"/>
          </a:xfrm>
          <a:prstGeom prst="rect">
            <a:avLst/>
          </a:prstGeom>
          <a:noFill/>
          <a:ln/>
        </p:spPr>
        <p:txBody>
          <a:bodyPr wrap="square" lIns="0" tIns="0" rIns="0" bIns="0" rtlCol="0" anchor="ctr"/>
          <a:lstStyle/>
          <a:p>
            <a:pPr algn="ctr" indent="0" marL="0">
              <a:buNone/>
            </a:pPr>
            <a:r>
              <a:rPr lang="en-US" sz="1500" b="1" dirty="0">
                <a:solidFill>
                  <a:schemeClr val="tx2"/>
                </a:solidFill>
              </a:rPr>
              <a:t>Active</a:t>
            </a:r>
            <a:endParaRPr lang="en-US" sz="1500" dirty="0"/>
          </a:p>
        </p:txBody>
      </p:sp>
      <p:sp>
        <p:nvSpPr>
          <p:cNvPr id="7" name="state-suspended"/>
          <p:cNvSpPr/>
          <p:nvPr/>
        </p:nvSpPr>
        <p:spPr>
          <a:xfrm>
            <a:off x="3566160" y="5120640"/>
            <a:ext cx="1463040" cy="640080"/>
          </a:xfrm>
          <a:prstGeom prst="roundRect">
            <a:avLst>
              <a:gd name="adj" fmla="val 50000"/>
            </a:avLst>
          </a:prstGeom>
          <a:solidFill>
            <a:srgbClr val="C0392B">
              <a:alpha val="12000"/>
            </a:srgbClr>
          </a:solidFill>
          <a:ln w="25400">
            <a:solidFill>
              <a:schemeClr val="accent5"/>
            </a:solidFill>
            <a:prstDash val="solid"/>
          </a:ln>
        </p:spPr>
      </p:sp>
      <p:sp>
        <p:nvSpPr>
          <p:cNvPr id="8" name="text-182"/>
          <p:cNvSpPr txBox="1"/>
          <p:nvPr/>
        </p:nvSpPr>
        <p:spPr>
          <a:xfrm>
            <a:off x="3566160" y="5120640"/>
            <a:ext cx="1463040" cy="640080"/>
          </a:xfrm>
          <a:prstGeom prst="rect">
            <a:avLst/>
          </a:prstGeom>
          <a:noFill/>
          <a:ln/>
        </p:spPr>
        <p:txBody>
          <a:bodyPr wrap="square" lIns="0" tIns="0" rIns="0" bIns="0" rtlCol="0" anchor="ctr"/>
          <a:lstStyle/>
          <a:p>
            <a:pPr algn="ctr" indent="0" marL="0">
              <a:buNone/>
            </a:pPr>
            <a:r>
              <a:rPr lang="en-US" sz="1500" b="1" dirty="0">
                <a:solidFill>
                  <a:schemeClr val="tx2"/>
                </a:solidFill>
              </a:rPr>
              <a:t>Suspended</a:t>
            </a:r>
            <a:endParaRPr lang="en-US" sz="1500" dirty="0"/>
          </a:p>
        </p:txBody>
      </p:sp>
      <p:sp>
        <p:nvSpPr>
          <p:cNvPr id="9" name="state-expired"/>
          <p:cNvSpPr/>
          <p:nvPr/>
        </p:nvSpPr>
        <p:spPr>
          <a:xfrm>
            <a:off x="6400800" y="1554480"/>
            <a:ext cx="1463040" cy="640080"/>
          </a:xfrm>
          <a:prstGeom prst="roundRect">
            <a:avLst>
              <a:gd name="adj" fmla="val 50000"/>
            </a:avLst>
          </a:prstGeom>
          <a:solidFill>
            <a:srgbClr val="5F6B7A">
              <a:alpha val="12000"/>
            </a:srgbClr>
          </a:solidFill>
          <a:ln w="25400">
            <a:solidFill>
              <a:schemeClr val="accent6"/>
            </a:solidFill>
            <a:prstDash val="dash"/>
          </a:ln>
        </p:spPr>
      </p:sp>
      <p:sp>
        <p:nvSpPr>
          <p:cNvPr id="10" name="text-183"/>
          <p:cNvSpPr txBox="1"/>
          <p:nvPr/>
        </p:nvSpPr>
        <p:spPr>
          <a:xfrm>
            <a:off x="6400800" y="1554480"/>
            <a:ext cx="1463040" cy="640080"/>
          </a:xfrm>
          <a:prstGeom prst="rect">
            <a:avLst/>
          </a:prstGeom>
          <a:noFill/>
          <a:ln/>
        </p:spPr>
        <p:txBody>
          <a:bodyPr wrap="square" lIns="0" tIns="0" rIns="0" bIns="0" rtlCol="0" anchor="ctr"/>
          <a:lstStyle/>
          <a:p>
            <a:pPr algn="ctr" indent="0" marL="0">
              <a:buNone/>
            </a:pPr>
            <a:r>
              <a:rPr lang="en-US" sz="1500" b="1" dirty="0">
                <a:solidFill>
                  <a:schemeClr val="tx2"/>
                </a:solidFill>
              </a:rPr>
              <a:t>Expired</a:t>
            </a:r>
            <a:endParaRPr lang="en-US" sz="1500" dirty="0"/>
          </a:p>
        </p:txBody>
      </p:sp>
      <p:sp>
        <p:nvSpPr>
          <p:cNvPr id="11" name="state-cancelled"/>
          <p:cNvSpPr/>
          <p:nvPr/>
        </p:nvSpPr>
        <p:spPr>
          <a:xfrm>
            <a:off x="6400800" y="5120640"/>
            <a:ext cx="1463040" cy="640080"/>
          </a:xfrm>
          <a:prstGeom prst="roundRect">
            <a:avLst>
              <a:gd name="adj" fmla="val 50000"/>
            </a:avLst>
          </a:prstGeom>
          <a:solidFill>
            <a:srgbClr val="5F6B7A">
              <a:alpha val="12000"/>
            </a:srgbClr>
          </a:solidFill>
          <a:ln w="25400">
            <a:solidFill>
              <a:schemeClr val="accent6"/>
            </a:solidFill>
            <a:prstDash val="dash"/>
          </a:ln>
        </p:spPr>
      </p:sp>
      <p:sp>
        <p:nvSpPr>
          <p:cNvPr id="12" name="text-184"/>
          <p:cNvSpPr txBox="1"/>
          <p:nvPr/>
        </p:nvSpPr>
        <p:spPr>
          <a:xfrm>
            <a:off x="6400800" y="5120640"/>
            <a:ext cx="1463040" cy="640080"/>
          </a:xfrm>
          <a:prstGeom prst="rect">
            <a:avLst/>
          </a:prstGeom>
          <a:noFill/>
          <a:ln/>
        </p:spPr>
        <p:txBody>
          <a:bodyPr wrap="square" lIns="0" tIns="0" rIns="0" bIns="0" rtlCol="0" anchor="ctr"/>
          <a:lstStyle/>
          <a:p>
            <a:pPr algn="ctr" indent="0" marL="0">
              <a:buNone/>
            </a:pPr>
            <a:r>
              <a:rPr lang="en-US" sz="1500" b="1" dirty="0">
                <a:solidFill>
                  <a:schemeClr val="tx2"/>
                </a:solidFill>
              </a:rPr>
              <a:t>Cancelled</a:t>
            </a:r>
            <a:endParaRPr lang="en-US" sz="1500" dirty="0"/>
          </a:p>
        </p:txBody>
      </p:sp>
      <p:sp>
        <p:nvSpPr>
          <p:cNvPr id="13" name="arrow-185"/>
          <p:cNvSpPr/>
          <p:nvPr/>
        </p:nvSpPr>
        <p:spPr>
          <a:xfrm>
            <a:off x="2011680" y="3429000"/>
            <a:ext cx="1554480" cy="0"/>
          </a:xfrm>
          <a:prstGeom prst="line">
            <a:avLst/>
          </a:prstGeom>
          <a:noFill/>
          <a:ln w="22225">
            <a:solidFill>
              <a:schemeClr val="accent6"/>
            </a:solidFill>
            <a:prstDash val="solid"/>
            <a:tailEnd type="triangle"/>
          </a:ln>
        </p:spPr>
      </p:sp>
      <p:sp>
        <p:nvSpPr>
          <p:cNvPr id="14" name="text-186"/>
          <p:cNvSpPr txBox="1"/>
          <p:nvPr/>
        </p:nvSpPr>
        <p:spPr>
          <a:xfrm>
            <a:off x="2011680" y="3108960"/>
            <a:ext cx="1554480" cy="274320"/>
          </a:xfrm>
          <a:prstGeom prst="rect">
            <a:avLst/>
          </a:prstGeom>
          <a:noFill/>
          <a:ln/>
        </p:spPr>
        <p:txBody>
          <a:bodyPr wrap="square" lIns="0" tIns="0" rIns="0" bIns="0" rtlCol="0" anchor="t"/>
          <a:lstStyle/>
          <a:p>
            <a:pPr algn="ctr" indent="0" marL="0">
              <a:buNone/>
            </a:pPr>
            <a:r>
              <a:rPr lang="en-US" sz="1100" dirty="0">
                <a:solidFill>
                  <a:schemeClr val="accent6"/>
                </a:solidFill>
              </a:rPr>
              <a:t>enrollment approved</a:t>
            </a:r>
            <a:endParaRPr lang="en-US" sz="1100" dirty="0"/>
          </a:p>
        </p:txBody>
      </p:sp>
      <p:sp>
        <p:nvSpPr>
          <p:cNvPr id="15" name="arrow-187"/>
          <p:cNvSpPr/>
          <p:nvPr/>
        </p:nvSpPr>
        <p:spPr>
          <a:xfrm>
            <a:off x="1280160" y="3749040"/>
            <a:ext cx="0" cy="1691640"/>
          </a:xfrm>
          <a:prstGeom prst="line">
            <a:avLst/>
          </a:prstGeom>
          <a:noFill/>
          <a:ln w="22225">
            <a:solidFill>
              <a:schemeClr val="accent6"/>
            </a:solidFill>
            <a:prstDash val="solid"/>
          </a:ln>
        </p:spPr>
      </p:sp>
      <p:sp>
        <p:nvSpPr>
          <p:cNvPr id="16" name="arrow-188"/>
          <p:cNvSpPr/>
          <p:nvPr/>
        </p:nvSpPr>
        <p:spPr>
          <a:xfrm>
            <a:off x="1280160" y="5440680"/>
            <a:ext cx="2286000" cy="0"/>
          </a:xfrm>
          <a:prstGeom prst="line">
            <a:avLst/>
          </a:prstGeom>
          <a:noFill/>
          <a:ln w="22225">
            <a:solidFill>
              <a:schemeClr val="accent6"/>
            </a:solidFill>
            <a:prstDash val="solid"/>
            <a:tailEnd type="triangle"/>
          </a:ln>
        </p:spPr>
      </p:sp>
      <p:sp>
        <p:nvSpPr>
          <p:cNvPr id="17" name="text-189"/>
          <p:cNvSpPr txBox="1"/>
          <p:nvPr/>
        </p:nvSpPr>
        <p:spPr>
          <a:xfrm>
            <a:off x="1371600" y="4480560"/>
            <a:ext cx="1554480" cy="274320"/>
          </a:xfrm>
          <a:prstGeom prst="rect">
            <a:avLst/>
          </a:prstGeom>
          <a:noFill/>
          <a:ln/>
        </p:spPr>
        <p:txBody>
          <a:bodyPr wrap="square" lIns="0" tIns="0" rIns="0" bIns="0" rtlCol="0" anchor="t"/>
          <a:lstStyle/>
          <a:p>
            <a:pPr algn="l" indent="0" marL="0">
              <a:buNone/>
            </a:pPr>
            <a:r>
              <a:rPr lang="en-US" sz="1100" dirty="0">
                <a:solidFill>
                  <a:schemeClr val="accent6"/>
                </a:solidFill>
              </a:rPr>
              <a:t>verification blocked</a:t>
            </a:r>
            <a:endParaRPr lang="en-US" sz="1100" dirty="0"/>
          </a:p>
        </p:txBody>
      </p:sp>
      <p:sp>
        <p:nvSpPr>
          <p:cNvPr id="18" name="arrow-190"/>
          <p:cNvSpPr/>
          <p:nvPr/>
        </p:nvSpPr>
        <p:spPr>
          <a:xfrm>
            <a:off x="4023360" y="3749040"/>
            <a:ext cx="0" cy="1371600"/>
          </a:xfrm>
          <a:prstGeom prst="line">
            <a:avLst/>
          </a:prstGeom>
          <a:noFill/>
          <a:ln w="22225">
            <a:solidFill>
              <a:schemeClr val="accent6"/>
            </a:solidFill>
            <a:prstDash val="solid"/>
            <a:tailEnd type="triangle"/>
          </a:ln>
        </p:spPr>
      </p:sp>
      <p:sp>
        <p:nvSpPr>
          <p:cNvPr id="19" name="text-191"/>
          <p:cNvSpPr txBox="1"/>
          <p:nvPr/>
        </p:nvSpPr>
        <p:spPr>
          <a:xfrm>
            <a:off x="2011680" y="4297680"/>
            <a:ext cx="1920240" cy="274320"/>
          </a:xfrm>
          <a:prstGeom prst="rect">
            <a:avLst/>
          </a:prstGeom>
          <a:noFill/>
          <a:ln/>
        </p:spPr>
        <p:txBody>
          <a:bodyPr wrap="square" lIns="0" tIns="0" rIns="0" bIns="0" rtlCol="0" anchor="t"/>
          <a:lstStyle/>
          <a:p>
            <a:pPr algn="r" indent="0" marL="0">
              <a:buNone/>
            </a:pPr>
            <a:r>
              <a:rPr lang="en-US" sz="1100" dirty="0">
                <a:solidFill>
                  <a:schemeClr val="accent6"/>
                </a:solidFill>
              </a:rPr>
              <a:t>policy / admin action</a:t>
            </a:r>
            <a:endParaRPr lang="en-US" sz="1100" dirty="0"/>
          </a:p>
        </p:txBody>
      </p:sp>
      <p:sp>
        <p:nvSpPr>
          <p:cNvPr id="20" name="arrow-192"/>
          <p:cNvSpPr/>
          <p:nvPr/>
        </p:nvSpPr>
        <p:spPr>
          <a:xfrm flipV="1">
            <a:off x="4572000" y="3749040"/>
            <a:ext cx="0" cy="1371600"/>
          </a:xfrm>
          <a:prstGeom prst="line">
            <a:avLst/>
          </a:prstGeom>
          <a:noFill/>
          <a:ln w="22225">
            <a:solidFill>
              <a:schemeClr val="accent6"/>
            </a:solidFill>
            <a:prstDash val="solid"/>
            <a:tailEnd type="triangle"/>
          </a:ln>
        </p:spPr>
      </p:sp>
      <p:sp>
        <p:nvSpPr>
          <p:cNvPr id="21" name="text-193"/>
          <p:cNvSpPr txBox="1"/>
          <p:nvPr/>
        </p:nvSpPr>
        <p:spPr>
          <a:xfrm>
            <a:off x="4663440" y="4297680"/>
            <a:ext cx="1097280" cy="274320"/>
          </a:xfrm>
          <a:prstGeom prst="rect">
            <a:avLst/>
          </a:prstGeom>
          <a:noFill/>
          <a:ln/>
        </p:spPr>
        <p:txBody>
          <a:bodyPr wrap="square" lIns="0" tIns="0" rIns="0" bIns="0" rtlCol="0" anchor="t"/>
          <a:lstStyle/>
          <a:p>
            <a:pPr algn="l" indent="0" marL="0">
              <a:buNone/>
            </a:pPr>
            <a:r>
              <a:rPr lang="en-US" sz="1100" dirty="0">
                <a:solidFill>
                  <a:schemeClr val="accent6"/>
                </a:solidFill>
              </a:rPr>
              <a:t>reinstated</a:t>
            </a:r>
            <a:endParaRPr lang="en-US" sz="1100" dirty="0"/>
          </a:p>
        </p:txBody>
      </p:sp>
      <p:sp>
        <p:nvSpPr>
          <p:cNvPr id="22" name="arrow-194"/>
          <p:cNvSpPr/>
          <p:nvPr/>
        </p:nvSpPr>
        <p:spPr>
          <a:xfrm>
            <a:off x="5029200" y="3246120"/>
            <a:ext cx="2103120" cy="0"/>
          </a:xfrm>
          <a:prstGeom prst="line">
            <a:avLst/>
          </a:prstGeom>
          <a:noFill/>
          <a:ln w="22225">
            <a:solidFill>
              <a:schemeClr val="accent6"/>
            </a:solidFill>
            <a:prstDash val="solid"/>
          </a:ln>
        </p:spPr>
      </p:sp>
      <p:sp>
        <p:nvSpPr>
          <p:cNvPr id="23" name="arrow-195"/>
          <p:cNvSpPr/>
          <p:nvPr/>
        </p:nvSpPr>
        <p:spPr>
          <a:xfrm flipV="1">
            <a:off x="7132320" y="2194560"/>
            <a:ext cx="0" cy="1051560"/>
          </a:xfrm>
          <a:prstGeom prst="line">
            <a:avLst/>
          </a:prstGeom>
          <a:noFill/>
          <a:ln w="22225">
            <a:solidFill>
              <a:schemeClr val="accent6"/>
            </a:solidFill>
            <a:prstDash val="solid"/>
            <a:tailEnd type="triangle"/>
          </a:ln>
        </p:spPr>
      </p:sp>
      <p:sp>
        <p:nvSpPr>
          <p:cNvPr id="24" name="text-196"/>
          <p:cNvSpPr txBox="1"/>
          <p:nvPr/>
        </p:nvSpPr>
        <p:spPr>
          <a:xfrm>
            <a:off x="5120640" y="2944368"/>
            <a:ext cx="1828800" cy="256032"/>
          </a:xfrm>
          <a:prstGeom prst="rect">
            <a:avLst/>
          </a:prstGeom>
          <a:noFill/>
          <a:ln/>
        </p:spPr>
        <p:txBody>
          <a:bodyPr wrap="square" lIns="0" tIns="0" rIns="0" bIns="0" rtlCol="0" anchor="t"/>
          <a:lstStyle/>
          <a:p>
            <a:pPr algn="l" indent="0" marL="0">
              <a:buNone/>
            </a:pPr>
            <a:r>
              <a:rPr lang="en-US" sz="1100" dirty="0">
                <a:solidFill>
                  <a:schemeClr val="accent6"/>
                </a:solidFill>
              </a:rPr>
              <a:t>subscription expired</a:t>
            </a:r>
            <a:endParaRPr lang="en-US" sz="1100" dirty="0"/>
          </a:p>
        </p:txBody>
      </p:sp>
      <p:sp>
        <p:nvSpPr>
          <p:cNvPr id="25" name="arrow-197"/>
          <p:cNvSpPr/>
          <p:nvPr/>
        </p:nvSpPr>
        <p:spPr>
          <a:xfrm flipH="1">
            <a:off x="4297680" y="1874520"/>
            <a:ext cx="2103120" cy="0"/>
          </a:xfrm>
          <a:prstGeom prst="line">
            <a:avLst/>
          </a:prstGeom>
          <a:noFill/>
          <a:ln w="22225">
            <a:solidFill>
              <a:schemeClr val="accent6"/>
            </a:solidFill>
            <a:prstDash val="solid"/>
          </a:ln>
        </p:spPr>
      </p:sp>
      <p:sp>
        <p:nvSpPr>
          <p:cNvPr id="26" name="arrow-198"/>
          <p:cNvSpPr/>
          <p:nvPr/>
        </p:nvSpPr>
        <p:spPr>
          <a:xfrm>
            <a:off x="4297680" y="1874520"/>
            <a:ext cx="0" cy="1234440"/>
          </a:xfrm>
          <a:prstGeom prst="line">
            <a:avLst/>
          </a:prstGeom>
          <a:noFill/>
          <a:ln w="22225">
            <a:solidFill>
              <a:schemeClr val="accent6"/>
            </a:solidFill>
            <a:prstDash val="solid"/>
            <a:tailEnd type="triangle"/>
          </a:ln>
        </p:spPr>
      </p:sp>
      <p:sp>
        <p:nvSpPr>
          <p:cNvPr id="27" name="text-199"/>
          <p:cNvSpPr txBox="1"/>
          <p:nvPr/>
        </p:nvSpPr>
        <p:spPr>
          <a:xfrm>
            <a:off x="4434840" y="1572768"/>
            <a:ext cx="1828800" cy="256032"/>
          </a:xfrm>
          <a:prstGeom prst="rect">
            <a:avLst/>
          </a:prstGeom>
          <a:noFill/>
          <a:ln/>
        </p:spPr>
        <p:txBody>
          <a:bodyPr wrap="square" lIns="0" tIns="0" rIns="0" bIns="0" rtlCol="0" anchor="t"/>
          <a:lstStyle/>
          <a:p>
            <a:pPr algn="l" indent="0" marL="0">
              <a:buNone/>
            </a:pPr>
            <a:r>
              <a:rPr lang="en-US" sz="1100" dirty="0">
                <a:solidFill>
                  <a:schemeClr val="accent6"/>
                </a:solidFill>
              </a:rPr>
              <a:t>renewal completed</a:t>
            </a:r>
            <a:endParaRPr lang="en-US" sz="1100" dirty="0"/>
          </a:p>
        </p:txBody>
      </p:sp>
      <p:sp>
        <p:nvSpPr>
          <p:cNvPr id="28" name="arrow-200"/>
          <p:cNvSpPr/>
          <p:nvPr/>
        </p:nvSpPr>
        <p:spPr>
          <a:xfrm>
            <a:off x="5029200" y="3611880"/>
            <a:ext cx="2377440" cy="0"/>
          </a:xfrm>
          <a:prstGeom prst="line">
            <a:avLst/>
          </a:prstGeom>
          <a:noFill/>
          <a:ln w="22225">
            <a:solidFill>
              <a:schemeClr val="accent6"/>
            </a:solidFill>
            <a:prstDash val="solid"/>
          </a:ln>
        </p:spPr>
      </p:sp>
      <p:sp>
        <p:nvSpPr>
          <p:cNvPr id="29" name="arrow-201"/>
          <p:cNvSpPr/>
          <p:nvPr/>
        </p:nvSpPr>
        <p:spPr>
          <a:xfrm>
            <a:off x="7406640" y="3611880"/>
            <a:ext cx="0" cy="1508760"/>
          </a:xfrm>
          <a:prstGeom prst="line">
            <a:avLst/>
          </a:prstGeom>
          <a:noFill/>
          <a:ln w="22225">
            <a:solidFill>
              <a:schemeClr val="accent6"/>
            </a:solidFill>
            <a:prstDash val="solid"/>
            <a:tailEnd type="triangle"/>
          </a:ln>
        </p:spPr>
      </p:sp>
      <p:sp>
        <p:nvSpPr>
          <p:cNvPr id="30" name="text-202"/>
          <p:cNvSpPr txBox="1"/>
          <p:nvPr/>
        </p:nvSpPr>
        <p:spPr>
          <a:xfrm>
            <a:off x="5120640" y="3657600"/>
            <a:ext cx="1371600" cy="256032"/>
          </a:xfrm>
          <a:prstGeom prst="rect">
            <a:avLst/>
          </a:prstGeom>
          <a:noFill/>
          <a:ln/>
        </p:spPr>
        <p:txBody>
          <a:bodyPr wrap="square" lIns="0" tIns="0" rIns="0" bIns="0" rtlCol="0" anchor="t"/>
          <a:lstStyle/>
          <a:p>
            <a:pPr algn="l" indent="0" marL="0">
              <a:buNone/>
            </a:pPr>
            <a:r>
              <a:rPr lang="en-US" sz="1100" dirty="0">
                <a:solidFill>
                  <a:schemeClr val="accent6"/>
                </a:solidFill>
              </a:rPr>
              <a:t>cancellation</a:t>
            </a:r>
            <a:endParaRPr lang="en-US" sz="1100" dirty="0"/>
          </a:p>
        </p:txBody>
      </p:sp>
      <p:sp>
        <p:nvSpPr>
          <p:cNvPr id="31" name="arrow-203"/>
          <p:cNvSpPr/>
          <p:nvPr/>
        </p:nvSpPr>
        <p:spPr>
          <a:xfrm>
            <a:off x="5029200" y="5440680"/>
            <a:ext cx="1371600" cy="0"/>
          </a:xfrm>
          <a:prstGeom prst="line">
            <a:avLst/>
          </a:prstGeom>
          <a:noFill/>
          <a:ln w="22225">
            <a:solidFill>
              <a:schemeClr val="accent6"/>
            </a:solidFill>
            <a:prstDash val="solid"/>
            <a:tailEnd type="triangle"/>
          </a:ln>
        </p:spPr>
      </p:sp>
      <p:sp>
        <p:nvSpPr>
          <p:cNvPr id="32" name="text-204"/>
          <p:cNvSpPr txBox="1"/>
          <p:nvPr/>
        </p:nvSpPr>
        <p:spPr>
          <a:xfrm>
            <a:off x="5120640" y="5138928"/>
            <a:ext cx="1188720" cy="256032"/>
          </a:xfrm>
          <a:prstGeom prst="rect">
            <a:avLst/>
          </a:prstGeom>
          <a:noFill/>
          <a:ln/>
        </p:spPr>
        <p:txBody>
          <a:bodyPr wrap="square" lIns="0" tIns="0" rIns="0" bIns="0" rtlCol="0" anchor="t"/>
          <a:lstStyle/>
          <a:p>
            <a:pPr algn="l" indent="0" marL="0">
              <a:buNone/>
            </a:pPr>
            <a:r>
              <a:rPr lang="en-US" sz="1100" dirty="0">
                <a:solidFill>
                  <a:schemeClr val="accent6"/>
                </a:solidFill>
              </a:rPr>
              <a:t>terminated</a:t>
            </a:r>
            <a:endParaRPr lang="en-US" sz="1100" dirty="0"/>
          </a:p>
        </p:txBody>
      </p:sp>
      <p:sp>
        <p:nvSpPr>
          <p:cNvPr id="33" name="text-205"/>
          <p:cNvSpPr txBox="1"/>
          <p:nvPr/>
        </p:nvSpPr>
        <p:spPr>
          <a:xfrm>
            <a:off x="548640" y="6035040"/>
            <a:ext cx="7498080" cy="274320"/>
          </a:xfrm>
          <a:prstGeom prst="rect">
            <a:avLst/>
          </a:prstGeom>
          <a:noFill/>
          <a:ln/>
        </p:spPr>
        <p:txBody>
          <a:bodyPr wrap="square" lIns="0" tIns="0" rIns="0" bIns="0" rtlCol="0" anchor="t"/>
          <a:lstStyle/>
          <a:p>
            <a:pPr algn="l" indent="0" marL="0">
              <a:buNone/>
            </a:pPr>
            <a:r>
              <a:rPr lang="en-US" sz="1100" dirty="0">
                <a:solidFill>
                  <a:schemeClr val="accent6"/>
                </a:solidFill>
              </a:rPr>
              <a:t>Organization.status. Dashed states are target-state additions, not in the original PRD.</a:t>
            </a:r>
            <a:endParaRPr lang="en-US" sz="1100" dirty="0"/>
          </a:p>
        </p:txBody>
      </p:sp>
      <p:sp>
        <p:nvSpPr>
          <p:cNvPr id="34" name="side-card-1"/>
          <p:cNvSpPr/>
          <p:nvPr/>
        </p:nvSpPr>
        <p:spPr>
          <a:xfrm>
            <a:off x="8321040" y="1371600"/>
            <a:ext cx="3291840" cy="2240280"/>
          </a:xfrm>
          <a:prstGeom prst="roundRect">
            <a:avLst>
              <a:gd name="adj" fmla="val 4082"/>
            </a:avLst>
          </a:prstGeom>
          <a:solidFill>
            <a:srgbClr val="EEF2F6"/>
          </a:solidFill>
          <a:ln/>
        </p:spPr>
      </p:sp>
      <p:sp>
        <p:nvSpPr>
          <p:cNvPr id="35" name="text-206"/>
          <p:cNvSpPr txBox="1"/>
          <p:nvPr/>
        </p:nvSpPr>
        <p:spPr>
          <a:xfrm>
            <a:off x="8549640" y="1554480"/>
            <a:ext cx="2834640" cy="320040"/>
          </a:xfrm>
          <a:prstGeom prst="rect">
            <a:avLst/>
          </a:prstGeom>
          <a:noFill/>
          <a:ln/>
        </p:spPr>
        <p:txBody>
          <a:bodyPr wrap="square" lIns="0" tIns="0" rIns="0" bIns="0" rtlCol="0" anchor="t"/>
          <a:lstStyle/>
          <a:p>
            <a:pPr algn="l" indent="0" marL="0">
              <a:buNone/>
            </a:pPr>
            <a:r>
              <a:rPr lang="en-US" sz="1600" b="1" dirty="0">
                <a:solidFill>
                  <a:schemeClr val="tx2"/>
                </a:solidFill>
              </a:rPr>
              <a:t>SubscriptionLicense</a:t>
            </a:r>
            <a:endParaRPr lang="en-US" sz="1600" dirty="0"/>
          </a:p>
        </p:txBody>
      </p:sp>
      <p:sp>
        <p:nvSpPr>
          <p:cNvPr id="36" name="text-207"/>
          <p:cNvSpPr txBox="1"/>
          <p:nvPr/>
        </p:nvSpPr>
        <p:spPr>
          <a:xfrm>
            <a:off x="8549640" y="1965960"/>
            <a:ext cx="2834640" cy="640080"/>
          </a:xfrm>
          <a:prstGeom prst="rect">
            <a:avLst/>
          </a:prstGeom>
          <a:noFill/>
          <a:ln/>
        </p:spPr>
        <p:txBody>
          <a:bodyPr wrap="square" lIns="0" tIns="0" rIns="0" bIns="0" rtlCol="0" anchor="t"/>
          <a:lstStyle/>
          <a:p>
            <a:pPr algn="l" indent="0" marL="0">
              <a:buNone/>
            </a:pPr>
            <a:r>
              <a:rPr lang="en-US" sz="1400" b="1" dirty="0">
                <a:solidFill>
                  <a:schemeClr val="accent1"/>
                </a:solidFill>
              </a:rPr>
              <a:t>active · expired · suspended · cancelled</a:t>
            </a:r>
            <a:endParaRPr lang="en-US" sz="1400" dirty="0"/>
          </a:p>
        </p:txBody>
      </p:sp>
      <p:sp>
        <p:nvSpPr>
          <p:cNvPr id="37" name="text-208"/>
          <p:cNvSpPr txBox="1"/>
          <p:nvPr/>
        </p:nvSpPr>
        <p:spPr>
          <a:xfrm>
            <a:off x="8549640" y="2697480"/>
            <a:ext cx="2834640" cy="822960"/>
          </a:xfrm>
          <a:prstGeom prst="rect">
            <a:avLst/>
          </a:prstGeom>
          <a:noFill/>
          <a:ln/>
        </p:spPr>
        <p:txBody>
          <a:bodyPr wrap="square" lIns="0" tIns="0" rIns="0" bIns="0" rtlCol="0" anchor="t"/>
          <a:lstStyle/>
          <a:p>
            <a:pPr algn="l" indent="0" marL="0">
              <a:buNone/>
            </a:pPr>
            <a:r>
              <a:rPr lang="en-US" sz="1300" dirty="0">
                <a:solidFill>
                  <a:schemeClr val="tx1"/>
                </a:solidFill>
              </a:rPr>
              <a:t>valid_until stays a data field, not the whole lifecycle.</a:t>
            </a:r>
            <a:endParaRPr lang="en-US" sz="1300" dirty="0"/>
          </a:p>
        </p:txBody>
      </p:sp>
      <p:sp>
        <p:nvSpPr>
          <p:cNvPr id="38" name="side-card-2"/>
          <p:cNvSpPr/>
          <p:nvPr/>
        </p:nvSpPr>
        <p:spPr>
          <a:xfrm>
            <a:off x="8321040" y="3794760"/>
            <a:ext cx="3291840" cy="2240280"/>
          </a:xfrm>
          <a:prstGeom prst="roundRect">
            <a:avLst>
              <a:gd name="adj" fmla="val 4082"/>
            </a:avLst>
          </a:prstGeom>
          <a:solidFill>
            <a:srgbClr val="EEF2F6"/>
          </a:solidFill>
          <a:ln/>
        </p:spPr>
      </p:sp>
      <p:sp>
        <p:nvSpPr>
          <p:cNvPr id="39" name="text-209"/>
          <p:cNvSpPr txBox="1"/>
          <p:nvPr/>
        </p:nvSpPr>
        <p:spPr>
          <a:xfrm>
            <a:off x="8549640" y="3977640"/>
            <a:ext cx="2834640" cy="320040"/>
          </a:xfrm>
          <a:prstGeom prst="rect">
            <a:avLst/>
          </a:prstGeom>
          <a:noFill/>
          <a:ln/>
        </p:spPr>
        <p:txBody>
          <a:bodyPr wrap="square" lIns="0" tIns="0" rIns="0" bIns="0" rtlCol="0" anchor="t"/>
          <a:lstStyle/>
          <a:p>
            <a:pPr algn="l" indent="0" marL="0">
              <a:buNone/>
            </a:pPr>
            <a:r>
              <a:rPr lang="en-US" sz="1600" b="1" dirty="0">
                <a:solidFill>
                  <a:schemeClr val="tx2"/>
                </a:solidFill>
              </a:rPr>
              <a:t>Payment</a:t>
            </a:r>
            <a:endParaRPr lang="en-US" sz="1600" dirty="0"/>
          </a:p>
        </p:txBody>
      </p:sp>
      <p:sp>
        <p:nvSpPr>
          <p:cNvPr id="40" name="text-210"/>
          <p:cNvSpPr txBox="1"/>
          <p:nvPr/>
        </p:nvSpPr>
        <p:spPr>
          <a:xfrm>
            <a:off x="8549640" y="4389120"/>
            <a:ext cx="2834640" cy="640080"/>
          </a:xfrm>
          <a:prstGeom prst="rect">
            <a:avLst/>
          </a:prstGeom>
          <a:noFill/>
          <a:ln/>
        </p:spPr>
        <p:txBody>
          <a:bodyPr wrap="square" lIns="0" tIns="0" rIns="0" bIns="0" rtlCol="0" anchor="t"/>
          <a:lstStyle/>
          <a:p>
            <a:pPr algn="l" indent="0" marL="0">
              <a:buNone/>
            </a:pPr>
            <a:r>
              <a:rPr lang="en-US" sz="1400" b="1" dirty="0">
                <a:solidFill>
                  <a:schemeClr val="accent3"/>
                </a:solidFill>
              </a:rPr>
              <a:t>pending → succeeded · failed · cancelled</a:t>
            </a:r>
            <a:endParaRPr lang="en-US" sz="1400" dirty="0"/>
          </a:p>
        </p:txBody>
      </p:sp>
      <p:sp>
        <p:nvSpPr>
          <p:cNvPr id="41" name="text-211"/>
          <p:cNvSpPr txBox="1"/>
          <p:nvPr/>
        </p:nvSpPr>
        <p:spPr>
          <a:xfrm>
            <a:off x="8549640" y="5120640"/>
            <a:ext cx="2834640" cy="822960"/>
          </a:xfrm>
          <a:prstGeom prst="rect">
            <a:avLst/>
          </a:prstGeom>
          <a:noFill/>
          <a:ln/>
        </p:spPr>
        <p:txBody>
          <a:bodyPr wrap="square" lIns="0" tIns="0" rIns="0" bIns="0" rtlCol="0" anchor="t"/>
          <a:lstStyle/>
          <a:p>
            <a:pPr algn="l" indent="0" marL="0">
              <a:buNone/>
            </a:pPr>
            <a:r>
              <a:rPr lang="en-US" sz="1300" dirty="0">
                <a:solidFill>
                  <a:schemeClr val="tx1"/>
                </a:solidFill>
              </a:rPr>
              <a:t>Tracked with an event log for retries and webhooks.</a:t>
            </a:r>
            <a:endParaRPr lang="en-US" sz="13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Roadmap: seven gated phases in 50 days</a:t>
            </a:r>
            <a:endParaRPr lang="en-US" sz="3000" dirty="0"/>
          </a:p>
        </p:txBody>
      </p:sp>
      <p:sp>
        <p:nvSpPr>
          <p:cNvPr id="3" name="grid-212"/>
          <p:cNvSpPr/>
          <p:nvPr/>
        </p:nvSpPr>
        <p:spPr>
          <a:xfrm>
            <a:off x="2697480" y="1783080"/>
            <a:ext cx="0" cy="4023360"/>
          </a:xfrm>
          <a:prstGeom prst="line">
            <a:avLst/>
          </a:prstGeom>
          <a:noFill/>
          <a:ln w="9525">
            <a:solidFill>
              <a:schemeClr val="accent6">
                <a:alpha val="30000"/>
              </a:schemeClr>
            </a:solidFill>
            <a:prstDash val="solid"/>
          </a:ln>
        </p:spPr>
      </p:sp>
      <p:sp>
        <p:nvSpPr>
          <p:cNvPr id="4" name="text-213"/>
          <p:cNvSpPr txBox="1"/>
          <p:nvPr/>
        </p:nvSpPr>
        <p:spPr>
          <a:xfrm>
            <a:off x="2331720" y="141732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13 Oct</a:t>
            </a:r>
            <a:endParaRPr lang="en-US" sz="1100" dirty="0"/>
          </a:p>
        </p:txBody>
      </p:sp>
      <p:sp>
        <p:nvSpPr>
          <p:cNvPr id="5" name="grid-214"/>
          <p:cNvSpPr/>
          <p:nvPr/>
        </p:nvSpPr>
        <p:spPr>
          <a:xfrm>
            <a:off x="3945636" y="1783080"/>
            <a:ext cx="0" cy="4023360"/>
          </a:xfrm>
          <a:prstGeom prst="line">
            <a:avLst/>
          </a:prstGeom>
          <a:noFill/>
          <a:ln w="9525">
            <a:solidFill>
              <a:schemeClr val="accent6">
                <a:alpha val="30000"/>
              </a:schemeClr>
            </a:solidFill>
            <a:prstDash val="solid"/>
          </a:ln>
        </p:spPr>
      </p:sp>
      <p:sp>
        <p:nvSpPr>
          <p:cNvPr id="6" name="text-215"/>
          <p:cNvSpPr txBox="1"/>
          <p:nvPr/>
        </p:nvSpPr>
        <p:spPr>
          <a:xfrm>
            <a:off x="3579876" y="141732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20 Oct</a:t>
            </a:r>
            <a:endParaRPr lang="en-US" sz="1100" dirty="0"/>
          </a:p>
        </p:txBody>
      </p:sp>
      <p:sp>
        <p:nvSpPr>
          <p:cNvPr id="7" name="grid-216"/>
          <p:cNvSpPr/>
          <p:nvPr/>
        </p:nvSpPr>
        <p:spPr>
          <a:xfrm>
            <a:off x="5193792" y="1783080"/>
            <a:ext cx="0" cy="4023360"/>
          </a:xfrm>
          <a:prstGeom prst="line">
            <a:avLst/>
          </a:prstGeom>
          <a:noFill/>
          <a:ln w="9525">
            <a:solidFill>
              <a:schemeClr val="accent6">
                <a:alpha val="30000"/>
              </a:schemeClr>
            </a:solidFill>
            <a:prstDash val="solid"/>
          </a:ln>
        </p:spPr>
      </p:sp>
      <p:sp>
        <p:nvSpPr>
          <p:cNvPr id="8" name="text-217"/>
          <p:cNvSpPr txBox="1"/>
          <p:nvPr/>
        </p:nvSpPr>
        <p:spPr>
          <a:xfrm>
            <a:off x="4828032" y="141732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27 Oct</a:t>
            </a:r>
            <a:endParaRPr lang="en-US" sz="1100" dirty="0"/>
          </a:p>
        </p:txBody>
      </p:sp>
      <p:sp>
        <p:nvSpPr>
          <p:cNvPr id="9" name="grid-218"/>
          <p:cNvSpPr/>
          <p:nvPr/>
        </p:nvSpPr>
        <p:spPr>
          <a:xfrm>
            <a:off x="6441948" y="1783080"/>
            <a:ext cx="0" cy="4023360"/>
          </a:xfrm>
          <a:prstGeom prst="line">
            <a:avLst/>
          </a:prstGeom>
          <a:noFill/>
          <a:ln w="9525">
            <a:solidFill>
              <a:schemeClr val="accent6">
                <a:alpha val="30000"/>
              </a:schemeClr>
            </a:solidFill>
            <a:prstDash val="solid"/>
          </a:ln>
        </p:spPr>
      </p:sp>
      <p:sp>
        <p:nvSpPr>
          <p:cNvPr id="10" name="text-219"/>
          <p:cNvSpPr txBox="1"/>
          <p:nvPr/>
        </p:nvSpPr>
        <p:spPr>
          <a:xfrm>
            <a:off x="6076188" y="141732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3 Nov</a:t>
            </a:r>
            <a:endParaRPr lang="en-US" sz="1100" dirty="0"/>
          </a:p>
        </p:txBody>
      </p:sp>
      <p:sp>
        <p:nvSpPr>
          <p:cNvPr id="11" name="grid-220"/>
          <p:cNvSpPr/>
          <p:nvPr/>
        </p:nvSpPr>
        <p:spPr>
          <a:xfrm>
            <a:off x="7690104" y="1783080"/>
            <a:ext cx="0" cy="4023360"/>
          </a:xfrm>
          <a:prstGeom prst="line">
            <a:avLst/>
          </a:prstGeom>
          <a:noFill/>
          <a:ln w="9525">
            <a:solidFill>
              <a:schemeClr val="accent6">
                <a:alpha val="30000"/>
              </a:schemeClr>
            </a:solidFill>
            <a:prstDash val="solid"/>
          </a:ln>
        </p:spPr>
      </p:sp>
      <p:sp>
        <p:nvSpPr>
          <p:cNvPr id="12" name="text-221"/>
          <p:cNvSpPr txBox="1"/>
          <p:nvPr/>
        </p:nvSpPr>
        <p:spPr>
          <a:xfrm>
            <a:off x="7324344" y="141732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10 Nov</a:t>
            </a:r>
            <a:endParaRPr lang="en-US" sz="1100" dirty="0"/>
          </a:p>
        </p:txBody>
      </p:sp>
      <p:sp>
        <p:nvSpPr>
          <p:cNvPr id="13" name="grid-222"/>
          <p:cNvSpPr/>
          <p:nvPr/>
        </p:nvSpPr>
        <p:spPr>
          <a:xfrm>
            <a:off x="8938260" y="1783080"/>
            <a:ext cx="0" cy="4023360"/>
          </a:xfrm>
          <a:prstGeom prst="line">
            <a:avLst/>
          </a:prstGeom>
          <a:noFill/>
          <a:ln w="9525">
            <a:solidFill>
              <a:schemeClr val="accent6">
                <a:alpha val="30000"/>
              </a:schemeClr>
            </a:solidFill>
            <a:prstDash val="solid"/>
          </a:ln>
        </p:spPr>
      </p:sp>
      <p:sp>
        <p:nvSpPr>
          <p:cNvPr id="14" name="text-223"/>
          <p:cNvSpPr txBox="1"/>
          <p:nvPr/>
        </p:nvSpPr>
        <p:spPr>
          <a:xfrm>
            <a:off x="8572500" y="141732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17 Nov</a:t>
            </a:r>
            <a:endParaRPr lang="en-US" sz="1100" dirty="0"/>
          </a:p>
        </p:txBody>
      </p:sp>
      <p:sp>
        <p:nvSpPr>
          <p:cNvPr id="15" name="grid-224"/>
          <p:cNvSpPr/>
          <p:nvPr/>
        </p:nvSpPr>
        <p:spPr>
          <a:xfrm>
            <a:off x="10186416" y="1783080"/>
            <a:ext cx="0" cy="4023360"/>
          </a:xfrm>
          <a:prstGeom prst="line">
            <a:avLst/>
          </a:prstGeom>
          <a:noFill/>
          <a:ln w="9525">
            <a:solidFill>
              <a:schemeClr val="accent6">
                <a:alpha val="30000"/>
              </a:schemeClr>
            </a:solidFill>
            <a:prstDash val="solid"/>
          </a:ln>
        </p:spPr>
      </p:sp>
      <p:sp>
        <p:nvSpPr>
          <p:cNvPr id="16" name="text-225"/>
          <p:cNvSpPr txBox="1"/>
          <p:nvPr/>
        </p:nvSpPr>
        <p:spPr>
          <a:xfrm>
            <a:off x="9820656" y="141732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24 Nov</a:t>
            </a:r>
            <a:endParaRPr lang="en-US" sz="1100" dirty="0"/>
          </a:p>
        </p:txBody>
      </p:sp>
      <p:sp>
        <p:nvSpPr>
          <p:cNvPr id="17" name="grid-226"/>
          <p:cNvSpPr/>
          <p:nvPr/>
        </p:nvSpPr>
        <p:spPr>
          <a:xfrm>
            <a:off x="11434572" y="1783080"/>
            <a:ext cx="0" cy="4023360"/>
          </a:xfrm>
          <a:prstGeom prst="line">
            <a:avLst/>
          </a:prstGeom>
          <a:noFill/>
          <a:ln w="9525">
            <a:solidFill>
              <a:schemeClr val="accent6">
                <a:alpha val="30000"/>
              </a:schemeClr>
            </a:solidFill>
            <a:prstDash val="solid"/>
          </a:ln>
        </p:spPr>
      </p:sp>
      <p:sp>
        <p:nvSpPr>
          <p:cNvPr id="18" name="text-227"/>
          <p:cNvSpPr txBox="1"/>
          <p:nvPr/>
        </p:nvSpPr>
        <p:spPr>
          <a:xfrm>
            <a:off x="11068812" y="1417320"/>
            <a:ext cx="731520" cy="274320"/>
          </a:xfrm>
          <a:prstGeom prst="rect">
            <a:avLst/>
          </a:prstGeom>
          <a:noFill/>
          <a:ln/>
        </p:spPr>
        <p:txBody>
          <a:bodyPr wrap="square" lIns="0" tIns="0" rIns="0" bIns="0" rtlCol="0" anchor="t"/>
          <a:lstStyle/>
          <a:p>
            <a:pPr algn="ctr" indent="0" marL="0">
              <a:buNone/>
            </a:pPr>
            <a:r>
              <a:rPr lang="en-US" sz="1100" dirty="0">
                <a:solidFill>
                  <a:schemeClr val="accent6"/>
                </a:solidFill>
              </a:rPr>
              <a:t>1 Dec</a:t>
            </a:r>
            <a:endParaRPr lang="en-US" sz="1100" dirty="0"/>
          </a:p>
        </p:txBody>
      </p:sp>
      <p:sp>
        <p:nvSpPr>
          <p:cNvPr id="19" name="phase-label-228"/>
          <p:cNvSpPr txBox="1"/>
          <p:nvPr/>
        </p:nvSpPr>
        <p:spPr>
          <a:xfrm>
            <a:off x="548640" y="1874520"/>
            <a:ext cx="2103120" cy="411480"/>
          </a:xfrm>
          <a:prstGeom prst="rect">
            <a:avLst/>
          </a:prstGeom>
          <a:noFill/>
          <a:ln/>
        </p:spPr>
        <p:txBody>
          <a:bodyPr wrap="square" lIns="0" tIns="0" rIns="0" bIns="0" rtlCol="0" anchor="ctr"/>
          <a:lstStyle/>
          <a:p>
            <a:pPr indent="0" marL="0">
              <a:buNone/>
            </a:pPr>
            <a:r>
              <a:rPr lang="en-US" sz="1300" b="1" dirty="0">
                <a:solidFill>
                  <a:schemeClr val="tx2"/>
                </a:solidFill>
              </a:rPr>
              <a:t>Phase 0  </a:t>
            </a:r>
            <a:pPr indent="0" marL="0">
              <a:buNone/>
            </a:pPr>
            <a:r>
              <a:rPr lang="en-US" sz="1300" dirty="0">
                <a:solidFill>
                  <a:schemeClr val="tx1"/>
                </a:solidFill>
              </a:rPr>
              <a:t>Setup &amp; guardrails</a:t>
            </a:r>
            <a:endParaRPr lang="en-US" sz="1300" dirty="0"/>
          </a:p>
        </p:txBody>
      </p:sp>
      <p:sp>
        <p:nvSpPr>
          <p:cNvPr id="20" name="bar-0"/>
          <p:cNvSpPr/>
          <p:nvPr/>
        </p:nvSpPr>
        <p:spPr>
          <a:xfrm>
            <a:off x="2697480" y="1874520"/>
            <a:ext cx="1042416" cy="411480"/>
          </a:xfrm>
          <a:prstGeom prst="roundRect">
            <a:avLst>
              <a:gd name="adj" fmla="val 17778"/>
            </a:avLst>
          </a:prstGeom>
          <a:solidFill>
            <a:schemeClr val="accent6"/>
          </a:solidFill>
          <a:ln/>
        </p:spPr>
      </p:sp>
      <p:sp>
        <p:nvSpPr>
          <p:cNvPr id="21" name="text-229"/>
          <p:cNvSpPr txBox="1"/>
          <p:nvPr/>
        </p:nvSpPr>
        <p:spPr>
          <a:xfrm>
            <a:off x="2697480" y="1874520"/>
            <a:ext cx="1042416" cy="411480"/>
          </a:xfrm>
          <a:prstGeom prst="rect">
            <a:avLst/>
          </a:prstGeom>
          <a:noFill/>
          <a:ln/>
        </p:spPr>
        <p:txBody>
          <a:bodyPr wrap="square" lIns="0" tIns="0" rIns="0" bIns="0" rtlCol="0" anchor="ctr"/>
          <a:lstStyle/>
          <a:p>
            <a:pPr algn="ctr" indent="0" marL="0">
              <a:buNone/>
            </a:pPr>
            <a:r>
              <a:rPr lang="en-US" sz="1100" b="1" dirty="0">
                <a:solidFill>
                  <a:schemeClr val="bg1"/>
                </a:solidFill>
              </a:rPr>
              <a:t>13–18 Oct</a:t>
            </a:r>
            <a:endParaRPr lang="en-US" sz="1100" dirty="0"/>
          </a:p>
        </p:txBody>
      </p:sp>
      <p:sp>
        <p:nvSpPr>
          <p:cNvPr id="22" name="phase-label-230"/>
          <p:cNvSpPr txBox="1"/>
          <p:nvPr/>
        </p:nvSpPr>
        <p:spPr>
          <a:xfrm>
            <a:off x="548640" y="2441448"/>
            <a:ext cx="2103120" cy="411480"/>
          </a:xfrm>
          <a:prstGeom prst="rect">
            <a:avLst/>
          </a:prstGeom>
          <a:noFill/>
          <a:ln/>
        </p:spPr>
        <p:txBody>
          <a:bodyPr wrap="square" lIns="0" tIns="0" rIns="0" bIns="0" rtlCol="0" anchor="ctr"/>
          <a:lstStyle/>
          <a:p>
            <a:pPr indent="0" marL="0">
              <a:buNone/>
            </a:pPr>
            <a:r>
              <a:rPr lang="en-US" sz="1300" b="1" dirty="0">
                <a:solidFill>
                  <a:schemeClr val="tx2"/>
                </a:solidFill>
              </a:rPr>
              <a:t>Phase 1  </a:t>
            </a:r>
            <a:pPr indent="0" marL="0">
              <a:buNone/>
            </a:pPr>
            <a:r>
              <a:rPr lang="en-US" sz="1300" dirty="0">
                <a:solidFill>
                  <a:schemeClr val="tx1"/>
                </a:solidFill>
              </a:rPr>
              <a:t>Core &amp; contracts</a:t>
            </a:r>
            <a:endParaRPr lang="en-US" sz="1300" dirty="0"/>
          </a:p>
        </p:txBody>
      </p:sp>
      <p:sp>
        <p:nvSpPr>
          <p:cNvPr id="23" name="bar-1"/>
          <p:cNvSpPr/>
          <p:nvPr/>
        </p:nvSpPr>
        <p:spPr>
          <a:xfrm>
            <a:off x="3767328" y="2441448"/>
            <a:ext cx="1577340" cy="411480"/>
          </a:xfrm>
          <a:prstGeom prst="roundRect">
            <a:avLst>
              <a:gd name="adj" fmla="val 17778"/>
            </a:avLst>
          </a:prstGeom>
          <a:solidFill>
            <a:schemeClr val="accent4"/>
          </a:solidFill>
          <a:ln/>
        </p:spPr>
      </p:sp>
      <p:sp>
        <p:nvSpPr>
          <p:cNvPr id="24" name="text-231"/>
          <p:cNvSpPr txBox="1"/>
          <p:nvPr/>
        </p:nvSpPr>
        <p:spPr>
          <a:xfrm>
            <a:off x="3767328" y="2441448"/>
            <a:ext cx="1577340" cy="411480"/>
          </a:xfrm>
          <a:prstGeom prst="rect">
            <a:avLst/>
          </a:prstGeom>
          <a:noFill/>
          <a:ln/>
        </p:spPr>
        <p:txBody>
          <a:bodyPr wrap="square" lIns="0" tIns="0" rIns="0" bIns="0" rtlCol="0" anchor="ctr"/>
          <a:lstStyle/>
          <a:p>
            <a:pPr algn="ctr" indent="0" marL="0">
              <a:buNone/>
            </a:pPr>
            <a:r>
              <a:rPr lang="en-US" sz="1100" b="1" dirty="0">
                <a:solidFill>
                  <a:schemeClr val="bg1"/>
                </a:solidFill>
              </a:rPr>
              <a:t>19–27 Oct</a:t>
            </a:r>
            <a:endParaRPr lang="en-US" sz="1100" dirty="0"/>
          </a:p>
        </p:txBody>
      </p:sp>
      <p:sp>
        <p:nvSpPr>
          <p:cNvPr id="25" name="phase-label-232"/>
          <p:cNvSpPr txBox="1"/>
          <p:nvPr/>
        </p:nvSpPr>
        <p:spPr>
          <a:xfrm>
            <a:off x="548640" y="3008376"/>
            <a:ext cx="2103120" cy="411480"/>
          </a:xfrm>
          <a:prstGeom prst="rect">
            <a:avLst/>
          </a:prstGeom>
          <a:noFill/>
          <a:ln/>
        </p:spPr>
        <p:txBody>
          <a:bodyPr wrap="square" lIns="0" tIns="0" rIns="0" bIns="0" rtlCol="0" anchor="ctr"/>
          <a:lstStyle/>
          <a:p>
            <a:pPr indent="0" marL="0">
              <a:buNone/>
            </a:pPr>
            <a:r>
              <a:rPr lang="en-US" sz="1300" b="1" dirty="0">
                <a:solidFill>
                  <a:schemeClr val="tx2"/>
                </a:solidFill>
              </a:rPr>
              <a:t>Phase 2  </a:t>
            </a:r>
            <a:pPr indent="0" marL="0">
              <a:buNone/>
            </a:pPr>
            <a:r>
              <a:rPr lang="en-US" sz="1300" dirty="0">
                <a:solidFill>
                  <a:schemeClr val="tx1"/>
                </a:solidFill>
              </a:rPr>
              <a:t>Tenancy &amp; billing</a:t>
            </a:r>
            <a:endParaRPr lang="en-US" sz="1300" dirty="0"/>
          </a:p>
        </p:txBody>
      </p:sp>
      <p:sp>
        <p:nvSpPr>
          <p:cNvPr id="26" name="bar-2"/>
          <p:cNvSpPr/>
          <p:nvPr/>
        </p:nvSpPr>
        <p:spPr>
          <a:xfrm>
            <a:off x="5372100" y="3008376"/>
            <a:ext cx="1577340" cy="411480"/>
          </a:xfrm>
          <a:prstGeom prst="roundRect">
            <a:avLst>
              <a:gd name="adj" fmla="val 17778"/>
            </a:avLst>
          </a:prstGeom>
          <a:solidFill>
            <a:schemeClr val="accent1"/>
          </a:solidFill>
          <a:ln/>
        </p:spPr>
      </p:sp>
      <p:sp>
        <p:nvSpPr>
          <p:cNvPr id="27" name="text-233"/>
          <p:cNvSpPr txBox="1"/>
          <p:nvPr/>
        </p:nvSpPr>
        <p:spPr>
          <a:xfrm>
            <a:off x="5372100" y="3008376"/>
            <a:ext cx="1577340" cy="411480"/>
          </a:xfrm>
          <a:prstGeom prst="rect">
            <a:avLst/>
          </a:prstGeom>
          <a:noFill/>
          <a:ln/>
        </p:spPr>
        <p:txBody>
          <a:bodyPr wrap="square" lIns="0" tIns="0" rIns="0" bIns="0" rtlCol="0" anchor="ctr"/>
          <a:lstStyle/>
          <a:p>
            <a:pPr algn="ctr" indent="0" marL="0">
              <a:buNone/>
            </a:pPr>
            <a:r>
              <a:rPr lang="en-US" sz="1100" b="1" dirty="0">
                <a:solidFill>
                  <a:schemeClr val="bg1"/>
                </a:solidFill>
              </a:rPr>
              <a:t>28 Oct–5 Nov</a:t>
            </a:r>
            <a:endParaRPr lang="en-US" sz="1100" dirty="0"/>
          </a:p>
        </p:txBody>
      </p:sp>
      <p:sp>
        <p:nvSpPr>
          <p:cNvPr id="28" name="phase-label-234"/>
          <p:cNvSpPr txBox="1"/>
          <p:nvPr/>
        </p:nvSpPr>
        <p:spPr>
          <a:xfrm>
            <a:off x="548640" y="3575304"/>
            <a:ext cx="2103120" cy="411480"/>
          </a:xfrm>
          <a:prstGeom prst="rect">
            <a:avLst/>
          </a:prstGeom>
          <a:noFill/>
          <a:ln/>
        </p:spPr>
        <p:txBody>
          <a:bodyPr wrap="square" lIns="0" tIns="0" rIns="0" bIns="0" rtlCol="0" anchor="ctr"/>
          <a:lstStyle/>
          <a:p>
            <a:pPr indent="0" marL="0">
              <a:buNone/>
            </a:pPr>
            <a:r>
              <a:rPr lang="en-US" sz="1300" b="1" dirty="0">
                <a:solidFill>
                  <a:schemeClr val="tx2"/>
                </a:solidFill>
              </a:rPr>
              <a:t>Phase 3  </a:t>
            </a:r>
            <a:pPr indent="0" marL="0">
              <a:buNone/>
            </a:pPr>
            <a:r>
              <a:rPr lang="en-US" sz="1300" dirty="0">
                <a:solidFill>
                  <a:schemeClr val="tx1"/>
                </a:solidFill>
              </a:rPr>
              <a:t>Moodle &amp; SSO</a:t>
            </a:r>
            <a:endParaRPr lang="en-US" sz="1300" dirty="0"/>
          </a:p>
        </p:txBody>
      </p:sp>
      <p:sp>
        <p:nvSpPr>
          <p:cNvPr id="29" name="bar-3"/>
          <p:cNvSpPr/>
          <p:nvPr/>
        </p:nvSpPr>
        <p:spPr>
          <a:xfrm>
            <a:off x="6976872" y="3575304"/>
            <a:ext cx="1577340" cy="411480"/>
          </a:xfrm>
          <a:prstGeom prst="roundRect">
            <a:avLst>
              <a:gd name="adj" fmla="val 17778"/>
            </a:avLst>
          </a:prstGeom>
          <a:solidFill>
            <a:schemeClr val="accent2"/>
          </a:solidFill>
          <a:ln/>
        </p:spPr>
      </p:sp>
      <p:sp>
        <p:nvSpPr>
          <p:cNvPr id="30" name="text-235"/>
          <p:cNvSpPr txBox="1"/>
          <p:nvPr/>
        </p:nvSpPr>
        <p:spPr>
          <a:xfrm>
            <a:off x="6976872" y="3575304"/>
            <a:ext cx="1577340" cy="411480"/>
          </a:xfrm>
          <a:prstGeom prst="rect">
            <a:avLst/>
          </a:prstGeom>
          <a:noFill/>
          <a:ln/>
        </p:spPr>
        <p:txBody>
          <a:bodyPr wrap="square" lIns="0" tIns="0" rIns="0" bIns="0" rtlCol="0" anchor="ctr"/>
          <a:lstStyle/>
          <a:p>
            <a:pPr algn="ctr" indent="0" marL="0">
              <a:buNone/>
            </a:pPr>
            <a:r>
              <a:rPr lang="en-US" sz="1100" b="1" dirty="0">
                <a:solidFill>
                  <a:schemeClr val="bg1"/>
                </a:solidFill>
              </a:rPr>
              <a:t>6–14 Nov</a:t>
            </a:r>
            <a:endParaRPr lang="en-US" sz="1100" dirty="0"/>
          </a:p>
        </p:txBody>
      </p:sp>
      <p:sp>
        <p:nvSpPr>
          <p:cNvPr id="31" name="phase-label-236"/>
          <p:cNvSpPr txBox="1"/>
          <p:nvPr/>
        </p:nvSpPr>
        <p:spPr>
          <a:xfrm>
            <a:off x="548640" y="4142232"/>
            <a:ext cx="2103120" cy="411480"/>
          </a:xfrm>
          <a:prstGeom prst="rect">
            <a:avLst/>
          </a:prstGeom>
          <a:noFill/>
          <a:ln/>
        </p:spPr>
        <p:txBody>
          <a:bodyPr wrap="square" lIns="0" tIns="0" rIns="0" bIns="0" rtlCol="0" anchor="ctr"/>
          <a:lstStyle/>
          <a:p>
            <a:pPr indent="0" marL="0">
              <a:buNone/>
            </a:pPr>
            <a:r>
              <a:rPr lang="en-US" sz="1300" b="1" dirty="0">
                <a:solidFill>
                  <a:schemeClr val="tx2"/>
                </a:solidFill>
              </a:rPr>
              <a:t>Phase 4  </a:t>
            </a:r>
            <a:pPr indent="0" marL="0">
              <a:buNone/>
            </a:pPr>
            <a:r>
              <a:rPr lang="en-US" sz="1300" dirty="0">
                <a:solidFill>
                  <a:schemeClr val="tx1"/>
                </a:solidFill>
              </a:rPr>
              <a:t>AI &amp; fair use</a:t>
            </a:r>
            <a:endParaRPr lang="en-US" sz="1300" dirty="0"/>
          </a:p>
        </p:txBody>
      </p:sp>
      <p:sp>
        <p:nvSpPr>
          <p:cNvPr id="32" name="bar-4"/>
          <p:cNvSpPr/>
          <p:nvPr/>
        </p:nvSpPr>
        <p:spPr>
          <a:xfrm>
            <a:off x="8581644" y="4142232"/>
            <a:ext cx="1399032" cy="411480"/>
          </a:xfrm>
          <a:prstGeom prst="roundRect">
            <a:avLst>
              <a:gd name="adj" fmla="val 17778"/>
            </a:avLst>
          </a:prstGeom>
          <a:solidFill>
            <a:schemeClr val="accent3"/>
          </a:solidFill>
          <a:ln/>
        </p:spPr>
      </p:sp>
      <p:sp>
        <p:nvSpPr>
          <p:cNvPr id="33" name="text-237"/>
          <p:cNvSpPr txBox="1"/>
          <p:nvPr/>
        </p:nvSpPr>
        <p:spPr>
          <a:xfrm>
            <a:off x="8581644" y="4142232"/>
            <a:ext cx="1399032" cy="411480"/>
          </a:xfrm>
          <a:prstGeom prst="rect">
            <a:avLst/>
          </a:prstGeom>
          <a:noFill/>
          <a:ln/>
        </p:spPr>
        <p:txBody>
          <a:bodyPr wrap="square" lIns="0" tIns="0" rIns="0" bIns="0" rtlCol="0" anchor="ctr"/>
          <a:lstStyle/>
          <a:p>
            <a:pPr algn="ctr" indent="0" marL="0">
              <a:buNone/>
            </a:pPr>
            <a:r>
              <a:rPr lang="en-US" sz="1100" b="1" dirty="0">
                <a:solidFill>
                  <a:schemeClr val="bg1"/>
                </a:solidFill>
              </a:rPr>
              <a:t>15–22 Nov</a:t>
            </a:r>
            <a:endParaRPr lang="en-US" sz="1100" dirty="0"/>
          </a:p>
        </p:txBody>
      </p:sp>
      <p:sp>
        <p:nvSpPr>
          <p:cNvPr id="34" name="phase-label-238"/>
          <p:cNvSpPr txBox="1"/>
          <p:nvPr/>
        </p:nvSpPr>
        <p:spPr>
          <a:xfrm>
            <a:off x="548640" y="4709160"/>
            <a:ext cx="2103120" cy="411480"/>
          </a:xfrm>
          <a:prstGeom prst="rect">
            <a:avLst/>
          </a:prstGeom>
          <a:noFill/>
          <a:ln/>
        </p:spPr>
        <p:txBody>
          <a:bodyPr wrap="square" lIns="0" tIns="0" rIns="0" bIns="0" rtlCol="0" anchor="ctr"/>
          <a:lstStyle/>
          <a:p>
            <a:pPr indent="0" marL="0">
              <a:buNone/>
            </a:pPr>
            <a:r>
              <a:rPr lang="en-US" sz="1300" b="1" dirty="0">
                <a:solidFill>
                  <a:schemeClr val="tx2"/>
                </a:solidFill>
              </a:rPr>
              <a:t>Phase 5  </a:t>
            </a:r>
            <a:pPr indent="0" marL="0">
              <a:buNone/>
            </a:pPr>
            <a:r>
              <a:rPr lang="en-US" sz="1300" dirty="0">
                <a:solidFill>
                  <a:schemeClr val="tx1"/>
                </a:solidFill>
              </a:rPr>
              <a:t>Payments &amp; E2E</a:t>
            </a:r>
            <a:endParaRPr lang="en-US" sz="1300" dirty="0"/>
          </a:p>
        </p:txBody>
      </p:sp>
      <p:sp>
        <p:nvSpPr>
          <p:cNvPr id="35" name="bar-5"/>
          <p:cNvSpPr/>
          <p:nvPr/>
        </p:nvSpPr>
        <p:spPr>
          <a:xfrm>
            <a:off x="10008108" y="4709160"/>
            <a:ext cx="1042416" cy="411480"/>
          </a:xfrm>
          <a:prstGeom prst="roundRect">
            <a:avLst>
              <a:gd name="adj" fmla="val 17778"/>
            </a:avLst>
          </a:prstGeom>
          <a:solidFill>
            <a:schemeClr val="tx2"/>
          </a:solidFill>
          <a:ln/>
        </p:spPr>
      </p:sp>
      <p:sp>
        <p:nvSpPr>
          <p:cNvPr id="36" name="text-239"/>
          <p:cNvSpPr txBox="1"/>
          <p:nvPr/>
        </p:nvSpPr>
        <p:spPr>
          <a:xfrm>
            <a:off x="10008108" y="4709160"/>
            <a:ext cx="1042416" cy="411480"/>
          </a:xfrm>
          <a:prstGeom prst="rect">
            <a:avLst/>
          </a:prstGeom>
          <a:noFill/>
          <a:ln/>
        </p:spPr>
        <p:txBody>
          <a:bodyPr wrap="square" lIns="0" tIns="0" rIns="0" bIns="0" rtlCol="0" anchor="ctr"/>
          <a:lstStyle/>
          <a:p>
            <a:pPr algn="ctr" indent="0" marL="0">
              <a:buNone/>
            </a:pPr>
            <a:r>
              <a:rPr lang="en-US" sz="1100" b="1" dirty="0">
                <a:solidFill>
                  <a:schemeClr val="bg1"/>
                </a:solidFill>
              </a:rPr>
              <a:t>23–28 Nov</a:t>
            </a:r>
            <a:endParaRPr lang="en-US" sz="1100" dirty="0"/>
          </a:p>
        </p:txBody>
      </p:sp>
      <p:sp>
        <p:nvSpPr>
          <p:cNvPr id="37" name="phase-label-240"/>
          <p:cNvSpPr txBox="1"/>
          <p:nvPr/>
        </p:nvSpPr>
        <p:spPr>
          <a:xfrm>
            <a:off x="548640" y="5276088"/>
            <a:ext cx="2103120" cy="411480"/>
          </a:xfrm>
          <a:prstGeom prst="rect">
            <a:avLst/>
          </a:prstGeom>
          <a:noFill/>
          <a:ln/>
        </p:spPr>
        <p:txBody>
          <a:bodyPr wrap="square" lIns="0" tIns="0" rIns="0" bIns="0" rtlCol="0" anchor="ctr"/>
          <a:lstStyle/>
          <a:p>
            <a:pPr indent="0" marL="0">
              <a:buNone/>
            </a:pPr>
            <a:r>
              <a:rPr lang="en-US" sz="1300" b="1" dirty="0">
                <a:solidFill>
                  <a:schemeClr val="tx2"/>
                </a:solidFill>
              </a:rPr>
              <a:t>Phase 6  </a:t>
            </a:r>
            <a:pPr indent="0" marL="0">
              <a:buNone/>
            </a:pPr>
            <a:r>
              <a:rPr lang="en-US" sz="1300" dirty="0">
                <a:solidFill>
                  <a:schemeClr val="tx1"/>
                </a:solidFill>
              </a:rPr>
              <a:t>Pilot launch</a:t>
            </a:r>
            <a:endParaRPr lang="en-US" sz="1300" dirty="0"/>
          </a:p>
        </p:txBody>
      </p:sp>
      <p:sp>
        <p:nvSpPr>
          <p:cNvPr id="38" name="bar-6"/>
          <p:cNvSpPr/>
          <p:nvPr/>
        </p:nvSpPr>
        <p:spPr>
          <a:xfrm>
            <a:off x="11077956" y="5276088"/>
            <a:ext cx="507492" cy="411480"/>
          </a:xfrm>
          <a:prstGeom prst="roundRect">
            <a:avLst>
              <a:gd name="adj" fmla="val 17778"/>
            </a:avLst>
          </a:prstGeom>
          <a:solidFill>
            <a:schemeClr val="accent5"/>
          </a:solidFill>
          <a:ln/>
        </p:spPr>
      </p:sp>
      <p:sp>
        <p:nvSpPr>
          <p:cNvPr id="39" name="text-241"/>
          <p:cNvSpPr txBox="1"/>
          <p:nvPr/>
        </p:nvSpPr>
        <p:spPr>
          <a:xfrm>
            <a:off x="11077956" y="5276088"/>
            <a:ext cx="507492" cy="411480"/>
          </a:xfrm>
          <a:prstGeom prst="rect">
            <a:avLst/>
          </a:prstGeom>
          <a:noFill/>
          <a:ln/>
        </p:spPr>
        <p:txBody>
          <a:bodyPr wrap="square" lIns="0" tIns="0" rIns="0" bIns="0" rtlCol="0" anchor="ctr"/>
          <a:lstStyle/>
          <a:p>
            <a:pPr algn="ctr" indent="0" marL="0">
              <a:buNone/>
            </a:pPr>
            <a:r>
              <a:rPr lang="en-US" sz="1100" b="1" dirty="0">
                <a:solidFill>
                  <a:schemeClr val="bg1"/>
                </a:solidFill>
              </a:rPr>
              <a:t>3 days</a:t>
            </a:r>
            <a:endParaRPr lang="en-US" sz="1100" dirty="0"/>
          </a:p>
        </p:txBody>
      </p:sp>
      <p:sp>
        <p:nvSpPr>
          <p:cNvPr id="40" name="today-line"/>
          <p:cNvSpPr/>
          <p:nvPr/>
        </p:nvSpPr>
        <p:spPr>
          <a:xfrm>
            <a:off x="2964942" y="1691640"/>
            <a:ext cx="0" cy="4160520"/>
          </a:xfrm>
          <a:prstGeom prst="line">
            <a:avLst/>
          </a:prstGeom>
          <a:noFill/>
          <a:ln w="22225">
            <a:solidFill>
              <a:schemeClr val="accent5"/>
            </a:solidFill>
            <a:prstDash val="dash"/>
          </a:ln>
        </p:spPr>
      </p:sp>
      <p:sp>
        <p:nvSpPr>
          <p:cNvPr id="41" name="text-242"/>
          <p:cNvSpPr txBox="1"/>
          <p:nvPr/>
        </p:nvSpPr>
        <p:spPr>
          <a:xfrm>
            <a:off x="2782062" y="5870448"/>
            <a:ext cx="1280160" cy="228600"/>
          </a:xfrm>
          <a:prstGeom prst="rect">
            <a:avLst/>
          </a:prstGeom>
          <a:noFill/>
          <a:ln/>
        </p:spPr>
        <p:txBody>
          <a:bodyPr wrap="square" lIns="0" tIns="0" rIns="0" bIns="0" rtlCol="0" anchor="t"/>
          <a:lstStyle/>
          <a:p>
            <a:pPr algn="l" indent="0" marL="0">
              <a:buNone/>
            </a:pPr>
            <a:r>
              <a:rPr lang="en-US" sz="1100" b="1" dirty="0">
                <a:solidFill>
                  <a:schemeClr val="accent5"/>
                </a:solidFill>
              </a:rPr>
              <a:t>Today, 14 Oct</a:t>
            </a:r>
            <a:endParaRPr lang="en-US" sz="1100" dirty="0"/>
          </a:p>
        </p:txBody>
      </p:sp>
      <p:sp>
        <p:nvSpPr>
          <p:cNvPr id="42" name="golive-line"/>
          <p:cNvSpPr/>
          <p:nvPr/>
        </p:nvSpPr>
        <p:spPr>
          <a:xfrm>
            <a:off x="11612880" y="1691640"/>
            <a:ext cx="0" cy="4160520"/>
          </a:xfrm>
          <a:prstGeom prst="line">
            <a:avLst/>
          </a:prstGeom>
          <a:noFill/>
          <a:ln w="31750">
            <a:solidFill>
              <a:schemeClr val="accent1"/>
            </a:solidFill>
            <a:prstDash val="solid"/>
          </a:ln>
        </p:spPr>
      </p:sp>
      <p:sp>
        <p:nvSpPr>
          <p:cNvPr id="43" name="text-243"/>
          <p:cNvSpPr txBox="1"/>
          <p:nvPr/>
        </p:nvSpPr>
        <p:spPr>
          <a:xfrm>
            <a:off x="10332720" y="5870448"/>
            <a:ext cx="1280160" cy="228600"/>
          </a:xfrm>
          <a:prstGeom prst="rect">
            <a:avLst/>
          </a:prstGeom>
          <a:noFill/>
          <a:ln/>
        </p:spPr>
        <p:txBody>
          <a:bodyPr wrap="square" lIns="0" tIns="0" rIns="0" bIns="0" rtlCol="0" anchor="t"/>
          <a:lstStyle/>
          <a:p>
            <a:pPr algn="r" indent="0" marL="0">
              <a:buNone/>
            </a:pPr>
            <a:r>
              <a:rPr lang="en-US" sz="1100" b="1" dirty="0">
                <a:solidFill>
                  <a:schemeClr val="accent1"/>
                </a:solidFill>
              </a:rPr>
              <a:t>Go-live 1 Dec</a:t>
            </a:r>
            <a:endParaRPr lang="en-US" sz="1100" dirty="0"/>
          </a:p>
        </p:txBody>
      </p:sp>
      <p:sp>
        <p:nvSpPr>
          <p:cNvPr id="44" name="tight-callout"/>
          <p:cNvSpPr/>
          <p:nvPr/>
        </p:nvSpPr>
        <p:spPr>
          <a:xfrm>
            <a:off x="548640" y="6080760"/>
            <a:ext cx="11064240" cy="320040"/>
          </a:xfrm>
          <a:prstGeom prst="roundRect">
            <a:avLst>
              <a:gd name="adj" fmla="val 28571"/>
            </a:avLst>
          </a:prstGeom>
          <a:solidFill>
            <a:srgbClr val="C0392B">
              <a:alpha val="10000"/>
            </a:srgbClr>
          </a:solidFill>
          <a:ln/>
        </p:spPr>
      </p:sp>
      <p:sp>
        <p:nvSpPr>
          <p:cNvPr id="45" name="text-244"/>
          <p:cNvSpPr txBox="1"/>
          <p:nvPr/>
        </p:nvSpPr>
        <p:spPr>
          <a:xfrm>
            <a:off x="731520" y="6080760"/>
            <a:ext cx="10698480" cy="320040"/>
          </a:xfrm>
          <a:prstGeom prst="rect">
            <a:avLst/>
          </a:prstGeom>
          <a:noFill/>
          <a:ln/>
        </p:spPr>
        <p:txBody>
          <a:bodyPr wrap="square" lIns="0" tIns="0" rIns="0" bIns="0" rtlCol="0" anchor="ctr"/>
          <a:lstStyle/>
          <a:p>
            <a:pPr algn="l" indent="0" marL="0">
              <a:buNone/>
            </a:pPr>
            <a:r>
              <a:rPr lang="en-US" sz="1300" b="1" dirty="0">
                <a:solidFill>
                  <a:schemeClr val="tx2"/>
                </a:solidFill>
              </a:rPr>
              <a:t>Tightest windows: Phase 3 (9 days), Phase 4 (8 days) and Phase 6 (3 days).</a:t>
            </a:r>
            <a:endParaRPr lang="en-US" sz="13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What each phase delivers</a:t>
            </a:r>
            <a:endParaRPr lang="en-US" sz="3000" dirty="0"/>
          </a:p>
        </p:txBody>
      </p:sp>
      <p:graphicFrame>
        <p:nvGraphicFramePr>
          <p:cNvPr id="11" name="phas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188720"/>
                <a:gridCol w="1554480"/>
                <a:gridCol w="4754880"/>
                <a:gridCol w="3566160"/>
              </a:tblGrid>
              <a:tr h="411480">
                <a:tc>
                  <a:txBody>
                    <a:bodyPr/>
                    <a:lstStyle/>
                    <a:p>
                      <a:pPr indent="0" marL="0">
                        <a:buNone/>
                      </a:pPr>
                      <a:r>
                        <a:rPr lang="en-US" sz="1300" b="1" dirty="0">
                          <a:solidFill>
                            <a:srgbClr val="FFFFFF"/>
                          </a:solidFill>
                        </a:rPr>
                        <a:t>Phase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indent="0" marL="0">
                        <a:buNone/>
                      </a:pPr>
                      <a:r>
                        <a:rPr lang="en-US" sz="1300" b="1" dirty="0">
                          <a:solidFill>
                            <a:srgbClr val="FFFFFF"/>
                          </a:solidFill>
                        </a:rPr>
                        <a:t>Dates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indent="0" marL="0">
                        <a:buNone/>
                      </a:pPr>
                      <a:r>
                        <a:rPr lang="en-US" sz="1300" b="1" dirty="0">
                          <a:solidFill>
                            <a:srgbClr val="FFFFFF"/>
                          </a:solidFill>
                        </a:rPr>
                        <a:t>What gets built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0F2A43"/>
                    </a:solidFill>
                  </a:tcPr>
                </a:tc>
                <a:tc>
                  <a:txBody>
                    <a:bodyPr/>
                    <a:lstStyle/>
                    <a:p>
                      <a:pPr indent="0" marL="0">
                        <a:buNone/>
                      </a:pPr>
                      <a:r>
                        <a:rPr lang="en-US" sz="1300" b="1" dirty="0">
                          <a:solidFill>
                            <a:srgbClr val="FFFFFF"/>
                          </a:solidFill>
                        </a:rPr>
                        <a:t>Exit gate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0F2A43"/>
                    </a:solidFill>
                  </a:tcPr>
                </a:tc>
              </a:tr>
              <a:tr h="621792">
                <a:tc>
                  <a:txBody>
                    <a:bodyPr/>
                    <a:lstStyle/>
                    <a:p>
                      <a:pPr indent="0" marL="0">
                        <a:buNone/>
                      </a:pPr>
                      <a:r>
                        <a:rPr lang="en-US" sz="1300" b="1" dirty="0">
                          <a:solidFill>
                            <a:srgbClr val="5F6B7A"/>
                          </a:solidFill>
                        </a:rPr>
                        <a:t>Phase 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13–18 Oct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Charter, repo and Docker baseline, AI guardrails, decision log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Scope signed off; PRD and UML locked as source of truth</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r>
              <a:tr h="621792">
                <a:tc>
                  <a:txBody>
                    <a:bodyPr/>
                    <a:lstStyle/>
                    <a:p>
                      <a:pPr indent="0" marL="0">
                        <a:buNone/>
                      </a:pPr>
                      <a:r>
                        <a:rPr lang="en-US" sz="1300" b="1" dirty="0">
                          <a:solidFill>
                            <a:srgbClr val="6B46C1"/>
                          </a:solidFill>
                        </a:rPr>
                        <a:t>Phase 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2E"/>
                          </a:solidFill>
                        </a:rPr>
                        <a:t>19–27 Oct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2E"/>
                          </a:solidFill>
                        </a:rPr>
                        <a:t>Core schema, RLS baseline, Django bootstrap, API contract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2E"/>
                          </a:solidFill>
                        </a:rPr>
                        <a:t>Boots locally; tenant isolation tests pass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621792">
                <a:tc>
                  <a:txBody>
                    <a:bodyPr/>
                    <a:lstStyle/>
                    <a:p>
                      <a:pPr indent="0" marL="0">
                        <a:buNone/>
                      </a:pPr>
                      <a:r>
                        <a:rPr lang="en-US" sz="1300" b="1" dirty="0">
                          <a:solidFill>
                            <a:srgbClr val="2F855A"/>
                          </a:solidFill>
                        </a:rPr>
                        <a:t>Phase 2</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28 Oct–5 Nov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Roles, license and payment states, individual and school onboarding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One valid subscription path; RBAC boundaries enforced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r>
              <a:tr h="621792">
                <a:tc>
                  <a:txBody>
                    <a:bodyPr/>
                    <a:lstStyle/>
                    <a:p>
                      <a:pPr indent="0" marL="0">
                        <a:buNone/>
                      </a:pPr>
                      <a:r>
                        <a:rPr lang="en-US" sz="1300" b="1" dirty="0">
                          <a:solidFill>
                            <a:srgbClr val="D9822B"/>
                          </a:solidFill>
                        </a:rPr>
                        <a:t>Phase 3</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2E"/>
                          </a:solidFill>
                        </a:rPr>
                        <a:t>6–14 Nov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2E"/>
                          </a:solidFill>
                        </a:rPr>
                        <a:t>Moodle user and cohort tasks with retries, JWT sign-in, auth plugin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2E"/>
                          </a:solidFill>
                        </a:rPr>
                        <a:t>Both onboarding paths provision; signed SSO login works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621792">
                <a:tc>
                  <a:txBody>
                    <a:bodyPr/>
                    <a:lstStyle/>
                    <a:p>
                      <a:pPr indent="0" marL="0">
                        <a:buNone/>
                      </a:pPr>
                      <a:r>
                        <a:rPr lang="en-US" sz="1300" b="1" dirty="0">
                          <a:solidFill>
                            <a:srgbClr val="2B6CB0"/>
                          </a:solidFill>
                        </a:rPr>
                        <a:t>Phase 4</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15–22 Nov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Socratic endpoint, SSE streaming, usage ledger, downgrade rules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First-token latency met; fair use and fallback verified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r>
              <a:tr h="621792">
                <a:tc>
                  <a:txBody>
                    <a:bodyPr/>
                    <a:lstStyle/>
                    <a:p>
                      <a:pPr indent="0" marL="0">
                        <a:buNone/>
                      </a:pPr>
                      <a:r>
                        <a:rPr lang="en-US" sz="1300" b="1" dirty="0">
                          <a:solidFill>
                            <a:srgbClr val="0F2A43"/>
                          </a:solidFill>
                        </a:rPr>
                        <a:t>Phase 5</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2E"/>
                          </a:solidFill>
                        </a:rPr>
                        <a:t>23–28 Nov</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2E"/>
                          </a:solidFill>
                        </a:rPr>
                        <a:t>Payment activation, webhook checks, monitoring, restore runbook</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6212E"/>
                          </a:solidFill>
                        </a:rPr>
                        <a:t>End-to-end paths proven; launch checklist complete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621792">
                <a:tc>
                  <a:txBody>
                    <a:bodyPr/>
                    <a:lstStyle/>
                    <a:p>
                      <a:pPr indent="0" marL="0">
                        <a:buNone/>
                      </a:pPr>
                      <a:r>
                        <a:rPr lang="en-US" sz="1300" b="1" dirty="0">
                          <a:solidFill>
                            <a:srgbClr val="C0392B"/>
                          </a:solidFill>
                        </a:rPr>
                        <a:t>Phase 6</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29 Nov–1 Dec</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Pilot data, controlled launch, change freeze, go/no-go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c>
                  <a:txBody>
                    <a:bodyPr/>
                    <a:lstStyle/>
                    <a:p>
                      <a:pPr indent="0" marL="0">
                        <a:buNone/>
                      </a:pPr>
                      <a:r>
                        <a:rPr lang="en-US" sz="1300" dirty="0">
                          <a:solidFill>
                            <a:srgbClr val="16212E"/>
                          </a:solidFill>
                        </a:rPr>
                        <a:t>First client live; release baseline frozen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rgbClr val="EEF2F6"/>
                    </a:solidFill>
                  </a:tcPr>
                </a:tc>
              </a:tr>
            </a:tbl>
          </a:graphicData>
        </a:graphic>
      </p:graphicFrame>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Scope stays narrow, and every phase closes at a gate</a:t>
            </a:r>
            <a:endParaRPr lang="en-US" sz="3000" dirty="0"/>
          </a:p>
        </p:txBody>
      </p:sp>
      <p:sp>
        <p:nvSpPr>
          <p:cNvPr id="3" name="in-scope"/>
          <p:cNvSpPr/>
          <p:nvPr/>
        </p:nvSpPr>
        <p:spPr>
          <a:xfrm>
            <a:off x="548640" y="1371600"/>
            <a:ext cx="5440680" cy="3063240"/>
          </a:xfrm>
          <a:prstGeom prst="roundRect">
            <a:avLst>
              <a:gd name="adj" fmla="val 2985"/>
            </a:avLst>
          </a:prstGeom>
          <a:solidFill>
            <a:srgbClr val="2F855A">
              <a:alpha val="10000"/>
            </a:srgbClr>
          </a:solidFill>
          <a:ln/>
        </p:spPr>
      </p:sp>
      <p:sp>
        <p:nvSpPr>
          <p:cNvPr id="4" name="badge-245"/>
          <p:cNvSpPr/>
          <p:nvPr/>
        </p:nvSpPr>
        <p:spPr>
          <a:xfrm>
            <a:off x="777240" y="1554480"/>
            <a:ext cx="457200" cy="457200"/>
          </a:xfrm>
          <a:prstGeom prst="ellipse">
            <a:avLst/>
          </a:prstGeom>
          <a:solidFill>
            <a:srgbClr val="2F855A"/>
          </a:solidFill>
          <a:ln/>
        </p:spPr>
      </p:sp>
      <p:pic>
        <p:nvPicPr>
          <p:cNvPr id="5" name="Image 0" descr="icon">    </p:cNvPr>
          <p:cNvPicPr>
            <a:picLocks noChangeAspect="1"/>
          </p:cNvPicPr>
          <p:nvPr/>
        </p:nvPicPr>
        <p:blipFill>
          <a:blip r:embed="rId1"/>
          <a:stretch>
            <a:fillRect/>
          </a:stretch>
        </p:blipFill>
        <p:spPr>
          <a:xfrm>
            <a:off x="896112" y="1673352"/>
            <a:ext cx="219456" cy="219456"/>
          </a:xfrm>
          <a:prstGeom prst="rect">
            <a:avLst/>
          </a:prstGeom>
        </p:spPr>
      </p:pic>
      <p:sp>
        <p:nvSpPr>
          <p:cNvPr id="6" name="text-246"/>
          <p:cNvSpPr txBox="1"/>
          <p:nvPr/>
        </p:nvSpPr>
        <p:spPr>
          <a:xfrm>
            <a:off x="1417320" y="1554480"/>
            <a:ext cx="4389120" cy="457200"/>
          </a:xfrm>
          <a:prstGeom prst="rect">
            <a:avLst/>
          </a:prstGeom>
          <a:noFill/>
          <a:ln/>
        </p:spPr>
        <p:txBody>
          <a:bodyPr wrap="square" lIns="0" tIns="0" rIns="0" bIns="0" rtlCol="0" anchor="ctr"/>
          <a:lstStyle/>
          <a:p>
            <a:pPr algn="l" indent="0" marL="0">
              <a:buNone/>
            </a:pPr>
            <a:r>
              <a:rPr lang="en-US" sz="1800" b="1" dirty="0">
                <a:solidFill>
                  <a:schemeClr val="accent1"/>
                </a:solidFill>
              </a:rPr>
              <a:t>In scope until go-live</a:t>
            </a:r>
            <a:endParaRPr lang="en-US" sz="1800" dirty="0"/>
          </a:p>
        </p:txBody>
      </p:sp>
      <p:sp>
        <p:nvSpPr>
          <p:cNvPr id="7" name="in-list"/>
          <p:cNvSpPr txBox="1"/>
          <p:nvPr/>
        </p:nvSpPr>
        <p:spPr>
          <a:xfrm>
            <a:off x="822960" y="2194560"/>
            <a:ext cx="4937760" cy="21945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Django core with tenant-aware roles and RLS</a:t>
            </a:r>
            <a:endParaRPr lang="en-US" sz="1400" dirty="0"/>
          </a:p>
          <a:p>
            <a:pPr marL="342900" indent="-342900">
              <a:spcAft>
                <a:spcPts val="500"/>
              </a:spcAft>
              <a:buSzPct val="100000"/>
              <a:buChar char="•"/>
            </a:pPr>
            <a:r>
              <a:rPr lang="en-US" sz="1400" dirty="0">
                <a:solidFill>
                  <a:schemeClr val="tx1"/>
                </a:solidFill>
              </a:rPr>
              <a:t>Individual and school onboarding</a:t>
            </a:r>
            <a:endParaRPr lang="en-US" sz="1400" dirty="0"/>
          </a:p>
          <a:p>
            <a:pPr marL="342900" indent="-342900">
              <a:spcAft>
                <a:spcPts val="500"/>
              </a:spcAft>
              <a:buSzPct val="100000"/>
              <a:buChar char="•"/>
            </a:pPr>
            <a:r>
              <a:rPr lang="en-US" sz="1400" dirty="0">
                <a:solidFill>
                  <a:schemeClr val="tx1"/>
                </a:solidFill>
              </a:rPr>
              <a:t>Payment to license activation</a:t>
            </a:r>
            <a:endParaRPr lang="en-US" sz="1400" dirty="0"/>
          </a:p>
          <a:p>
            <a:pPr marL="342900" indent="-342900">
              <a:spcAft>
                <a:spcPts val="500"/>
              </a:spcAft>
              <a:buSzPct val="100000"/>
              <a:buChar char="•"/>
            </a:pPr>
            <a:r>
              <a:rPr lang="en-US" sz="1400" dirty="0">
                <a:solidFill>
                  <a:schemeClr val="tx1"/>
                </a:solidFill>
              </a:rPr>
              <a:t>Moodle provisioning and JWT sign-in</a:t>
            </a:r>
            <a:endParaRPr lang="en-US" sz="1400" dirty="0"/>
          </a:p>
          <a:p>
            <a:pPr marL="342900" indent="-342900">
              <a:spcAft>
                <a:spcPts val="500"/>
              </a:spcAft>
              <a:buSzPct val="100000"/>
              <a:buChar char="•"/>
            </a:pPr>
            <a:r>
              <a:rPr lang="en-US" sz="1400" dirty="0">
                <a:solidFill>
                  <a:schemeClr val="tx1"/>
                </a:solidFill>
              </a:rPr>
              <a:t>Socratic AI with fair-use controls</a:t>
            </a:r>
            <a:endParaRPr lang="en-US" sz="1400" dirty="0"/>
          </a:p>
          <a:p>
            <a:pPr marL="342900" indent="-342900">
              <a:spcAft>
                <a:spcPts val="500"/>
              </a:spcAft>
              <a:buSzPct val="100000"/>
              <a:buChar char="•"/>
            </a:pPr>
            <a:r>
              <a:rPr lang="en-US" sz="1400" dirty="0">
                <a:solidFill>
                  <a:schemeClr val="tx1"/>
                </a:solidFill>
              </a:rPr>
              <a:t>Monitoring, restore plan, launch checklist</a:t>
            </a:r>
            <a:endParaRPr lang="en-US" sz="1400" dirty="0"/>
          </a:p>
        </p:txBody>
      </p:sp>
      <p:sp>
        <p:nvSpPr>
          <p:cNvPr id="8" name="out-scope"/>
          <p:cNvSpPr/>
          <p:nvPr/>
        </p:nvSpPr>
        <p:spPr>
          <a:xfrm>
            <a:off x="6172200" y="1371600"/>
            <a:ext cx="5440680" cy="3063240"/>
          </a:xfrm>
          <a:prstGeom prst="roundRect">
            <a:avLst>
              <a:gd name="adj" fmla="val 2985"/>
            </a:avLst>
          </a:prstGeom>
          <a:solidFill>
            <a:srgbClr val="C0392B">
              <a:alpha val="10000"/>
            </a:srgbClr>
          </a:solidFill>
          <a:ln/>
        </p:spPr>
      </p:sp>
      <p:sp>
        <p:nvSpPr>
          <p:cNvPr id="9" name="badge-247"/>
          <p:cNvSpPr/>
          <p:nvPr/>
        </p:nvSpPr>
        <p:spPr>
          <a:xfrm>
            <a:off x="6400800" y="1554480"/>
            <a:ext cx="457200" cy="457200"/>
          </a:xfrm>
          <a:prstGeom prst="ellipse">
            <a:avLst/>
          </a:prstGeom>
          <a:solidFill>
            <a:srgbClr val="C0392B"/>
          </a:solidFill>
          <a:ln/>
        </p:spPr>
      </p:sp>
      <p:pic>
        <p:nvPicPr>
          <p:cNvPr id="10" name="Image 1" descr="icon">    </p:cNvPr>
          <p:cNvPicPr>
            <a:picLocks noChangeAspect="1"/>
          </p:cNvPicPr>
          <p:nvPr/>
        </p:nvPicPr>
        <p:blipFill>
          <a:blip r:embed="rId2"/>
          <a:stretch>
            <a:fillRect/>
          </a:stretch>
        </p:blipFill>
        <p:spPr>
          <a:xfrm>
            <a:off x="6519672" y="1673352"/>
            <a:ext cx="219456" cy="219456"/>
          </a:xfrm>
          <a:prstGeom prst="rect">
            <a:avLst/>
          </a:prstGeom>
        </p:spPr>
      </p:pic>
      <p:sp>
        <p:nvSpPr>
          <p:cNvPr id="11" name="text-248"/>
          <p:cNvSpPr txBox="1"/>
          <p:nvPr/>
        </p:nvSpPr>
        <p:spPr>
          <a:xfrm>
            <a:off x="7040880" y="1554480"/>
            <a:ext cx="4389120" cy="457200"/>
          </a:xfrm>
          <a:prstGeom prst="rect">
            <a:avLst/>
          </a:prstGeom>
          <a:noFill/>
          <a:ln/>
        </p:spPr>
        <p:txBody>
          <a:bodyPr wrap="square" lIns="0" tIns="0" rIns="0" bIns="0" rtlCol="0" anchor="ctr"/>
          <a:lstStyle/>
          <a:p>
            <a:pPr algn="l" indent="0" marL="0">
              <a:buNone/>
            </a:pPr>
            <a:r>
              <a:rPr lang="en-US" sz="1800" b="1" dirty="0">
                <a:solidFill>
                  <a:schemeClr val="accent5"/>
                </a:solidFill>
              </a:rPr>
              <a:t>Out of scope until after go-live</a:t>
            </a:r>
            <a:endParaRPr lang="en-US" sz="1800" dirty="0"/>
          </a:p>
        </p:txBody>
      </p:sp>
      <p:sp>
        <p:nvSpPr>
          <p:cNvPr id="12" name="out-list"/>
          <p:cNvSpPr txBox="1"/>
          <p:nvPr/>
        </p:nvSpPr>
        <p:spPr>
          <a:xfrm>
            <a:off x="6446520" y="2194560"/>
            <a:ext cx="4937760" cy="21945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SME and NGO CRM expansion</a:t>
            </a:r>
            <a:endParaRPr lang="en-US" sz="1400" dirty="0"/>
          </a:p>
          <a:p>
            <a:pPr marL="342900" indent="-342900">
              <a:spcAft>
                <a:spcPts val="500"/>
              </a:spcAft>
              <a:buSzPct val="100000"/>
              <a:buChar char="•"/>
            </a:pPr>
            <a:r>
              <a:rPr lang="en-US" sz="1400" dirty="0">
                <a:solidFill>
                  <a:schemeClr val="tx1"/>
                </a:solidFill>
              </a:rPr>
              <a:t>Enterprise project-management modules</a:t>
            </a:r>
            <a:endParaRPr lang="en-US" sz="1400" dirty="0"/>
          </a:p>
          <a:p>
            <a:pPr marL="342900" indent="-342900">
              <a:spcAft>
                <a:spcPts val="500"/>
              </a:spcAft>
              <a:buSzPct val="100000"/>
              <a:buChar char="•"/>
            </a:pPr>
            <a:r>
              <a:rPr lang="en-US" sz="1400" dirty="0">
                <a:solidFill>
                  <a:schemeClr val="tx1"/>
                </a:solidFill>
              </a:rPr>
              <a:t>Broad CRM redesign or extra AI features</a:t>
            </a:r>
            <a:endParaRPr lang="en-US" sz="1400" dirty="0"/>
          </a:p>
          <a:p>
            <a:pPr marL="342900" indent="-342900">
              <a:spcAft>
                <a:spcPts val="500"/>
              </a:spcAft>
              <a:buSzPct val="100000"/>
              <a:buChar char="•"/>
            </a:pPr>
            <a:r>
              <a:rPr lang="en-US" sz="1400" dirty="0">
                <a:solidFill>
                  <a:schemeClr val="tx1"/>
                </a:solidFill>
              </a:rPr>
              <a:t>Multi-region deployment</a:t>
            </a:r>
            <a:endParaRPr lang="en-US" sz="1400" dirty="0"/>
          </a:p>
          <a:p>
            <a:pPr marL="342900" indent="-342900">
              <a:spcAft>
                <a:spcPts val="500"/>
              </a:spcAft>
              <a:buSzPct val="100000"/>
              <a:buChar char="•"/>
            </a:pPr>
            <a:r>
              <a:rPr lang="en-US" sz="1400" dirty="0">
                <a:solidFill>
                  <a:schemeClr val="tx1"/>
                </a:solidFill>
              </a:rPr>
              <a:t>Refactors unrelated to the active phase</a:t>
            </a:r>
            <a:endParaRPr lang="en-US" sz="1400" dirty="0"/>
          </a:p>
          <a:p>
            <a:pPr marL="342900" indent="-342900">
              <a:spcAft>
                <a:spcPts val="500"/>
              </a:spcAft>
              <a:buSzPct val="100000"/>
              <a:buChar char="•"/>
            </a:pPr>
            <a:r>
              <a:rPr lang="en-US" sz="1400" dirty="0">
                <a:solidFill>
                  <a:schemeClr val="tx1"/>
                </a:solidFill>
              </a:rPr>
              <a:t>Anything without a PRD requirement ID</a:t>
            </a:r>
            <a:endParaRPr lang="en-US" sz="1400" dirty="0"/>
          </a:p>
        </p:txBody>
      </p:sp>
      <p:sp>
        <p:nvSpPr>
          <p:cNvPr id="13" name="text-249"/>
          <p:cNvSpPr txBox="1"/>
          <p:nvPr/>
        </p:nvSpPr>
        <p:spPr>
          <a:xfrm>
            <a:off x="548640" y="4663440"/>
            <a:ext cx="11064240" cy="320040"/>
          </a:xfrm>
          <a:prstGeom prst="rect">
            <a:avLst/>
          </a:prstGeom>
          <a:noFill/>
          <a:ln/>
        </p:spPr>
        <p:txBody>
          <a:bodyPr wrap="square" lIns="0" tIns="0" rIns="0" bIns="0" rtlCol="0" anchor="t"/>
          <a:lstStyle/>
          <a:p>
            <a:pPr algn="l" indent="0" marL="0">
              <a:buNone/>
            </a:pPr>
            <a:r>
              <a:rPr lang="en-US" sz="1600" b="1" dirty="0">
                <a:solidFill>
                  <a:schemeClr val="tx2"/>
                </a:solidFill>
              </a:rPr>
              <a:t>Every phase closes the same way</a:t>
            </a:r>
            <a:endParaRPr lang="en-US" sz="1600" dirty="0"/>
          </a:p>
        </p:txBody>
      </p:sp>
      <p:sp>
        <p:nvSpPr>
          <p:cNvPr id="14" name="gate-1"/>
          <p:cNvSpPr/>
          <p:nvPr/>
        </p:nvSpPr>
        <p:spPr>
          <a:xfrm>
            <a:off x="548640" y="5120640"/>
            <a:ext cx="2560320" cy="914400"/>
          </a:xfrm>
          <a:prstGeom prst="roundRect">
            <a:avLst>
              <a:gd name="adj" fmla="val 10000"/>
            </a:avLst>
          </a:prstGeom>
          <a:solidFill>
            <a:srgbClr val="0F2A43"/>
          </a:solidFill>
          <a:ln/>
        </p:spPr>
      </p:sp>
      <p:sp>
        <p:nvSpPr>
          <p:cNvPr id="15" name="text-250"/>
          <p:cNvSpPr txBox="1"/>
          <p:nvPr/>
        </p:nvSpPr>
        <p:spPr>
          <a:xfrm>
            <a:off x="731520" y="512064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Tasks done, with evidence</a:t>
            </a:r>
            <a:endParaRPr lang="en-US" sz="1400" dirty="0"/>
          </a:p>
        </p:txBody>
      </p:sp>
      <p:sp>
        <p:nvSpPr>
          <p:cNvPr id="16" name="arrow-251"/>
          <p:cNvSpPr/>
          <p:nvPr/>
        </p:nvSpPr>
        <p:spPr>
          <a:xfrm>
            <a:off x="3108960" y="5577840"/>
            <a:ext cx="274320" cy="0"/>
          </a:xfrm>
          <a:prstGeom prst="line">
            <a:avLst/>
          </a:prstGeom>
          <a:noFill/>
          <a:ln w="22225">
            <a:solidFill>
              <a:schemeClr val="tx2"/>
            </a:solidFill>
            <a:prstDash val="solid"/>
            <a:tailEnd type="triangle"/>
          </a:ln>
        </p:spPr>
      </p:sp>
      <p:sp>
        <p:nvSpPr>
          <p:cNvPr id="17" name="gate-2"/>
          <p:cNvSpPr/>
          <p:nvPr/>
        </p:nvSpPr>
        <p:spPr>
          <a:xfrm>
            <a:off x="3383280" y="5120640"/>
            <a:ext cx="2560320" cy="914400"/>
          </a:xfrm>
          <a:prstGeom prst="roundRect">
            <a:avLst>
              <a:gd name="adj" fmla="val 10000"/>
            </a:avLst>
          </a:prstGeom>
          <a:solidFill>
            <a:srgbClr val="0F2A43"/>
          </a:solidFill>
          <a:ln/>
        </p:spPr>
      </p:sp>
      <p:sp>
        <p:nvSpPr>
          <p:cNvPr id="18" name="text-252"/>
          <p:cNvSpPr txBox="1"/>
          <p:nvPr/>
        </p:nvSpPr>
        <p:spPr>
          <a:xfrm>
            <a:off x="3566160" y="512064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Exit criteria checked</a:t>
            </a:r>
            <a:endParaRPr lang="en-US" sz="1400" dirty="0"/>
          </a:p>
        </p:txBody>
      </p:sp>
      <p:sp>
        <p:nvSpPr>
          <p:cNvPr id="19" name="arrow-253"/>
          <p:cNvSpPr/>
          <p:nvPr/>
        </p:nvSpPr>
        <p:spPr>
          <a:xfrm>
            <a:off x="5943600" y="5577840"/>
            <a:ext cx="274320" cy="0"/>
          </a:xfrm>
          <a:prstGeom prst="line">
            <a:avLst/>
          </a:prstGeom>
          <a:noFill/>
          <a:ln w="22225">
            <a:solidFill>
              <a:schemeClr val="tx2"/>
            </a:solidFill>
            <a:prstDash val="solid"/>
            <a:tailEnd type="triangle"/>
          </a:ln>
        </p:spPr>
      </p:sp>
      <p:sp>
        <p:nvSpPr>
          <p:cNvPr id="20" name="gate-3"/>
          <p:cNvSpPr/>
          <p:nvPr/>
        </p:nvSpPr>
        <p:spPr>
          <a:xfrm>
            <a:off x="6217920" y="5120640"/>
            <a:ext cx="2560320" cy="914400"/>
          </a:xfrm>
          <a:prstGeom prst="roundRect">
            <a:avLst>
              <a:gd name="adj" fmla="val 10000"/>
            </a:avLst>
          </a:prstGeom>
          <a:solidFill>
            <a:srgbClr val="0F2A43"/>
          </a:solidFill>
          <a:ln/>
        </p:spPr>
      </p:sp>
      <p:sp>
        <p:nvSpPr>
          <p:cNvPr id="21" name="text-254"/>
          <p:cNvSpPr txBox="1"/>
          <p:nvPr/>
        </p:nvSpPr>
        <p:spPr>
          <a:xfrm>
            <a:off x="6400800" y="512064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Gate record: risks, unknowns, scope</a:t>
            </a:r>
            <a:endParaRPr lang="en-US" sz="1400" dirty="0"/>
          </a:p>
        </p:txBody>
      </p:sp>
      <p:sp>
        <p:nvSpPr>
          <p:cNvPr id="22" name="arrow-255"/>
          <p:cNvSpPr/>
          <p:nvPr/>
        </p:nvSpPr>
        <p:spPr>
          <a:xfrm>
            <a:off x="8778240" y="5577840"/>
            <a:ext cx="274320" cy="0"/>
          </a:xfrm>
          <a:prstGeom prst="line">
            <a:avLst/>
          </a:prstGeom>
          <a:noFill/>
          <a:ln w="22225">
            <a:solidFill>
              <a:schemeClr val="tx2"/>
            </a:solidFill>
            <a:prstDash val="solid"/>
            <a:tailEnd type="triangle"/>
          </a:ln>
        </p:spPr>
      </p:sp>
      <p:sp>
        <p:nvSpPr>
          <p:cNvPr id="23" name="gate-4"/>
          <p:cNvSpPr/>
          <p:nvPr/>
        </p:nvSpPr>
        <p:spPr>
          <a:xfrm>
            <a:off x="9052560" y="5120640"/>
            <a:ext cx="2560320" cy="914400"/>
          </a:xfrm>
          <a:prstGeom prst="roundRect">
            <a:avLst>
              <a:gd name="adj" fmla="val 10000"/>
            </a:avLst>
          </a:prstGeom>
          <a:solidFill>
            <a:srgbClr val="0F2A43"/>
          </a:solidFill>
          <a:ln/>
        </p:spPr>
      </p:sp>
      <p:sp>
        <p:nvSpPr>
          <p:cNvPr id="24" name="text-256"/>
          <p:cNvSpPr txBox="1"/>
          <p:nvPr/>
        </p:nvSpPr>
        <p:spPr>
          <a:xfrm>
            <a:off x="9235440" y="5120640"/>
            <a:ext cx="2194560" cy="914400"/>
          </a:xfrm>
          <a:prstGeom prst="rect">
            <a:avLst/>
          </a:prstGeom>
          <a:noFill/>
          <a:ln/>
        </p:spPr>
        <p:txBody>
          <a:bodyPr wrap="square" lIns="0" tIns="0" rIns="0" bIns="0" rtlCol="0" anchor="ctr"/>
          <a:lstStyle/>
          <a:p>
            <a:pPr algn="ctr" indent="0" marL="0">
              <a:buNone/>
            </a:pPr>
            <a:r>
              <a:rPr lang="en-US" sz="1400" b="1" dirty="0">
                <a:solidFill>
                  <a:schemeClr val="bg1"/>
                </a:solidFill>
              </a:rPr>
              <a:t>Go or no-go for next phase</a:t>
            </a:r>
            <a:endParaRPr lang="en-US" sz="14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Ten rules keep AI-assisted coding on scope</a:t>
            </a:r>
            <a:endParaRPr lang="en-US" sz="3000" dirty="0"/>
          </a:p>
        </p:txBody>
      </p:sp>
      <p:sp>
        <p:nvSpPr>
          <p:cNvPr id="3" name="guard-1"/>
          <p:cNvSpPr/>
          <p:nvPr/>
        </p:nvSpPr>
        <p:spPr>
          <a:xfrm>
            <a:off x="548640" y="1417320"/>
            <a:ext cx="2057400" cy="2148840"/>
          </a:xfrm>
          <a:prstGeom prst="roundRect">
            <a:avLst>
              <a:gd name="adj" fmla="val 4444"/>
            </a:avLst>
          </a:prstGeom>
          <a:solidFill>
            <a:srgbClr val="EEF2F6"/>
          </a:solidFill>
          <a:ln/>
        </p:spPr>
      </p:sp>
      <p:sp>
        <p:nvSpPr>
          <p:cNvPr id="4" name="guard-num-257"/>
          <p:cNvSpPr/>
          <p:nvPr/>
        </p:nvSpPr>
        <p:spPr>
          <a:xfrm>
            <a:off x="731520" y="1600200"/>
            <a:ext cx="457200" cy="457200"/>
          </a:xfrm>
          <a:prstGeom prst="ellipse">
            <a:avLst/>
          </a:prstGeom>
          <a:solidFill>
            <a:srgbClr val="0F2A43"/>
          </a:solidFill>
          <a:ln/>
        </p:spPr>
      </p:sp>
      <p:sp>
        <p:nvSpPr>
          <p:cNvPr id="5" name="text-258"/>
          <p:cNvSpPr txBox="1"/>
          <p:nvPr/>
        </p:nvSpPr>
        <p:spPr>
          <a:xfrm>
            <a:off x="731520" y="1600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259"/>
          <p:cNvSpPr txBox="1"/>
          <p:nvPr/>
        </p:nvSpPr>
        <p:spPr>
          <a:xfrm>
            <a:off x="731520" y="224028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Requirement-first</a:t>
            </a:r>
            <a:endParaRPr lang="en-US" sz="1500" dirty="0"/>
          </a:p>
        </p:txBody>
      </p:sp>
      <p:sp>
        <p:nvSpPr>
          <p:cNvPr id="7" name="text-260"/>
          <p:cNvSpPr txBox="1"/>
          <p:nvPr/>
        </p:nvSpPr>
        <p:spPr>
          <a:xfrm>
            <a:off x="731520" y="278892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Every output traces to a PRD or UML item</a:t>
            </a:r>
            <a:endParaRPr lang="en-US" sz="1200" dirty="0"/>
          </a:p>
        </p:txBody>
      </p:sp>
      <p:sp>
        <p:nvSpPr>
          <p:cNvPr id="8" name="guard-2"/>
          <p:cNvSpPr/>
          <p:nvPr/>
        </p:nvSpPr>
        <p:spPr>
          <a:xfrm>
            <a:off x="2811780" y="1417320"/>
            <a:ext cx="2057400" cy="2148840"/>
          </a:xfrm>
          <a:prstGeom prst="roundRect">
            <a:avLst>
              <a:gd name="adj" fmla="val 4444"/>
            </a:avLst>
          </a:prstGeom>
          <a:solidFill>
            <a:srgbClr val="EEF2F6"/>
          </a:solidFill>
          <a:ln/>
        </p:spPr>
      </p:sp>
      <p:sp>
        <p:nvSpPr>
          <p:cNvPr id="9" name="guard-num-261"/>
          <p:cNvSpPr/>
          <p:nvPr/>
        </p:nvSpPr>
        <p:spPr>
          <a:xfrm>
            <a:off x="2994660" y="1600200"/>
            <a:ext cx="457200" cy="457200"/>
          </a:xfrm>
          <a:prstGeom prst="ellipse">
            <a:avLst/>
          </a:prstGeom>
          <a:solidFill>
            <a:srgbClr val="0F2A43"/>
          </a:solidFill>
          <a:ln/>
        </p:spPr>
      </p:sp>
      <p:sp>
        <p:nvSpPr>
          <p:cNvPr id="10" name="text-262"/>
          <p:cNvSpPr txBox="1"/>
          <p:nvPr/>
        </p:nvSpPr>
        <p:spPr>
          <a:xfrm>
            <a:off x="2994660" y="1600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263"/>
          <p:cNvSpPr txBox="1"/>
          <p:nvPr/>
        </p:nvSpPr>
        <p:spPr>
          <a:xfrm>
            <a:off x="2994660" y="224028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Phase-lock</a:t>
            </a:r>
            <a:endParaRPr lang="en-US" sz="1500" dirty="0"/>
          </a:p>
        </p:txBody>
      </p:sp>
      <p:sp>
        <p:nvSpPr>
          <p:cNvPr id="12" name="text-264"/>
          <p:cNvSpPr txBox="1"/>
          <p:nvPr/>
        </p:nvSpPr>
        <p:spPr>
          <a:xfrm>
            <a:off x="2994660" y="278892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Only the current phase and task</a:t>
            </a:r>
            <a:endParaRPr lang="en-US" sz="1200" dirty="0"/>
          </a:p>
        </p:txBody>
      </p:sp>
      <p:sp>
        <p:nvSpPr>
          <p:cNvPr id="13" name="guard-3"/>
          <p:cNvSpPr/>
          <p:nvPr/>
        </p:nvSpPr>
        <p:spPr>
          <a:xfrm>
            <a:off x="5074920" y="1417320"/>
            <a:ext cx="2057400" cy="2148840"/>
          </a:xfrm>
          <a:prstGeom prst="roundRect">
            <a:avLst>
              <a:gd name="adj" fmla="val 4444"/>
            </a:avLst>
          </a:prstGeom>
          <a:solidFill>
            <a:srgbClr val="EEF2F6"/>
          </a:solidFill>
          <a:ln/>
        </p:spPr>
      </p:sp>
      <p:sp>
        <p:nvSpPr>
          <p:cNvPr id="14" name="guard-num-265"/>
          <p:cNvSpPr/>
          <p:nvPr/>
        </p:nvSpPr>
        <p:spPr>
          <a:xfrm>
            <a:off x="5257800" y="1600200"/>
            <a:ext cx="457200" cy="457200"/>
          </a:xfrm>
          <a:prstGeom prst="ellipse">
            <a:avLst/>
          </a:prstGeom>
          <a:solidFill>
            <a:srgbClr val="0F2A43"/>
          </a:solidFill>
          <a:ln/>
        </p:spPr>
      </p:sp>
      <p:sp>
        <p:nvSpPr>
          <p:cNvPr id="15" name="text-266"/>
          <p:cNvSpPr txBox="1"/>
          <p:nvPr/>
        </p:nvSpPr>
        <p:spPr>
          <a:xfrm>
            <a:off x="5257800" y="1600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267"/>
          <p:cNvSpPr txBox="1"/>
          <p:nvPr/>
        </p:nvSpPr>
        <p:spPr>
          <a:xfrm>
            <a:off x="5257800" y="224028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One issue per task</a:t>
            </a:r>
            <a:endParaRPr lang="en-US" sz="1500" dirty="0"/>
          </a:p>
        </p:txBody>
      </p:sp>
      <p:sp>
        <p:nvSpPr>
          <p:cNvPr id="17" name="text-268"/>
          <p:cNvSpPr txBox="1"/>
          <p:nvPr/>
        </p:nvSpPr>
        <p:spPr>
          <a:xfrm>
            <a:off x="5257800" y="278892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One crisp acceptance criterion each</a:t>
            </a:r>
            <a:endParaRPr lang="en-US" sz="1200" dirty="0"/>
          </a:p>
        </p:txBody>
      </p:sp>
      <p:sp>
        <p:nvSpPr>
          <p:cNvPr id="18" name="guard-4"/>
          <p:cNvSpPr/>
          <p:nvPr/>
        </p:nvSpPr>
        <p:spPr>
          <a:xfrm>
            <a:off x="7338060" y="1417320"/>
            <a:ext cx="2057400" cy="2148840"/>
          </a:xfrm>
          <a:prstGeom prst="roundRect">
            <a:avLst>
              <a:gd name="adj" fmla="val 4444"/>
            </a:avLst>
          </a:prstGeom>
          <a:solidFill>
            <a:srgbClr val="EEF2F6"/>
          </a:solidFill>
          <a:ln/>
        </p:spPr>
      </p:sp>
      <p:sp>
        <p:nvSpPr>
          <p:cNvPr id="19" name="guard-num-269"/>
          <p:cNvSpPr/>
          <p:nvPr/>
        </p:nvSpPr>
        <p:spPr>
          <a:xfrm>
            <a:off x="7520940" y="1600200"/>
            <a:ext cx="457200" cy="457200"/>
          </a:xfrm>
          <a:prstGeom prst="ellipse">
            <a:avLst/>
          </a:prstGeom>
          <a:solidFill>
            <a:srgbClr val="0F2A43"/>
          </a:solidFill>
          <a:ln/>
        </p:spPr>
      </p:sp>
      <p:sp>
        <p:nvSpPr>
          <p:cNvPr id="20" name="text-270"/>
          <p:cNvSpPr txBox="1"/>
          <p:nvPr/>
        </p:nvSpPr>
        <p:spPr>
          <a:xfrm>
            <a:off x="7520940" y="1600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271"/>
          <p:cNvSpPr txBox="1"/>
          <p:nvPr/>
        </p:nvSpPr>
        <p:spPr>
          <a:xfrm>
            <a:off x="7520940" y="224028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No speculation</a:t>
            </a:r>
            <a:endParaRPr lang="en-US" sz="1500" dirty="0"/>
          </a:p>
        </p:txBody>
      </p:sp>
      <p:sp>
        <p:nvSpPr>
          <p:cNvPr id="22" name="text-272"/>
          <p:cNvSpPr txBox="1"/>
          <p:nvPr/>
        </p:nvSpPr>
        <p:spPr>
          <a:xfrm>
            <a:off x="7520940" y="278892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No frameworks built "just in case"</a:t>
            </a:r>
            <a:endParaRPr lang="en-US" sz="1200" dirty="0"/>
          </a:p>
        </p:txBody>
      </p:sp>
      <p:sp>
        <p:nvSpPr>
          <p:cNvPr id="23" name="guard-5"/>
          <p:cNvSpPr/>
          <p:nvPr/>
        </p:nvSpPr>
        <p:spPr>
          <a:xfrm>
            <a:off x="9601200" y="1417320"/>
            <a:ext cx="2057400" cy="2148840"/>
          </a:xfrm>
          <a:prstGeom prst="roundRect">
            <a:avLst>
              <a:gd name="adj" fmla="val 4444"/>
            </a:avLst>
          </a:prstGeom>
          <a:solidFill>
            <a:srgbClr val="EEF2F6"/>
          </a:solidFill>
          <a:ln/>
        </p:spPr>
      </p:sp>
      <p:sp>
        <p:nvSpPr>
          <p:cNvPr id="24" name="guard-num-273"/>
          <p:cNvSpPr/>
          <p:nvPr/>
        </p:nvSpPr>
        <p:spPr>
          <a:xfrm>
            <a:off x="9784080" y="1600200"/>
            <a:ext cx="457200" cy="457200"/>
          </a:xfrm>
          <a:prstGeom prst="ellipse">
            <a:avLst/>
          </a:prstGeom>
          <a:solidFill>
            <a:srgbClr val="0F2A43"/>
          </a:solidFill>
          <a:ln/>
        </p:spPr>
      </p:sp>
      <p:sp>
        <p:nvSpPr>
          <p:cNvPr id="25" name="text-274"/>
          <p:cNvSpPr txBox="1"/>
          <p:nvPr/>
        </p:nvSpPr>
        <p:spPr>
          <a:xfrm>
            <a:off x="9784080" y="16002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275"/>
          <p:cNvSpPr txBox="1"/>
          <p:nvPr/>
        </p:nvSpPr>
        <p:spPr>
          <a:xfrm>
            <a:off x="9784080" y="224028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Evidence first</a:t>
            </a:r>
            <a:endParaRPr lang="en-US" sz="1500" dirty="0"/>
          </a:p>
        </p:txBody>
      </p:sp>
      <p:sp>
        <p:nvSpPr>
          <p:cNvPr id="27" name="text-276"/>
          <p:cNvSpPr txBox="1"/>
          <p:nvPr/>
        </p:nvSpPr>
        <p:spPr>
          <a:xfrm>
            <a:off x="9784080" y="278892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Tests or validation output before merge</a:t>
            </a:r>
            <a:endParaRPr lang="en-US" sz="1200" dirty="0"/>
          </a:p>
        </p:txBody>
      </p:sp>
      <p:sp>
        <p:nvSpPr>
          <p:cNvPr id="28" name="guard-6"/>
          <p:cNvSpPr/>
          <p:nvPr/>
        </p:nvSpPr>
        <p:spPr>
          <a:xfrm>
            <a:off x="548640" y="3794760"/>
            <a:ext cx="2057400" cy="2148840"/>
          </a:xfrm>
          <a:prstGeom prst="roundRect">
            <a:avLst>
              <a:gd name="adj" fmla="val 4444"/>
            </a:avLst>
          </a:prstGeom>
          <a:solidFill>
            <a:srgbClr val="EEF2F6"/>
          </a:solidFill>
          <a:ln/>
        </p:spPr>
      </p:sp>
      <p:sp>
        <p:nvSpPr>
          <p:cNvPr id="29" name="guard-num-277"/>
          <p:cNvSpPr/>
          <p:nvPr/>
        </p:nvSpPr>
        <p:spPr>
          <a:xfrm>
            <a:off x="731520" y="3977640"/>
            <a:ext cx="457200" cy="457200"/>
          </a:xfrm>
          <a:prstGeom prst="ellipse">
            <a:avLst/>
          </a:prstGeom>
          <a:solidFill>
            <a:srgbClr val="C0392B"/>
          </a:solidFill>
          <a:ln/>
        </p:spPr>
      </p:sp>
      <p:sp>
        <p:nvSpPr>
          <p:cNvPr id="30" name="text-278"/>
          <p:cNvSpPr txBox="1"/>
          <p:nvPr/>
        </p:nvSpPr>
        <p:spPr>
          <a:xfrm>
            <a:off x="731520" y="3977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text-279"/>
          <p:cNvSpPr txBox="1"/>
          <p:nvPr/>
        </p:nvSpPr>
        <p:spPr>
          <a:xfrm>
            <a:off x="731520" y="461772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Security first</a:t>
            </a:r>
            <a:endParaRPr lang="en-US" sz="1500" dirty="0"/>
          </a:p>
        </p:txBody>
      </p:sp>
      <p:sp>
        <p:nvSpPr>
          <p:cNvPr id="32" name="text-280"/>
          <p:cNvSpPr txBox="1"/>
          <p:nvPr/>
        </p:nvSpPr>
        <p:spPr>
          <a:xfrm>
            <a:off x="731520" y="516636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No public FastAPI, tenant or webhook bypass</a:t>
            </a:r>
            <a:endParaRPr lang="en-US" sz="1200" dirty="0"/>
          </a:p>
        </p:txBody>
      </p:sp>
      <p:sp>
        <p:nvSpPr>
          <p:cNvPr id="33" name="guard-7"/>
          <p:cNvSpPr/>
          <p:nvPr/>
        </p:nvSpPr>
        <p:spPr>
          <a:xfrm>
            <a:off x="2811780" y="3794760"/>
            <a:ext cx="2057400" cy="2148840"/>
          </a:xfrm>
          <a:prstGeom prst="roundRect">
            <a:avLst>
              <a:gd name="adj" fmla="val 4444"/>
            </a:avLst>
          </a:prstGeom>
          <a:solidFill>
            <a:srgbClr val="EEF2F6"/>
          </a:solidFill>
          <a:ln/>
        </p:spPr>
      </p:sp>
      <p:sp>
        <p:nvSpPr>
          <p:cNvPr id="34" name="guard-num-281"/>
          <p:cNvSpPr/>
          <p:nvPr/>
        </p:nvSpPr>
        <p:spPr>
          <a:xfrm>
            <a:off x="2994660" y="3977640"/>
            <a:ext cx="457200" cy="457200"/>
          </a:xfrm>
          <a:prstGeom prst="ellipse">
            <a:avLst/>
          </a:prstGeom>
          <a:solidFill>
            <a:srgbClr val="0F2A43"/>
          </a:solidFill>
          <a:ln/>
        </p:spPr>
      </p:sp>
      <p:sp>
        <p:nvSpPr>
          <p:cNvPr id="35" name="text-282"/>
          <p:cNvSpPr txBox="1"/>
          <p:nvPr/>
        </p:nvSpPr>
        <p:spPr>
          <a:xfrm>
            <a:off x="2994660" y="3977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6" name="text-283"/>
          <p:cNvSpPr txBox="1"/>
          <p:nvPr/>
        </p:nvSpPr>
        <p:spPr>
          <a:xfrm>
            <a:off x="2994660" y="461772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No scope creep</a:t>
            </a:r>
            <a:endParaRPr lang="en-US" sz="1500" dirty="0"/>
          </a:p>
        </p:txBody>
      </p:sp>
      <p:sp>
        <p:nvSpPr>
          <p:cNvPr id="37" name="text-284"/>
          <p:cNvSpPr txBox="1"/>
          <p:nvPr/>
        </p:nvSpPr>
        <p:spPr>
          <a:xfrm>
            <a:off x="2994660" y="516636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Drifting? Stop and reframe the task</a:t>
            </a:r>
            <a:endParaRPr lang="en-US" sz="1200" dirty="0"/>
          </a:p>
        </p:txBody>
      </p:sp>
      <p:sp>
        <p:nvSpPr>
          <p:cNvPr id="38" name="guard-8"/>
          <p:cNvSpPr/>
          <p:nvPr/>
        </p:nvSpPr>
        <p:spPr>
          <a:xfrm>
            <a:off x="5074920" y="3794760"/>
            <a:ext cx="2057400" cy="2148840"/>
          </a:xfrm>
          <a:prstGeom prst="roundRect">
            <a:avLst>
              <a:gd name="adj" fmla="val 4444"/>
            </a:avLst>
          </a:prstGeom>
          <a:solidFill>
            <a:srgbClr val="EEF2F6"/>
          </a:solidFill>
          <a:ln/>
        </p:spPr>
      </p:sp>
      <p:sp>
        <p:nvSpPr>
          <p:cNvPr id="39" name="guard-num-285"/>
          <p:cNvSpPr/>
          <p:nvPr/>
        </p:nvSpPr>
        <p:spPr>
          <a:xfrm>
            <a:off x="5257800" y="3977640"/>
            <a:ext cx="457200" cy="457200"/>
          </a:xfrm>
          <a:prstGeom prst="ellipse">
            <a:avLst/>
          </a:prstGeom>
          <a:solidFill>
            <a:srgbClr val="0F2A43"/>
          </a:solidFill>
          <a:ln/>
        </p:spPr>
      </p:sp>
      <p:sp>
        <p:nvSpPr>
          <p:cNvPr id="40" name="text-286"/>
          <p:cNvSpPr txBox="1"/>
          <p:nvPr/>
        </p:nvSpPr>
        <p:spPr>
          <a:xfrm>
            <a:off x="5257800" y="3977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1" name="text-287"/>
          <p:cNvSpPr txBox="1"/>
          <p:nvPr/>
        </p:nvSpPr>
        <p:spPr>
          <a:xfrm>
            <a:off x="5257800" y="461772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Decision log</a:t>
            </a:r>
            <a:endParaRPr lang="en-US" sz="1500" dirty="0"/>
          </a:p>
        </p:txBody>
      </p:sp>
      <p:sp>
        <p:nvSpPr>
          <p:cNvPr id="42" name="text-288"/>
          <p:cNvSpPr txBox="1"/>
          <p:nvPr/>
        </p:nvSpPr>
        <p:spPr>
          <a:xfrm>
            <a:off x="5257800" y="516636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Record anything the PRD does not state</a:t>
            </a:r>
            <a:endParaRPr lang="en-US" sz="1200" dirty="0"/>
          </a:p>
        </p:txBody>
      </p:sp>
      <p:sp>
        <p:nvSpPr>
          <p:cNvPr id="43" name="guard-9"/>
          <p:cNvSpPr/>
          <p:nvPr/>
        </p:nvSpPr>
        <p:spPr>
          <a:xfrm>
            <a:off x="7338060" y="3794760"/>
            <a:ext cx="2057400" cy="2148840"/>
          </a:xfrm>
          <a:prstGeom prst="roundRect">
            <a:avLst>
              <a:gd name="adj" fmla="val 4444"/>
            </a:avLst>
          </a:prstGeom>
          <a:solidFill>
            <a:srgbClr val="EEF2F6"/>
          </a:solidFill>
          <a:ln/>
        </p:spPr>
      </p:sp>
      <p:sp>
        <p:nvSpPr>
          <p:cNvPr id="44" name="guard-num-289"/>
          <p:cNvSpPr/>
          <p:nvPr/>
        </p:nvSpPr>
        <p:spPr>
          <a:xfrm>
            <a:off x="7520940" y="3977640"/>
            <a:ext cx="457200" cy="457200"/>
          </a:xfrm>
          <a:prstGeom prst="ellipse">
            <a:avLst/>
          </a:prstGeom>
          <a:solidFill>
            <a:srgbClr val="0F2A43"/>
          </a:solidFill>
          <a:ln/>
        </p:spPr>
      </p:sp>
      <p:sp>
        <p:nvSpPr>
          <p:cNvPr id="45" name="text-290"/>
          <p:cNvSpPr txBox="1"/>
          <p:nvPr/>
        </p:nvSpPr>
        <p:spPr>
          <a:xfrm>
            <a:off x="7520940" y="3977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46" name="text-291"/>
          <p:cNvSpPr txBox="1"/>
          <p:nvPr/>
        </p:nvSpPr>
        <p:spPr>
          <a:xfrm>
            <a:off x="7520940" y="461772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Minimal output</a:t>
            </a:r>
            <a:endParaRPr lang="en-US" sz="1500" dirty="0"/>
          </a:p>
        </p:txBody>
      </p:sp>
      <p:sp>
        <p:nvSpPr>
          <p:cNvPr id="47" name="text-292"/>
          <p:cNvSpPr txBox="1"/>
          <p:nvPr/>
        </p:nvSpPr>
        <p:spPr>
          <a:xfrm>
            <a:off x="7520940" y="516636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Narrow and exact, no boilerplate</a:t>
            </a:r>
            <a:endParaRPr lang="en-US" sz="1200" dirty="0"/>
          </a:p>
        </p:txBody>
      </p:sp>
      <p:sp>
        <p:nvSpPr>
          <p:cNvPr id="48" name="guard-10"/>
          <p:cNvSpPr/>
          <p:nvPr/>
        </p:nvSpPr>
        <p:spPr>
          <a:xfrm>
            <a:off x="9601200" y="3794760"/>
            <a:ext cx="2057400" cy="2148840"/>
          </a:xfrm>
          <a:prstGeom prst="roundRect">
            <a:avLst>
              <a:gd name="adj" fmla="val 4444"/>
            </a:avLst>
          </a:prstGeom>
          <a:solidFill>
            <a:srgbClr val="EEF2F6"/>
          </a:solidFill>
          <a:ln/>
        </p:spPr>
      </p:sp>
      <p:sp>
        <p:nvSpPr>
          <p:cNvPr id="49" name="guard-num-293"/>
          <p:cNvSpPr/>
          <p:nvPr/>
        </p:nvSpPr>
        <p:spPr>
          <a:xfrm>
            <a:off x="9784080" y="3977640"/>
            <a:ext cx="457200" cy="457200"/>
          </a:xfrm>
          <a:prstGeom prst="ellipse">
            <a:avLst/>
          </a:prstGeom>
          <a:solidFill>
            <a:srgbClr val="0F2A43"/>
          </a:solidFill>
          <a:ln/>
        </p:spPr>
      </p:sp>
      <p:sp>
        <p:nvSpPr>
          <p:cNvPr id="50" name="text-294"/>
          <p:cNvSpPr txBox="1"/>
          <p:nvPr/>
        </p:nvSpPr>
        <p:spPr>
          <a:xfrm>
            <a:off x="9784080" y="39776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51" name="text-295"/>
          <p:cNvSpPr txBox="1"/>
          <p:nvPr/>
        </p:nvSpPr>
        <p:spPr>
          <a:xfrm>
            <a:off x="9784080" y="4617720"/>
            <a:ext cx="1737360" cy="548640"/>
          </a:xfrm>
          <a:prstGeom prst="rect">
            <a:avLst/>
          </a:prstGeom>
          <a:noFill/>
          <a:ln/>
        </p:spPr>
        <p:txBody>
          <a:bodyPr wrap="square" lIns="0" tIns="0" rIns="0" bIns="0" rtlCol="0" anchor="t"/>
          <a:lstStyle/>
          <a:p>
            <a:pPr algn="l" indent="0" marL="0">
              <a:buNone/>
            </a:pPr>
            <a:r>
              <a:rPr lang="en-US" sz="1500" b="1" dirty="0">
                <a:solidFill>
                  <a:schemeClr val="tx2"/>
                </a:solidFill>
              </a:rPr>
              <a:t>Exit gate</a:t>
            </a:r>
            <a:endParaRPr lang="en-US" sz="1500" dirty="0"/>
          </a:p>
        </p:txBody>
      </p:sp>
      <p:sp>
        <p:nvSpPr>
          <p:cNvPr id="52" name="text-296"/>
          <p:cNvSpPr txBox="1"/>
          <p:nvPr/>
        </p:nvSpPr>
        <p:spPr>
          <a:xfrm>
            <a:off x="9784080" y="5166360"/>
            <a:ext cx="1737360" cy="731520"/>
          </a:xfrm>
          <a:prstGeom prst="rect">
            <a:avLst/>
          </a:prstGeom>
          <a:noFill/>
          <a:ln/>
        </p:spPr>
        <p:txBody>
          <a:bodyPr wrap="square" lIns="0" tIns="0" rIns="0" bIns="0" rtlCol="0" anchor="t"/>
          <a:lstStyle/>
          <a:p>
            <a:pPr algn="l" indent="0" marL="0">
              <a:buNone/>
            </a:pPr>
            <a:r>
              <a:rPr lang="en-US" sz="1200" dirty="0">
                <a:solidFill>
                  <a:schemeClr val="tx1"/>
                </a:solidFill>
              </a:rPr>
              <a:t>Phase closes only when every task is verified</a:t>
            </a:r>
            <a:endParaRPr lang="en-US" sz="12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Coverage: 9 of 12 requirements have explicit tasks</a:t>
            </a:r>
            <a:endParaRPr lang="en-US" sz="3000" dirty="0"/>
          </a:p>
        </p:txBody>
      </p:sp>
      <p:graphicFrame>
        <p:nvGraphicFramePr>
          <p:cNvPr id="3" name="Chart 0" descr=""/>
          <p:cNvGraphicFramePr/>
          <p:nvPr/>
        </p:nvGraphicFramePr>
        <p:xfrm>
          <a:off x="548640" y="1371600"/>
          <a:ext cx="4937760" cy="4297680"/>
        </p:xfrm>
        <a:graphic xmlns:a="http://schemas.openxmlformats.org/drawingml/2006/main">
          <a:graphicData uri="http://schemas.openxmlformats.org/drawingml/2006/chart">
            <c:chart xmlns:c="http://schemas.openxmlformats.org/drawingml/2006/chart" r:id="rId1"/>
          </a:graphicData>
        </a:graphic>
      </p:graphicFrame>
      <p:sp>
        <p:nvSpPr>
          <p:cNvPr id="4" name="text-297"/>
          <p:cNvSpPr txBox="1"/>
          <p:nvPr/>
        </p:nvSpPr>
        <p:spPr>
          <a:xfrm>
            <a:off x="548640" y="5760720"/>
            <a:ext cx="4937760" cy="548640"/>
          </a:xfrm>
          <a:prstGeom prst="rect">
            <a:avLst/>
          </a:prstGeom>
          <a:noFill/>
          <a:ln/>
        </p:spPr>
        <p:txBody>
          <a:bodyPr wrap="square" lIns="0" tIns="0" rIns="0" bIns="0" rtlCol="0" anchor="t"/>
          <a:lstStyle/>
          <a:p>
            <a:pPr algn="l" indent="0" marL="0">
              <a:buNone/>
            </a:pPr>
            <a:r>
              <a:rPr lang="en-US" sz="1200" dirty="0">
                <a:solidFill>
                  <a:schemeClr val="accent6"/>
                </a:solidFill>
              </a:rPr>
              <a:t>Mapped from the to-do list against FR-01 to FR-07 and NFR-01 to NFR-05. Please confirm against your own tracker.</a:t>
            </a:r>
            <a:endParaRPr lang="en-US" sz="1200" dirty="0"/>
          </a:p>
        </p:txBody>
      </p:sp>
      <p:sp>
        <p:nvSpPr>
          <p:cNvPr id="5" name="gap-card-1"/>
          <p:cNvSpPr/>
          <p:nvPr/>
        </p:nvSpPr>
        <p:spPr>
          <a:xfrm>
            <a:off x="5852160" y="1371600"/>
            <a:ext cx="5760720" cy="1325880"/>
          </a:xfrm>
          <a:prstGeom prst="roundRect">
            <a:avLst>
              <a:gd name="adj" fmla="val 6897"/>
            </a:avLst>
          </a:prstGeom>
          <a:solidFill>
            <a:srgbClr val="D9822B">
              <a:alpha val="10000"/>
            </a:srgbClr>
          </a:solidFill>
          <a:ln/>
        </p:spPr>
      </p:sp>
      <p:sp>
        <p:nvSpPr>
          <p:cNvPr id="6" name="pill-298"/>
          <p:cNvSpPr/>
          <p:nvPr/>
        </p:nvSpPr>
        <p:spPr>
          <a:xfrm>
            <a:off x="6080760" y="1554480"/>
            <a:ext cx="1783080" cy="292608"/>
          </a:xfrm>
          <a:prstGeom prst="roundRect">
            <a:avLst>
              <a:gd name="adj" fmla="val 50000"/>
            </a:avLst>
          </a:prstGeom>
          <a:solidFill>
            <a:srgbClr val="D9822B"/>
          </a:solidFill>
          <a:ln/>
        </p:spPr>
      </p:sp>
      <p:sp>
        <p:nvSpPr>
          <p:cNvPr id="7" name="text-299"/>
          <p:cNvSpPr txBox="1"/>
          <p:nvPr/>
        </p:nvSpPr>
        <p:spPr>
          <a:xfrm>
            <a:off x="6080760" y="1554480"/>
            <a:ext cx="1783080" cy="292608"/>
          </a:xfrm>
          <a:prstGeom prst="rect">
            <a:avLst/>
          </a:prstGeom>
          <a:noFill/>
          <a:ln/>
        </p:spPr>
        <p:txBody>
          <a:bodyPr wrap="square" lIns="0" tIns="0" rIns="0" bIns="0" rtlCol="0" anchor="ctr"/>
          <a:lstStyle/>
          <a:p>
            <a:pPr algn="ctr" indent="0" marL="0">
              <a:buNone/>
            </a:pPr>
            <a:r>
              <a:rPr lang="en-US" sz="1000" b="1" dirty="0">
                <a:solidFill>
                  <a:schemeClr val="bg1"/>
                </a:solidFill>
              </a:rPr>
              <a:t>PARTLY COVERED</a:t>
            </a:r>
            <a:endParaRPr lang="en-US" sz="1000" dirty="0"/>
          </a:p>
        </p:txBody>
      </p:sp>
      <p:sp>
        <p:nvSpPr>
          <p:cNvPr id="8" name="text-300"/>
          <p:cNvSpPr txBox="1"/>
          <p:nvPr/>
        </p:nvSpPr>
        <p:spPr>
          <a:xfrm>
            <a:off x="8001000" y="1554480"/>
            <a:ext cx="1097280" cy="292608"/>
          </a:xfrm>
          <a:prstGeom prst="rect">
            <a:avLst/>
          </a:prstGeom>
          <a:noFill/>
          <a:ln/>
        </p:spPr>
        <p:txBody>
          <a:bodyPr wrap="square" lIns="0" tIns="0" rIns="0" bIns="0" rtlCol="0" anchor="ctr"/>
          <a:lstStyle/>
          <a:p>
            <a:pPr algn="l" indent="0" marL="0">
              <a:buNone/>
            </a:pPr>
            <a:r>
              <a:rPr lang="en-US" sz="1300" b="1" dirty="0">
                <a:solidFill>
                  <a:schemeClr val="accent2"/>
                </a:solidFill>
              </a:rPr>
              <a:t>FR-01</a:t>
            </a:r>
            <a:endParaRPr lang="en-US" sz="1300" dirty="0"/>
          </a:p>
        </p:txBody>
      </p:sp>
      <p:sp>
        <p:nvSpPr>
          <p:cNvPr id="9" name="text-301"/>
          <p:cNvSpPr txBox="1"/>
          <p:nvPr/>
        </p:nvSpPr>
        <p:spPr>
          <a:xfrm>
            <a:off x="6080760" y="1938528"/>
            <a:ext cx="5303520" cy="320040"/>
          </a:xfrm>
          <a:prstGeom prst="rect">
            <a:avLst/>
          </a:prstGeom>
          <a:noFill/>
          <a:ln/>
        </p:spPr>
        <p:txBody>
          <a:bodyPr wrap="square" lIns="0" tIns="0" rIns="0" bIns="0" rtlCol="0" anchor="t"/>
          <a:lstStyle/>
          <a:p>
            <a:pPr algn="l" indent="0" marL="0">
              <a:buNone/>
            </a:pPr>
            <a:r>
              <a:rPr lang="en-US" sz="1500" b="1" dirty="0">
                <a:solidFill>
                  <a:schemeClr val="tx2"/>
                </a:solidFill>
              </a:rPr>
              <a:t>Bulk CSV enrollment has no task</a:t>
            </a:r>
            <a:endParaRPr lang="en-US" sz="1500" dirty="0"/>
          </a:p>
        </p:txBody>
      </p:sp>
      <p:sp>
        <p:nvSpPr>
          <p:cNvPr id="10" name="text-302"/>
          <p:cNvSpPr txBox="1"/>
          <p:nvPr/>
        </p:nvSpPr>
        <p:spPr>
          <a:xfrm>
            <a:off x="6080760" y="2267712"/>
            <a:ext cx="5303520" cy="411480"/>
          </a:xfrm>
          <a:prstGeom prst="rect">
            <a:avLst/>
          </a:prstGeom>
          <a:noFill/>
          <a:ln/>
        </p:spPr>
        <p:txBody>
          <a:bodyPr wrap="square" lIns="0" tIns="0" rIns="0" bIns="0" rtlCol="0" anchor="t"/>
          <a:lstStyle/>
          <a:p>
            <a:pPr algn="l" indent="0" marL="0">
              <a:buNone/>
            </a:pPr>
            <a:r>
              <a:rPr lang="en-US" sz="1300" dirty="0">
                <a:solidFill>
                  <a:schemeClr val="tx1"/>
                </a:solidFill>
              </a:rPr>
              <a:t>Add it to the Phase 2.3 acceptance criteria.</a:t>
            </a:r>
            <a:endParaRPr lang="en-US" sz="1300" dirty="0"/>
          </a:p>
        </p:txBody>
      </p:sp>
      <p:sp>
        <p:nvSpPr>
          <p:cNvPr id="11" name="gap-card-2"/>
          <p:cNvSpPr/>
          <p:nvPr/>
        </p:nvSpPr>
        <p:spPr>
          <a:xfrm>
            <a:off x="5852160" y="2834640"/>
            <a:ext cx="5760720" cy="1325880"/>
          </a:xfrm>
          <a:prstGeom prst="roundRect">
            <a:avLst>
              <a:gd name="adj" fmla="val 6897"/>
            </a:avLst>
          </a:prstGeom>
          <a:solidFill>
            <a:srgbClr val="D9822B">
              <a:alpha val="10000"/>
            </a:srgbClr>
          </a:solidFill>
          <a:ln/>
        </p:spPr>
      </p:sp>
      <p:sp>
        <p:nvSpPr>
          <p:cNvPr id="12" name="pill-303"/>
          <p:cNvSpPr/>
          <p:nvPr/>
        </p:nvSpPr>
        <p:spPr>
          <a:xfrm>
            <a:off x="6080760" y="3017520"/>
            <a:ext cx="1783080" cy="292608"/>
          </a:xfrm>
          <a:prstGeom prst="roundRect">
            <a:avLst>
              <a:gd name="adj" fmla="val 50000"/>
            </a:avLst>
          </a:prstGeom>
          <a:solidFill>
            <a:srgbClr val="D9822B"/>
          </a:solidFill>
          <a:ln/>
        </p:spPr>
      </p:sp>
      <p:sp>
        <p:nvSpPr>
          <p:cNvPr id="13" name="text-304"/>
          <p:cNvSpPr txBox="1"/>
          <p:nvPr/>
        </p:nvSpPr>
        <p:spPr>
          <a:xfrm>
            <a:off x="6080760" y="3017520"/>
            <a:ext cx="1783080" cy="292608"/>
          </a:xfrm>
          <a:prstGeom prst="rect">
            <a:avLst/>
          </a:prstGeom>
          <a:noFill/>
          <a:ln/>
        </p:spPr>
        <p:txBody>
          <a:bodyPr wrap="square" lIns="0" tIns="0" rIns="0" bIns="0" rtlCol="0" anchor="ctr"/>
          <a:lstStyle/>
          <a:p>
            <a:pPr algn="ctr" indent="0" marL="0">
              <a:buNone/>
            </a:pPr>
            <a:r>
              <a:rPr lang="en-US" sz="1000" b="1" dirty="0">
                <a:solidFill>
                  <a:schemeClr val="bg1"/>
                </a:solidFill>
              </a:rPr>
              <a:t>PARTLY COVERED</a:t>
            </a:r>
            <a:endParaRPr lang="en-US" sz="1000" dirty="0"/>
          </a:p>
        </p:txBody>
      </p:sp>
      <p:sp>
        <p:nvSpPr>
          <p:cNvPr id="14" name="text-305"/>
          <p:cNvSpPr txBox="1"/>
          <p:nvPr/>
        </p:nvSpPr>
        <p:spPr>
          <a:xfrm>
            <a:off x="8001000" y="3017520"/>
            <a:ext cx="1097280" cy="292608"/>
          </a:xfrm>
          <a:prstGeom prst="rect">
            <a:avLst/>
          </a:prstGeom>
          <a:noFill/>
          <a:ln/>
        </p:spPr>
        <p:txBody>
          <a:bodyPr wrap="square" lIns="0" tIns="0" rIns="0" bIns="0" rtlCol="0" anchor="ctr"/>
          <a:lstStyle/>
          <a:p>
            <a:pPr algn="l" indent="0" marL="0">
              <a:buNone/>
            </a:pPr>
            <a:r>
              <a:rPr lang="en-US" sz="1300" b="1" dirty="0">
                <a:solidFill>
                  <a:schemeClr val="accent2"/>
                </a:solidFill>
              </a:rPr>
              <a:t>FR-04</a:t>
            </a:r>
            <a:endParaRPr lang="en-US" sz="1300" dirty="0"/>
          </a:p>
        </p:txBody>
      </p:sp>
      <p:sp>
        <p:nvSpPr>
          <p:cNvPr id="15" name="text-306"/>
          <p:cNvSpPr txBox="1"/>
          <p:nvPr/>
        </p:nvSpPr>
        <p:spPr>
          <a:xfrm>
            <a:off x="6080760" y="3401568"/>
            <a:ext cx="5303520" cy="320040"/>
          </a:xfrm>
          <a:prstGeom prst="rect">
            <a:avLst/>
          </a:prstGeom>
          <a:noFill/>
          <a:ln/>
        </p:spPr>
        <p:txBody>
          <a:bodyPr wrap="square" lIns="0" tIns="0" rIns="0" bIns="0" rtlCol="0" anchor="t"/>
          <a:lstStyle/>
          <a:p>
            <a:pPr algn="l" indent="0" marL="0">
              <a:buNone/>
            </a:pPr>
            <a:r>
              <a:rPr lang="en-US" sz="1500" b="1" dirty="0">
                <a:solidFill>
                  <a:schemeClr val="tx2"/>
                </a:solidFill>
              </a:rPr>
              <a:t>Moodle-side roles have no task</a:t>
            </a:r>
            <a:endParaRPr lang="en-US" sz="1500" dirty="0"/>
          </a:p>
        </p:txBody>
      </p:sp>
      <p:sp>
        <p:nvSpPr>
          <p:cNvPr id="16" name="text-307"/>
          <p:cNvSpPr txBox="1"/>
          <p:nvPr/>
        </p:nvSpPr>
        <p:spPr>
          <a:xfrm>
            <a:off x="6080760" y="3730752"/>
            <a:ext cx="5303520" cy="411480"/>
          </a:xfrm>
          <a:prstGeom prst="rect">
            <a:avLst/>
          </a:prstGeom>
          <a:noFill/>
          <a:ln/>
        </p:spPr>
        <p:txBody>
          <a:bodyPr wrap="square" lIns="0" tIns="0" rIns="0" bIns="0" rtlCol="0" anchor="t"/>
          <a:lstStyle/>
          <a:p>
            <a:pPr algn="l" indent="0" marL="0">
              <a:buNone/>
            </a:pPr>
            <a:r>
              <a:rPr lang="en-US" sz="1300" dirty="0">
                <a:solidFill>
                  <a:schemeClr val="tx1"/>
                </a:solidFill>
              </a:rPr>
              <a:t>Add role mapping to the Phase 3 contract.</a:t>
            </a:r>
            <a:endParaRPr lang="en-US" sz="1300" dirty="0"/>
          </a:p>
        </p:txBody>
      </p:sp>
      <p:sp>
        <p:nvSpPr>
          <p:cNvPr id="17" name="gap-card-3"/>
          <p:cNvSpPr/>
          <p:nvPr/>
        </p:nvSpPr>
        <p:spPr>
          <a:xfrm>
            <a:off x="5852160" y="4297680"/>
            <a:ext cx="5760720" cy="1325880"/>
          </a:xfrm>
          <a:prstGeom prst="roundRect">
            <a:avLst>
              <a:gd name="adj" fmla="val 6897"/>
            </a:avLst>
          </a:prstGeom>
          <a:solidFill>
            <a:srgbClr val="C0392B">
              <a:alpha val="10000"/>
            </a:srgbClr>
          </a:solidFill>
          <a:ln/>
        </p:spPr>
      </p:sp>
      <p:sp>
        <p:nvSpPr>
          <p:cNvPr id="18" name="pill-308"/>
          <p:cNvSpPr/>
          <p:nvPr/>
        </p:nvSpPr>
        <p:spPr>
          <a:xfrm>
            <a:off x="6080760" y="4480560"/>
            <a:ext cx="1783080" cy="292608"/>
          </a:xfrm>
          <a:prstGeom prst="roundRect">
            <a:avLst>
              <a:gd name="adj" fmla="val 50000"/>
            </a:avLst>
          </a:prstGeom>
          <a:solidFill>
            <a:srgbClr val="C0392B"/>
          </a:solidFill>
          <a:ln/>
        </p:spPr>
      </p:sp>
      <p:sp>
        <p:nvSpPr>
          <p:cNvPr id="19" name="text-309"/>
          <p:cNvSpPr txBox="1"/>
          <p:nvPr/>
        </p:nvSpPr>
        <p:spPr>
          <a:xfrm>
            <a:off x="6080760" y="4480560"/>
            <a:ext cx="1783080" cy="292608"/>
          </a:xfrm>
          <a:prstGeom prst="rect">
            <a:avLst/>
          </a:prstGeom>
          <a:noFill/>
          <a:ln/>
        </p:spPr>
        <p:txBody>
          <a:bodyPr wrap="square" lIns="0" tIns="0" rIns="0" bIns="0" rtlCol="0" anchor="ctr"/>
          <a:lstStyle/>
          <a:p>
            <a:pPr algn="ctr" indent="0" marL="0">
              <a:buNone/>
            </a:pPr>
            <a:r>
              <a:rPr lang="en-US" sz="1000" b="1" dirty="0">
                <a:solidFill>
                  <a:schemeClr val="bg1"/>
                </a:solidFill>
              </a:rPr>
              <a:t>NO TASK</a:t>
            </a:r>
            <a:endParaRPr lang="en-US" sz="1000" dirty="0"/>
          </a:p>
        </p:txBody>
      </p:sp>
      <p:sp>
        <p:nvSpPr>
          <p:cNvPr id="20" name="text-310"/>
          <p:cNvSpPr txBox="1"/>
          <p:nvPr/>
        </p:nvSpPr>
        <p:spPr>
          <a:xfrm>
            <a:off x="8001000" y="4480560"/>
            <a:ext cx="1097280" cy="292608"/>
          </a:xfrm>
          <a:prstGeom prst="rect">
            <a:avLst/>
          </a:prstGeom>
          <a:noFill/>
          <a:ln/>
        </p:spPr>
        <p:txBody>
          <a:bodyPr wrap="square" lIns="0" tIns="0" rIns="0" bIns="0" rtlCol="0" anchor="ctr"/>
          <a:lstStyle/>
          <a:p>
            <a:pPr algn="l" indent="0" marL="0">
              <a:buNone/>
            </a:pPr>
            <a:r>
              <a:rPr lang="en-US" sz="1300" b="1" dirty="0">
                <a:solidFill>
                  <a:schemeClr val="accent5"/>
                </a:solidFill>
              </a:rPr>
              <a:t>NFR-02</a:t>
            </a:r>
            <a:endParaRPr lang="en-US" sz="1300" dirty="0"/>
          </a:p>
        </p:txBody>
      </p:sp>
      <p:sp>
        <p:nvSpPr>
          <p:cNvPr id="21" name="text-311"/>
          <p:cNvSpPr txBox="1"/>
          <p:nvPr/>
        </p:nvSpPr>
        <p:spPr>
          <a:xfrm>
            <a:off x="6080760" y="4864608"/>
            <a:ext cx="5303520" cy="320040"/>
          </a:xfrm>
          <a:prstGeom prst="rect">
            <a:avLst/>
          </a:prstGeom>
          <a:noFill/>
          <a:ln/>
        </p:spPr>
        <p:txBody>
          <a:bodyPr wrap="square" lIns="0" tIns="0" rIns="0" bIns="0" rtlCol="0" anchor="t"/>
          <a:lstStyle/>
          <a:p>
            <a:pPr algn="l" indent="0" marL="0">
              <a:buNone/>
            </a:pPr>
            <a:r>
              <a:rPr lang="en-US" sz="1500" b="1" dirty="0">
                <a:solidFill>
                  <a:schemeClr val="tx2"/>
                </a:solidFill>
              </a:rPr>
              <a:t>500 concurrent quiz takers is untested</a:t>
            </a:r>
            <a:endParaRPr lang="en-US" sz="1500" dirty="0"/>
          </a:p>
        </p:txBody>
      </p:sp>
      <p:sp>
        <p:nvSpPr>
          <p:cNvPr id="22" name="text-312"/>
          <p:cNvSpPr txBox="1"/>
          <p:nvPr/>
        </p:nvSpPr>
        <p:spPr>
          <a:xfrm>
            <a:off x="6080760" y="5193792"/>
            <a:ext cx="5303520" cy="411480"/>
          </a:xfrm>
          <a:prstGeom prst="rect">
            <a:avLst/>
          </a:prstGeom>
          <a:noFill/>
          <a:ln/>
        </p:spPr>
        <p:txBody>
          <a:bodyPr wrap="square" lIns="0" tIns="0" rIns="0" bIns="0" rtlCol="0" anchor="t"/>
          <a:lstStyle/>
          <a:p>
            <a:pPr algn="l" indent="0" marL="0">
              <a:buNone/>
            </a:pPr>
            <a:r>
              <a:rPr lang="en-US" sz="1300" dirty="0">
                <a:solidFill>
                  <a:schemeClr val="tx1"/>
                </a:solidFill>
              </a:rPr>
              <a:t>Add a load test to Phase 5; today only isolation under concurrency is tested.</a:t>
            </a:r>
            <a:endParaRPr lang="en-US" sz="13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Six risks to watch before go-live</a:t>
            </a:r>
            <a:endParaRPr lang="en-US" sz="3000" dirty="0"/>
          </a:p>
        </p:txBody>
      </p:sp>
      <p:sp>
        <p:nvSpPr>
          <p:cNvPr id="3" name="risk-card-1"/>
          <p:cNvSpPr/>
          <p:nvPr/>
        </p:nvSpPr>
        <p:spPr>
          <a:xfrm>
            <a:off x="548640" y="1371600"/>
            <a:ext cx="3566160" cy="2377440"/>
          </a:xfrm>
          <a:prstGeom prst="roundRect">
            <a:avLst>
              <a:gd name="adj" fmla="val 3846"/>
            </a:avLst>
          </a:prstGeom>
          <a:solidFill>
            <a:srgbClr val="EEF2F6"/>
          </a:solidFill>
          <a:ln/>
        </p:spPr>
      </p:sp>
      <p:sp>
        <p:nvSpPr>
          <p:cNvPr id="4" name="badge-313"/>
          <p:cNvSpPr/>
          <p:nvPr/>
        </p:nvSpPr>
        <p:spPr>
          <a:xfrm>
            <a:off x="822960" y="1645920"/>
            <a:ext cx="640080" cy="640080"/>
          </a:xfrm>
          <a:prstGeom prst="ellipse">
            <a:avLst/>
          </a:prstGeom>
          <a:solidFill>
            <a:srgbClr val="C0392B"/>
          </a:solidFill>
          <a:ln/>
        </p:spPr>
      </p:sp>
      <p:pic>
        <p:nvPicPr>
          <p:cNvPr id="5" name="Image 0" descr="icon">    </p:cNvPr>
          <p:cNvPicPr>
            <a:picLocks noChangeAspect="1"/>
          </p:cNvPicPr>
          <p:nvPr/>
        </p:nvPicPr>
        <p:blipFill>
          <a:blip r:embed="rId1"/>
          <a:stretch>
            <a:fillRect/>
          </a:stretch>
        </p:blipFill>
        <p:spPr>
          <a:xfrm>
            <a:off x="989381" y="1812341"/>
            <a:ext cx="307238" cy="307238"/>
          </a:xfrm>
          <a:prstGeom prst="rect">
            <a:avLst/>
          </a:prstGeom>
        </p:spPr>
      </p:pic>
      <p:sp>
        <p:nvSpPr>
          <p:cNvPr id="6" name="text-314"/>
          <p:cNvSpPr txBox="1"/>
          <p:nvPr/>
        </p:nvSpPr>
        <p:spPr>
          <a:xfrm>
            <a:off x="1645920" y="1645920"/>
            <a:ext cx="2286000" cy="640080"/>
          </a:xfrm>
          <a:prstGeom prst="rect">
            <a:avLst/>
          </a:prstGeom>
          <a:noFill/>
          <a:ln/>
        </p:spPr>
        <p:txBody>
          <a:bodyPr wrap="square" lIns="0" tIns="0" rIns="0" bIns="0" rtlCol="0" anchor="ctr"/>
          <a:lstStyle/>
          <a:p>
            <a:pPr algn="l" indent="0" marL="0">
              <a:buNone/>
            </a:pPr>
            <a:r>
              <a:rPr lang="en-US" sz="1600" b="1" dirty="0">
                <a:solidFill>
                  <a:schemeClr val="tx2"/>
                </a:solidFill>
              </a:rPr>
              <a:t>Compressed schedule</a:t>
            </a:r>
            <a:endParaRPr lang="en-US" sz="1600" dirty="0"/>
          </a:p>
        </p:txBody>
      </p:sp>
      <p:sp>
        <p:nvSpPr>
          <p:cNvPr id="7" name="text-315"/>
          <p:cNvSpPr txBox="1"/>
          <p:nvPr/>
        </p:nvSpPr>
        <p:spPr>
          <a:xfrm>
            <a:off x="822960" y="2468880"/>
            <a:ext cx="3063240" cy="1188720"/>
          </a:xfrm>
          <a:prstGeom prst="rect">
            <a:avLst/>
          </a:prstGeom>
          <a:noFill/>
          <a:ln/>
        </p:spPr>
        <p:txBody>
          <a:bodyPr wrap="square" lIns="0" tIns="0" rIns="0" bIns="0" rtlCol="0" anchor="t"/>
          <a:lstStyle/>
          <a:p>
            <a:pPr algn="l" indent="0" marL="0">
              <a:buNone/>
            </a:pPr>
            <a:r>
              <a:rPr lang="en-US" sz="1400" dirty="0">
                <a:solidFill>
                  <a:schemeClr val="tx1"/>
                </a:solidFill>
              </a:rPr>
              <a:t>Phase 3 gets 9 days, Phase 4 gets 8 and Phase 6 only 3. Little slack if a gate fails.</a:t>
            </a:r>
            <a:endParaRPr lang="en-US" sz="1400" dirty="0"/>
          </a:p>
        </p:txBody>
      </p:sp>
      <p:sp>
        <p:nvSpPr>
          <p:cNvPr id="8" name="risk-card-2"/>
          <p:cNvSpPr/>
          <p:nvPr/>
        </p:nvSpPr>
        <p:spPr>
          <a:xfrm>
            <a:off x="4297680" y="1371600"/>
            <a:ext cx="3566160" cy="2377440"/>
          </a:xfrm>
          <a:prstGeom prst="roundRect">
            <a:avLst>
              <a:gd name="adj" fmla="val 3846"/>
            </a:avLst>
          </a:prstGeom>
          <a:solidFill>
            <a:srgbClr val="EEF2F6"/>
          </a:solidFill>
          <a:ln/>
        </p:spPr>
      </p:sp>
      <p:sp>
        <p:nvSpPr>
          <p:cNvPr id="9" name="badge-316"/>
          <p:cNvSpPr/>
          <p:nvPr/>
        </p:nvSpPr>
        <p:spPr>
          <a:xfrm>
            <a:off x="4572000" y="1645920"/>
            <a:ext cx="640080" cy="640080"/>
          </a:xfrm>
          <a:prstGeom prst="ellipse">
            <a:avLst/>
          </a:prstGeom>
          <a:solidFill>
            <a:srgbClr val="C0392B"/>
          </a:solidFill>
          <a:ln/>
        </p:spPr>
      </p:sp>
      <p:pic>
        <p:nvPicPr>
          <p:cNvPr id="10" name="Image 1" descr="icon">    </p:cNvPr>
          <p:cNvPicPr>
            <a:picLocks noChangeAspect="1"/>
          </p:cNvPicPr>
          <p:nvPr/>
        </p:nvPicPr>
        <p:blipFill>
          <a:blip r:embed="rId2"/>
          <a:stretch>
            <a:fillRect/>
          </a:stretch>
        </p:blipFill>
        <p:spPr>
          <a:xfrm>
            <a:off x="4738421" y="1812341"/>
            <a:ext cx="307238" cy="307238"/>
          </a:xfrm>
          <a:prstGeom prst="rect">
            <a:avLst/>
          </a:prstGeom>
        </p:spPr>
      </p:pic>
      <p:sp>
        <p:nvSpPr>
          <p:cNvPr id="11" name="text-317"/>
          <p:cNvSpPr txBox="1"/>
          <p:nvPr/>
        </p:nvSpPr>
        <p:spPr>
          <a:xfrm>
            <a:off x="5394960" y="1645920"/>
            <a:ext cx="2286000" cy="640080"/>
          </a:xfrm>
          <a:prstGeom prst="rect">
            <a:avLst/>
          </a:prstGeom>
          <a:noFill/>
          <a:ln/>
        </p:spPr>
        <p:txBody>
          <a:bodyPr wrap="square" lIns="0" tIns="0" rIns="0" bIns="0" rtlCol="0" anchor="ctr"/>
          <a:lstStyle/>
          <a:p>
            <a:pPr algn="l" indent="0" marL="0">
              <a:buNone/>
            </a:pPr>
            <a:r>
              <a:rPr lang="en-US" sz="1600" b="1" dirty="0">
                <a:solidFill>
                  <a:schemeClr val="tx2"/>
                </a:solidFill>
              </a:rPr>
              <a:t>500 users untested</a:t>
            </a:r>
            <a:endParaRPr lang="en-US" sz="1600" dirty="0"/>
          </a:p>
        </p:txBody>
      </p:sp>
      <p:sp>
        <p:nvSpPr>
          <p:cNvPr id="12" name="text-318"/>
          <p:cNvSpPr txBox="1"/>
          <p:nvPr/>
        </p:nvSpPr>
        <p:spPr>
          <a:xfrm>
            <a:off x="4572000" y="2468880"/>
            <a:ext cx="3063240" cy="1188720"/>
          </a:xfrm>
          <a:prstGeom prst="rect">
            <a:avLst/>
          </a:prstGeom>
          <a:noFill/>
          <a:ln/>
        </p:spPr>
        <p:txBody>
          <a:bodyPr wrap="square" lIns="0" tIns="0" rIns="0" bIns="0" rtlCol="0" anchor="t"/>
          <a:lstStyle/>
          <a:p>
            <a:pPr algn="l" indent="0" marL="0">
              <a:buNone/>
            </a:pPr>
            <a:r>
              <a:rPr lang="en-US" sz="1400" dirty="0">
                <a:solidFill>
                  <a:schemeClr val="tx1"/>
                </a:solidFill>
              </a:rPr>
              <a:t>NFR-02 has no load test, and one VPS alone does not prove capacity.</a:t>
            </a:r>
            <a:endParaRPr lang="en-US" sz="1400" dirty="0"/>
          </a:p>
        </p:txBody>
      </p:sp>
      <p:sp>
        <p:nvSpPr>
          <p:cNvPr id="13" name="risk-card-3"/>
          <p:cNvSpPr/>
          <p:nvPr/>
        </p:nvSpPr>
        <p:spPr>
          <a:xfrm>
            <a:off x="8046720" y="1371600"/>
            <a:ext cx="3566160" cy="2377440"/>
          </a:xfrm>
          <a:prstGeom prst="roundRect">
            <a:avLst>
              <a:gd name="adj" fmla="val 3846"/>
            </a:avLst>
          </a:prstGeom>
          <a:solidFill>
            <a:srgbClr val="EEF2F6"/>
          </a:solidFill>
          <a:ln/>
        </p:spPr>
      </p:sp>
      <p:sp>
        <p:nvSpPr>
          <p:cNvPr id="14" name="badge-319"/>
          <p:cNvSpPr/>
          <p:nvPr/>
        </p:nvSpPr>
        <p:spPr>
          <a:xfrm>
            <a:off x="8321040" y="1645920"/>
            <a:ext cx="640080" cy="640080"/>
          </a:xfrm>
          <a:prstGeom prst="ellipse">
            <a:avLst/>
          </a:prstGeom>
          <a:solidFill>
            <a:srgbClr val="D9822B"/>
          </a:solidFill>
          <a:ln/>
        </p:spPr>
      </p:sp>
      <p:pic>
        <p:nvPicPr>
          <p:cNvPr id="15" name="Image 2" descr="icon">    </p:cNvPr>
          <p:cNvPicPr>
            <a:picLocks noChangeAspect="1"/>
          </p:cNvPicPr>
          <p:nvPr/>
        </p:nvPicPr>
        <p:blipFill>
          <a:blip r:embed="rId3"/>
          <a:stretch>
            <a:fillRect/>
          </a:stretch>
        </p:blipFill>
        <p:spPr>
          <a:xfrm>
            <a:off x="8487461" y="1812341"/>
            <a:ext cx="307238" cy="307238"/>
          </a:xfrm>
          <a:prstGeom prst="rect">
            <a:avLst/>
          </a:prstGeom>
        </p:spPr>
      </p:pic>
      <p:sp>
        <p:nvSpPr>
          <p:cNvPr id="16" name="text-320"/>
          <p:cNvSpPr txBox="1"/>
          <p:nvPr/>
        </p:nvSpPr>
        <p:spPr>
          <a:xfrm>
            <a:off x="9144000" y="1645920"/>
            <a:ext cx="2286000" cy="640080"/>
          </a:xfrm>
          <a:prstGeom prst="rect">
            <a:avLst/>
          </a:prstGeom>
          <a:noFill/>
          <a:ln/>
        </p:spPr>
        <p:txBody>
          <a:bodyPr wrap="square" lIns="0" tIns="0" rIns="0" bIns="0" rtlCol="0" anchor="ctr"/>
          <a:lstStyle/>
          <a:p>
            <a:pPr algn="l" indent="0" marL="0">
              <a:buNone/>
            </a:pPr>
            <a:r>
              <a:rPr lang="en-US" sz="1600" b="1" dirty="0">
                <a:solidFill>
                  <a:schemeClr val="tx2"/>
                </a:solidFill>
              </a:rPr>
              <a:t>Payment provider open</a:t>
            </a:r>
            <a:endParaRPr lang="en-US" sz="1600" dirty="0"/>
          </a:p>
        </p:txBody>
      </p:sp>
      <p:sp>
        <p:nvSpPr>
          <p:cNvPr id="17" name="text-321"/>
          <p:cNvSpPr txBox="1"/>
          <p:nvPr/>
        </p:nvSpPr>
        <p:spPr>
          <a:xfrm>
            <a:off x="8321040" y="2468880"/>
            <a:ext cx="3063240" cy="1188720"/>
          </a:xfrm>
          <a:prstGeom prst="rect">
            <a:avLst/>
          </a:prstGeom>
          <a:noFill/>
          <a:ln/>
        </p:spPr>
        <p:txBody>
          <a:bodyPr wrap="square" lIns="0" tIns="0" rIns="0" bIns="0" rtlCol="0" anchor="t"/>
          <a:lstStyle/>
          <a:p>
            <a:pPr algn="l" indent="0" marL="0">
              <a:buNone/>
            </a:pPr>
            <a:r>
              <a:rPr lang="en-US" sz="1400" dirty="0">
                <a:solidFill>
                  <a:schemeClr val="tx1"/>
                </a:solidFill>
              </a:rPr>
              <a:t>Phase 2 uses a mock gateway. Pick the real mobile-money or card provider early.</a:t>
            </a:r>
            <a:endParaRPr lang="en-US" sz="1400" dirty="0"/>
          </a:p>
        </p:txBody>
      </p:sp>
      <p:sp>
        <p:nvSpPr>
          <p:cNvPr id="18" name="risk-card-4"/>
          <p:cNvSpPr/>
          <p:nvPr/>
        </p:nvSpPr>
        <p:spPr>
          <a:xfrm>
            <a:off x="548640" y="3931920"/>
            <a:ext cx="3566160" cy="2377440"/>
          </a:xfrm>
          <a:prstGeom prst="roundRect">
            <a:avLst>
              <a:gd name="adj" fmla="val 3846"/>
            </a:avLst>
          </a:prstGeom>
          <a:solidFill>
            <a:srgbClr val="EEF2F6"/>
          </a:solidFill>
          <a:ln/>
        </p:spPr>
      </p:sp>
      <p:sp>
        <p:nvSpPr>
          <p:cNvPr id="19" name="badge-322"/>
          <p:cNvSpPr/>
          <p:nvPr/>
        </p:nvSpPr>
        <p:spPr>
          <a:xfrm>
            <a:off x="822960" y="4206240"/>
            <a:ext cx="640080" cy="640080"/>
          </a:xfrm>
          <a:prstGeom prst="ellipse">
            <a:avLst/>
          </a:prstGeom>
          <a:solidFill>
            <a:srgbClr val="D9822B"/>
          </a:solidFill>
          <a:ln/>
        </p:spPr>
      </p:sp>
      <p:pic>
        <p:nvPicPr>
          <p:cNvPr id="20" name="Image 3" descr="icon">    </p:cNvPr>
          <p:cNvPicPr>
            <a:picLocks noChangeAspect="1"/>
          </p:cNvPicPr>
          <p:nvPr/>
        </p:nvPicPr>
        <p:blipFill>
          <a:blip r:embed="rId4"/>
          <a:stretch>
            <a:fillRect/>
          </a:stretch>
        </p:blipFill>
        <p:spPr>
          <a:xfrm>
            <a:off x="989381" y="4372661"/>
            <a:ext cx="307238" cy="307238"/>
          </a:xfrm>
          <a:prstGeom prst="rect">
            <a:avLst/>
          </a:prstGeom>
        </p:spPr>
      </p:pic>
      <p:sp>
        <p:nvSpPr>
          <p:cNvPr id="21" name="text-323"/>
          <p:cNvSpPr txBox="1"/>
          <p:nvPr/>
        </p:nvSpPr>
        <p:spPr>
          <a:xfrm>
            <a:off x="1645920" y="4206240"/>
            <a:ext cx="2286000" cy="640080"/>
          </a:xfrm>
          <a:prstGeom prst="rect">
            <a:avLst/>
          </a:prstGeom>
          <a:noFill/>
          <a:ln/>
        </p:spPr>
        <p:txBody>
          <a:bodyPr wrap="square" lIns="0" tIns="0" rIns="0" bIns="0" rtlCol="0" anchor="ctr"/>
          <a:lstStyle/>
          <a:p>
            <a:pPr algn="l" indent="0" marL="0">
              <a:buNone/>
            </a:pPr>
            <a:r>
              <a:rPr lang="en-US" sz="1600" b="1" dirty="0">
                <a:solidFill>
                  <a:schemeClr val="tx2"/>
                </a:solidFill>
              </a:rPr>
              <a:t>Latency targets</a:t>
            </a:r>
            <a:endParaRPr lang="en-US" sz="1600" dirty="0"/>
          </a:p>
        </p:txBody>
      </p:sp>
      <p:sp>
        <p:nvSpPr>
          <p:cNvPr id="22" name="text-324"/>
          <p:cNvSpPr txBox="1"/>
          <p:nvPr/>
        </p:nvSpPr>
        <p:spPr>
          <a:xfrm>
            <a:off x="822960" y="5029200"/>
            <a:ext cx="3063240" cy="1188720"/>
          </a:xfrm>
          <a:prstGeom prst="rect">
            <a:avLst/>
          </a:prstGeom>
          <a:noFill/>
          <a:ln/>
        </p:spPr>
        <p:txBody>
          <a:bodyPr wrap="square" lIns="0" tIns="0" rIns="0" bIns="0" rtlCol="0" anchor="t"/>
          <a:lstStyle/>
          <a:p>
            <a:pPr algn="l" indent="0" marL="0">
              <a:buNone/>
            </a:pPr>
            <a:r>
              <a:rPr lang="en-US" sz="1400" dirty="0">
                <a:solidFill>
                  <a:schemeClr val="tx1"/>
                </a:solidFill>
              </a:rPr>
              <a:t>Define where the 3 s and 1.5 s clocks start and stop, and which percentile counts.</a:t>
            </a:r>
            <a:endParaRPr lang="en-US" sz="1400" dirty="0"/>
          </a:p>
        </p:txBody>
      </p:sp>
      <p:sp>
        <p:nvSpPr>
          <p:cNvPr id="23" name="risk-card-5"/>
          <p:cNvSpPr/>
          <p:nvPr/>
        </p:nvSpPr>
        <p:spPr>
          <a:xfrm>
            <a:off x="4297680" y="3931920"/>
            <a:ext cx="3566160" cy="2377440"/>
          </a:xfrm>
          <a:prstGeom prst="roundRect">
            <a:avLst>
              <a:gd name="adj" fmla="val 3846"/>
            </a:avLst>
          </a:prstGeom>
          <a:solidFill>
            <a:srgbClr val="EEF2F6"/>
          </a:solidFill>
          <a:ln/>
        </p:spPr>
      </p:sp>
      <p:sp>
        <p:nvSpPr>
          <p:cNvPr id="24" name="badge-325"/>
          <p:cNvSpPr/>
          <p:nvPr/>
        </p:nvSpPr>
        <p:spPr>
          <a:xfrm>
            <a:off x="4572000" y="4206240"/>
            <a:ext cx="640080" cy="640080"/>
          </a:xfrm>
          <a:prstGeom prst="ellipse">
            <a:avLst/>
          </a:prstGeom>
          <a:solidFill>
            <a:srgbClr val="D9822B"/>
          </a:solidFill>
          <a:ln/>
        </p:spPr>
      </p:sp>
      <p:pic>
        <p:nvPicPr>
          <p:cNvPr id="25" name="Image 4" descr="icon">    </p:cNvPr>
          <p:cNvPicPr>
            <a:picLocks noChangeAspect="1"/>
          </p:cNvPicPr>
          <p:nvPr/>
        </p:nvPicPr>
        <p:blipFill>
          <a:blip r:embed="rId5"/>
          <a:stretch>
            <a:fillRect/>
          </a:stretch>
        </p:blipFill>
        <p:spPr>
          <a:xfrm>
            <a:off x="4738421" y="4372661"/>
            <a:ext cx="307238" cy="307238"/>
          </a:xfrm>
          <a:prstGeom prst="rect">
            <a:avLst/>
          </a:prstGeom>
        </p:spPr>
      </p:pic>
      <p:sp>
        <p:nvSpPr>
          <p:cNvPr id="26" name="text-326"/>
          <p:cNvSpPr txBox="1"/>
          <p:nvPr/>
        </p:nvSpPr>
        <p:spPr>
          <a:xfrm>
            <a:off x="5394960" y="4206240"/>
            <a:ext cx="2286000" cy="640080"/>
          </a:xfrm>
          <a:prstGeom prst="rect">
            <a:avLst/>
          </a:prstGeom>
          <a:noFill/>
          <a:ln/>
        </p:spPr>
        <p:txBody>
          <a:bodyPr wrap="square" lIns="0" tIns="0" rIns="0" bIns="0" rtlCol="0" anchor="ctr"/>
          <a:lstStyle/>
          <a:p>
            <a:pPr algn="l" indent="0" marL="0">
              <a:buNone/>
            </a:pPr>
            <a:r>
              <a:rPr lang="en-US" sz="1600" b="1" dirty="0">
                <a:solidFill>
                  <a:schemeClr val="tx2"/>
                </a:solidFill>
              </a:rPr>
              <a:t>Webhook details open</a:t>
            </a:r>
            <a:endParaRPr lang="en-US" sz="1600" dirty="0"/>
          </a:p>
        </p:txBody>
      </p:sp>
      <p:sp>
        <p:nvSpPr>
          <p:cNvPr id="27" name="text-327"/>
          <p:cNvSpPr txBox="1"/>
          <p:nvPr/>
        </p:nvSpPr>
        <p:spPr>
          <a:xfrm>
            <a:off x="4572000" y="5029200"/>
            <a:ext cx="3063240" cy="1188720"/>
          </a:xfrm>
          <a:prstGeom prst="rect">
            <a:avLst/>
          </a:prstGeom>
          <a:noFill/>
          <a:ln/>
        </p:spPr>
        <p:txBody>
          <a:bodyPr wrap="square" lIns="0" tIns="0" rIns="0" bIns="0" rtlCol="0" anchor="t"/>
          <a:lstStyle/>
          <a:p>
            <a:pPr algn="l" indent="0" marL="0">
              <a:buNone/>
            </a:pPr>
            <a:r>
              <a:rPr lang="en-US" sz="1400" dirty="0">
                <a:solidFill>
                  <a:schemeClr val="tx1"/>
                </a:solidFill>
              </a:rPr>
              <a:t>Retry limits, dead-letter queue, JWT claims, key rotation and Moodle-to-AI auth.</a:t>
            </a:r>
            <a:endParaRPr lang="en-US" sz="1400" dirty="0"/>
          </a:p>
        </p:txBody>
      </p:sp>
      <p:sp>
        <p:nvSpPr>
          <p:cNvPr id="28" name="risk-card-6"/>
          <p:cNvSpPr/>
          <p:nvPr/>
        </p:nvSpPr>
        <p:spPr>
          <a:xfrm>
            <a:off x="8046720" y="3931920"/>
            <a:ext cx="3566160" cy="2377440"/>
          </a:xfrm>
          <a:prstGeom prst="roundRect">
            <a:avLst>
              <a:gd name="adj" fmla="val 3846"/>
            </a:avLst>
          </a:prstGeom>
          <a:solidFill>
            <a:srgbClr val="EEF2F6"/>
          </a:solidFill>
          <a:ln/>
        </p:spPr>
      </p:sp>
      <p:sp>
        <p:nvSpPr>
          <p:cNvPr id="29" name="badge-328"/>
          <p:cNvSpPr/>
          <p:nvPr/>
        </p:nvSpPr>
        <p:spPr>
          <a:xfrm>
            <a:off x="8321040" y="4206240"/>
            <a:ext cx="640080" cy="640080"/>
          </a:xfrm>
          <a:prstGeom prst="ellipse">
            <a:avLst/>
          </a:prstGeom>
          <a:solidFill>
            <a:srgbClr val="5F6B7A"/>
          </a:solidFill>
          <a:ln/>
        </p:spPr>
      </p:sp>
      <p:pic>
        <p:nvPicPr>
          <p:cNvPr id="30" name="Image 5" descr="icon">    </p:cNvPr>
          <p:cNvPicPr>
            <a:picLocks noChangeAspect="1"/>
          </p:cNvPicPr>
          <p:nvPr/>
        </p:nvPicPr>
        <p:blipFill>
          <a:blip r:embed="rId6"/>
          <a:stretch>
            <a:fillRect/>
          </a:stretch>
        </p:blipFill>
        <p:spPr>
          <a:xfrm>
            <a:off x="8487461" y="4372661"/>
            <a:ext cx="307238" cy="307238"/>
          </a:xfrm>
          <a:prstGeom prst="rect">
            <a:avLst/>
          </a:prstGeom>
        </p:spPr>
      </p:pic>
      <p:sp>
        <p:nvSpPr>
          <p:cNvPr id="31" name="text-329"/>
          <p:cNvSpPr txBox="1"/>
          <p:nvPr/>
        </p:nvSpPr>
        <p:spPr>
          <a:xfrm>
            <a:off x="9144000" y="4206240"/>
            <a:ext cx="2286000" cy="640080"/>
          </a:xfrm>
          <a:prstGeom prst="rect">
            <a:avLst/>
          </a:prstGeom>
          <a:noFill/>
          <a:ln/>
        </p:spPr>
        <p:txBody>
          <a:bodyPr wrap="square" lIns="0" tIns="0" rIns="0" bIns="0" rtlCol="0" anchor="ctr"/>
          <a:lstStyle/>
          <a:p>
            <a:pPr algn="l" indent="0" marL="0">
              <a:buNone/>
            </a:pPr>
            <a:r>
              <a:rPr lang="en-US" sz="1600" b="1" dirty="0">
                <a:solidFill>
                  <a:schemeClr val="tx2"/>
                </a:solidFill>
              </a:rPr>
              <a:t>Operations basics</a:t>
            </a:r>
            <a:endParaRPr lang="en-US" sz="1600" dirty="0"/>
          </a:p>
        </p:txBody>
      </p:sp>
      <p:sp>
        <p:nvSpPr>
          <p:cNvPr id="32" name="text-330"/>
          <p:cNvSpPr txBox="1"/>
          <p:nvPr/>
        </p:nvSpPr>
        <p:spPr>
          <a:xfrm>
            <a:off x="8321040" y="5029200"/>
            <a:ext cx="3063240" cy="1188720"/>
          </a:xfrm>
          <a:prstGeom prst="rect">
            <a:avLst/>
          </a:prstGeom>
          <a:noFill/>
          <a:ln/>
        </p:spPr>
        <p:txBody>
          <a:bodyPr wrap="square" lIns="0" tIns="0" rIns="0" bIns="0" rtlCol="0" anchor="t"/>
          <a:lstStyle/>
          <a:p>
            <a:pPr algn="l" indent="0" marL="0">
              <a:buNone/>
            </a:pPr>
            <a:r>
              <a:rPr lang="en-US" sz="1400" dirty="0">
                <a:solidFill>
                  <a:schemeClr val="tx1"/>
                </a:solidFill>
              </a:rPr>
              <a:t>VPS sizing, backup frequency, alert thresholds and secrets rotation are not set.</a:t>
            </a:r>
            <a:endParaRPr lang="en-US" sz="14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This week: close Phase 0 (13–18 Oct)</a:t>
            </a:r>
            <a:endParaRPr lang="en-US" sz="3000" dirty="0"/>
          </a:p>
        </p:txBody>
      </p:sp>
      <p:sp>
        <p:nvSpPr>
          <p:cNvPr id="3" name="week-card-1"/>
          <p:cNvSpPr/>
          <p:nvPr/>
        </p:nvSpPr>
        <p:spPr>
          <a:xfrm>
            <a:off x="548640" y="1371600"/>
            <a:ext cx="3566160" cy="3200400"/>
          </a:xfrm>
          <a:prstGeom prst="roundRect">
            <a:avLst>
              <a:gd name="adj" fmla="val 2857"/>
            </a:avLst>
          </a:prstGeom>
          <a:solidFill>
            <a:srgbClr val="EEF2F6"/>
          </a:solidFill>
          <a:ln/>
        </p:spPr>
      </p:sp>
      <p:sp>
        <p:nvSpPr>
          <p:cNvPr id="4" name="badge-331"/>
          <p:cNvSpPr/>
          <p:nvPr/>
        </p:nvSpPr>
        <p:spPr>
          <a:xfrm>
            <a:off x="822960" y="1600200"/>
            <a:ext cx="411480" cy="411480"/>
          </a:xfrm>
          <a:prstGeom prst="ellipse">
            <a:avLst/>
          </a:prstGeom>
          <a:solidFill>
            <a:srgbClr val="2F855A"/>
          </a:solidFill>
          <a:ln/>
        </p:spPr>
      </p:sp>
      <p:pic>
        <p:nvPicPr>
          <p:cNvPr id="5" name="Image 0" descr="check">    </p:cNvPr>
          <p:cNvPicPr>
            <a:picLocks noChangeAspect="1"/>
          </p:cNvPicPr>
          <p:nvPr/>
        </p:nvPicPr>
        <p:blipFill>
          <a:blip r:embed="rId1"/>
          <a:stretch>
            <a:fillRect/>
          </a:stretch>
        </p:blipFill>
        <p:spPr>
          <a:xfrm>
            <a:off x="923544" y="1700784"/>
            <a:ext cx="210312" cy="210312"/>
          </a:xfrm>
          <a:prstGeom prst="rect">
            <a:avLst/>
          </a:prstGeom>
        </p:spPr>
      </p:pic>
      <p:sp>
        <p:nvSpPr>
          <p:cNvPr id="6" name="text-332"/>
          <p:cNvSpPr txBox="1"/>
          <p:nvPr/>
        </p:nvSpPr>
        <p:spPr>
          <a:xfrm>
            <a:off x="1371600" y="1600200"/>
            <a:ext cx="2560320" cy="411480"/>
          </a:xfrm>
          <a:prstGeom prst="rect">
            <a:avLst/>
          </a:prstGeom>
          <a:noFill/>
          <a:ln/>
        </p:spPr>
        <p:txBody>
          <a:bodyPr wrap="square" lIns="0" tIns="0" rIns="0" bIns="0" rtlCol="0" anchor="ctr"/>
          <a:lstStyle/>
          <a:p>
            <a:pPr algn="l" indent="0" marL="0">
              <a:buNone/>
            </a:pPr>
            <a:r>
              <a:rPr lang="en-US" sz="1800" b="1" dirty="0">
                <a:solidFill>
                  <a:schemeClr val="tx2"/>
                </a:solidFill>
              </a:rPr>
              <a:t>Governance</a:t>
            </a:r>
            <a:endParaRPr lang="en-US" sz="1800" dirty="0"/>
          </a:p>
        </p:txBody>
      </p:sp>
      <p:sp>
        <p:nvSpPr>
          <p:cNvPr id="7" name="week-list-1"/>
          <p:cNvSpPr txBox="1"/>
          <p:nvPr/>
        </p:nvSpPr>
        <p:spPr>
          <a:xfrm>
            <a:off x="822960" y="2286000"/>
            <a:ext cx="3108960" cy="2148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Sign off the project charter</a:t>
            </a:r>
            <a:endParaRPr lang="en-US" sz="1400" dirty="0"/>
          </a:p>
          <a:p>
            <a:pPr marL="342900" indent="-342900">
              <a:spcAft>
                <a:spcPts val="1000"/>
              </a:spcAft>
              <a:buSzPct val="100000"/>
              <a:buChar char="•"/>
            </a:pPr>
            <a:r>
              <a:rPr lang="en-US" sz="1400" dirty="0">
                <a:solidFill>
                  <a:schemeClr val="tx1"/>
                </a:solidFill>
              </a:rPr>
              <a:t>Define the phase gates</a:t>
            </a:r>
            <a:endParaRPr lang="en-US" sz="1400" dirty="0"/>
          </a:p>
          <a:p>
            <a:pPr marL="342900" indent="-342900">
              <a:spcAft>
                <a:spcPts val="1000"/>
              </a:spcAft>
              <a:buSzPct val="100000"/>
              <a:buChar char="•"/>
            </a:pPr>
            <a:r>
              <a:rPr lang="en-US" sz="1400" dirty="0">
                <a:solidFill>
                  <a:schemeClr val="tx1"/>
                </a:solidFill>
              </a:rPr>
              <a:t>Lock PRD and UML as source of truth</a:t>
            </a:r>
            <a:endParaRPr lang="en-US" sz="1400" dirty="0"/>
          </a:p>
        </p:txBody>
      </p:sp>
      <p:sp>
        <p:nvSpPr>
          <p:cNvPr id="8" name="week-card-2"/>
          <p:cNvSpPr/>
          <p:nvPr/>
        </p:nvSpPr>
        <p:spPr>
          <a:xfrm>
            <a:off x="4297680" y="1371600"/>
            <a:ext cx="3566160" cy="3200400"/>
          </a:xfrm>
          <a:prstGeom prst="roundRect">
            <a:avLst>
              <a:gd name="adj" fmla="val 2857"/>
            </a:avLst>
          </a:prstGeom>
          <a:solidFill>
            <a:srgbClr val="EEF2F6"/>
          </a:solidFill>
          <a:ln/>
        </p:spPr>
      </p:sp>
      <p:sp>
        <p:nvSpPr>
          <p:cNvPr id="9" name="badge-333"/>
          <p:cNvSpPr/>
          <p:nvPr/>
        </p:nvSpPr>
        <p:spPr>
          <a:xfrm>
            <a:off x="4572000" y="1600200"/>
            <a:ext cx="411480" cy="411480"/>
          </a:xfrm>
          <a:prstGeom prst="ellipse">
            <a:avLst/>
          </a:prstGeom>
          <a:solidFill>
            <a:srgbClr val="2B6CB0"/>
          </a:solidFill>
          <a:ln/>
        </p:spPr>
      </p:sp>
      <p:pic>
        <p:nvPicPr>
          <p:cNvPr id="10" name="Image 1" descr="check">    </p:cNvPr>
          <p:cNvPicPr>
            <a:picLocks noChangeAspect="1"/>
          </p:cNvPicPr>
          <p:nvPr/>
        </p:nvPicPr>
        <p:blipFill>
          <a:blip r:embed="rId2"/>
          <a:stretch>
            <a:fillRect/>
          </a:stretch>
        </p:blipFill>
        <p:spPr>
          <a:xfrm>
            <a:off x="4672584" y="1700784"/>
            <a:ext cx="210312" cy="210312"/>
          </a:xfrm>
          <a:prstGeom prst="rect">
            <a:avLst/>
          </a:prstGeom>
        </p:spPr>
      </p:pic>
      <p:sp>
        <p:nvSpPr>
          <p:cNvPr id="11" name="text-334"/>
          <p:cNvSpPr txBox="1"/>
          <p:nvPr/>
        </p:nvSpPr>
        <p:spPr>
          <a:xfrm>
            <a:off x="5120640" y="1600200"/>
            <a:ext cx="2560320" cy="411480"/>
          </a:xfrm>
          <a:prstGeom prst="rect">
            <a:avLst/>
          </a:prstGeom>
          <a:noFill/>
          <a:ln/>
        </p:spPr>
        <p:txBody>
          <a:bodyPr wrap="square" lIns="0" tIns="0" rIns="0" bIns="0" rtlCol="0" anchor="ctr"/>
          <a:lstStyle/>
          <a:p>
            <a:pPr algn="l" indent="0" marL="0">
              <a:buNone/>
            </a:pPr>
            <a:r>
              <a:rPr lang="en-US" sz="1800" b="1" dirty="0">
                <a:solidFill>
                  <a:schemeClr val="tx2"/>
                </a:solidFill>
              </a:rPr>
              <a:t>Baseline</a:t>
            </a:r>
            <a:endParaRPr lang="en-US" sz="1800" dirty="0"/>
          </a:p>
        </p:txBody>
      </p:sp>
      <p:sp>
        <p:nvSpPr>
          <p:cNvPr id="12" name="week-list-2"/>
          <p:cNvSpPr txBox="1"/>
          <p:nvPr/>
        </p:nvSpPr>
        <p:spPr>
          <a:xfrm>
            <a:off x="4572000" y="2286000"/>
            <a:ext cx="3108960" cy="2148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Repo structure and branch strategy</a:t>
            </a:r>
            <a:endParaRPr lang="en-US" sz="1400" dirty="0"/>
          </a:p>
          <a:p>
            <a:pPr marL="342900" indent="-342900">
              <a:spcAft>
                <a:spcPts val="1000"/>
              </a:spcAft>
              <a:buSzPct val="100000"/>
              <a:buChar char="•"/>
            </a:pPr>
            <a:r>
              <a:rPr lang="en-US" sz="1400" dirty="0">
                <a:solidFill>
                  <a:schemeClr val="tx1"/>
                </a:solidFill>
              </a:rPr>
              <a:t>Docker Compose skeleton for all five services</a:t>
            </a:r>
            <a:endParaRPr lang="en-US" sz="1400" dirty="0"/>
          </a:p>
          <a:p>
            <a:pPr marL="342900" indent="-342900">
              <a:spcAft>
                <a:spcPts val="1000"/>
              </a:spcAft>
              <a:buSzPct val="100000"/>
              <a:buChar char="•"/>
            </a:pPr>
            <a:r>
              <a:rPr lang="en-US" sz="1400" dirty="0">
                <a:solidFill>
                  <a:schemeClr val="tx1"/>
                </a:solidFill>
              </a:rPr>
              <a:t>Architecture baseline with trust boundaries</a:t>
            </a:r>
            <a:endParaRPr lang="en-US" sz="1400" dirty="0"/>
          </a:p>
        </p:txBody>
      </p:sp>
      <p:sp>
        <p:nvSpPr>
          <p:cNvPr id="13" name="week-card-3"/>
          <p:cNvSpPr/>
          <p:nvPr/>
        </p:nvSpPr>
        <p:spPr>
          <a:xfrm>
            <a:off x="8046720" y="1371600"/>
            <a:ext cx="3566160" cy="3200400"/>
          </a:xfrm>
          <a:prstGeom prst="roundRect">
            <a:avLst>
              <a:gd name="adj" fmla="val 2857"/>
            </a:avLst>
          </a:prstGeom>
          <a:solidFill>
            <a:srgbClr val="EEF2F6"/>
          </a:solidFill>
          <a:ln/>
        </p:spPr>
      </p:sp>
      <p:sp>
        <p:nvSpPr>
          <p:cNvPr id="14" name="badge-335"/>
          <p:cNvSpPr/>
          <p:nvPr/>
        </p:nvSpPr>
        <p:spPr>
          <a:xfrm>
            <a:off x="8321040" y="1600200"/>
            <a:ext cx="411480" cy="411480"/>
          </a:xfrm>
          <a:prstGeom prst="ellipse">
            <a:avLst/>
          </a:prstGeom>
          <a:solidFill>
            <a:srgbClr val="6B46C1"/>
          </a:solidFill>
          <a:ln/>
        </p:spPr>
      </p:sp>
      <p:pic>
        <p:nvPicPr>
          <p:cNvPr id="15" name="Image 2" descr="check">    </p:cNvPr>
          <p:cNvPicPr>
            <a:picLocks noChangeAspect="1"/>
          </p:cNvPicPr>
          <p:nvPr/>
        </p:nvPicPr>
        <p:blipFill>
          <a:blip r:embed="rId3"/>
          <a:stretch>
            <a:fillRect/>
          </a:stretch>
        </p:blipFill>
        <p:spPr>
          <a:xfrm>
            <a:off x="8421624" y="1700784"/>
            <a:ext cx="210312" cy="210312"/>
          </a:xfrm>
          <a:prstGeom prst="rect">
            <a:avLst/>
          </a:prstGeom>
        </p:spPr>
      </p:pic>
      <p:sp>
        <p:nvSpPr>
          <p:cNvPr id="16" name="text-336"/>
          <p:cNvSpPr txBox="1"/>
          <p:nvPr/>
        </p:nvSpPr>
        <p:spPr>
          <a:xfrm>
            <a:off x="8869680" y="1600200"/>
            <a:ext cx="2560320" cy="411480"/>
          </a:xfrm>
          <a:prstGeom prst="rect">
            <a:avLst/>
          </a:prstGeom>
          <a:noFill/>
          <a:ln/>
        </p:spPr>
        <p:txBody>
          <a:bodyPr wrap="square" lIns="0" tIns="0" rIns="0" bIns="0" rtlCol="0" anchor="ctr"/>
          <a:lstStyle/>
          <a:p>
            <a:pPr algn="l" indent="0" marL="0">
              <a:buNone/>
            </a:pPr>
            <a:r>
              <a:rPr lang="en-US" sz="1800" b="1" dirty="0">
                <a:solidFill>
                  <a:schemeClr val="tx2"/>
                </a:solidFill>
              </a:rPr>
              <a:t>Guardrails</a:t>
            </a:r>
            <a:endParaRPr lang="en-US" sz="1800" dirty="0"/>
          </a:p>
        </p:txBody>
      </p:sp>
      <p:sp>
        <p:nvSpPr>
          <p:cNvPr id="17" name="week-list-3"/>
          <p:cNvSpPr txBox="1"/>
          <p:nvPr/>
        </p:nvSpPr>
        <p:spPr>
          <a:xfrm>
            <a:off x="8321040" y="2286000"/>
            <a:ext cx="3108960" cy="2148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AI usage rules and phase lock</a:t>
            </a:r>
            <a:endParaRPr lang="en-US" sz="1400" dirty="0"/>
          </a:p>
          <a:p>
            <a:pPr marL="342900" indent="-342900">
              <a:spcAft>
                <a:spcPts val="1000"/>
              </a:spcAft>
              <a:buSzPct val="100000"/>
              <a:buChar char="•"/>
            </a:pPr>
            <a:r>
              <a:rPr lang="en-US" sz="1400" dirty="0">
                <a:solidFill>
                  <a:schemeClr val="tx1"/>
                </a:solidFill>
              </a:rPr>
              <a:t>Task-to-requirement traceability template</a:t>
            </a:r>
            <a:endParaRPr lang="en-US" sz="1400" dirty="0"/>
          </a:p>
          <a:p>
            <a:pPr marL="342900" indent="-342900">
              <a:spcAft>
                <a:spcPts val="1000"/>
              </a:spcAft>
              <a:buSzPct val="100000"/>
              <a:buChar char="•"/>
            </a:pPr>
            <a:r>
              <a:rPr lang="en-US" sz="1400" dirty="0">
                <a:solidFill>
                  <a:schemeClr val="tx1"/>
                </a:solidFill>
              </a:rPr>
              <a:t>Review and quality gates</a:t>
            </a:r>
            <a:endParaRPr lang="en-US" sz="1400" dirty="0"/>
          </a:p>
        </p:txBody>
      </p:sp>
      <p:sp>
        <p:nvSpPr>
          <p:cNvPr id="18" name="decisions-bar"/>
          <p:cNvSpPr/>
          <p:nvPr/>
        </p:nvSpPr>
        <p:spPr>
          <a:xfrm>
            <a:off x="548640" y="4846320"/>
            <a:ext cx="11064240" cy="1280160"/>
          </a:xfrm>
          <a:prstGeom prst="roundRect">
            <a:avLst>
              <a:gd name="adj" fmla="val 7143"/>
            </a:avLst>
          </a:prstGeom>
          <a:solidFill>
            <a:srgbClr val="0F2A43"/>
          </a:solidFill>
          <a:ln/>
        </p:spPr>
      </p:sp>
      <p:sp>
        <p:nvSpPr>
          <p:cNvPr id="19" name="text-337"/>
          <p:cNvSpPr txBox="1"/>
          <p:nvPr/>
        </p:nvSpPr>
        <p:spPr>
          <a:xfrm>
            <a:off x="822960" y="4983480"/>
            <a:ext cx="4572000" cy="320040"/>
          </a:xfrm>
          <a:prstGeom prst="rect">
            <a:avLst/>
          </a:prstGeom>
          <a:noFill/>
          <a:ln/>
        </p:spPr>
        <p:txBody>
          <a:bodyPr wrap="square" lIns="0" tIns="0" rIns="0" bIns="0" rtlCol="0" anchor="t"/>
          <a:lstStyle/>
          <a:p>
            <a:pPr algn="l" indent="0" marL="0">
              <a:buNone/>
            </a:pPr>
            <a:r>
              <a:rPr lang="en-US" sz="1400" b="1" dirty="0">
                <a:solidFill>
                  <a:schemeClr val="accent2"/>
                </a:solidFill>
              </a:rPr>
              <a:t>Suggested early decisions</a:t>
            </a:r>
            <a:endParaRPr lang="en-US" sz="1400" dirty="0"/>
          </a:p>
        </p:txBody>
      </p:sp>
      <p:sp>
        <p:nvSpPr>
          <p:cNvPr id="20" name="text-338"/>
          <p:cNvSpPr txBox="1"/>
          <p:nvPr/>
        </p:nvSpPr>
        <p:spPr>
          <a:xfrm>
            <a:off x="822960" y="5349240"/>
            <a:ext cx="10515600" cy="548640"/>
          </a:xfrm>
          <a:prstGeom prst="rect">
            <a:avLst/>
          </a:prstGeom>
          <a:noFill/>
          <a:ln/>
        </p:spPr>
        <p:txBody>
          <a:bodyPr wrap="square" lIns="0" tIns="0" rIns="0" bIns="0" rtlCol="0" anchor="t"/>
          <a:lstStyle/>
          <a:p>
            <a:pPr algn="l" indent="0" marL="0">
              <a:buNone/>
            </a:pPr>
            <a:r>
              <a:rPr lang="en-US" sz="1500" dirty="0">
                <a:solidFill>
                  <a:schemeClr val="bg1"/>
                </a:solidFill>
              </a:rPr>
              <a:t>Choose the payment provider  ·  Fix the latency measuring points  ·  Map system_admin and org_admin permissions</a:t>
            </a:r>
            <a:endParaRPr lang="en-US" sz="1500" dirty="0"/>
          </a:p>
        </p:txBody>
      </p:sp>
      <p:sp>
        <p:nvSpPr>
          <p:cNvPr id="25" name="Slide Number Placeholder 0"/>
          <p:cNvSpPr>
            <a:spLocks noGrp="1"/>
          </p:cNvSpPr>
          <p:nvPr>
            <p:ph type="sldNum" sz="quarter" idx="4294967295"/>
          </p:nvPr>
        </p:nvSpPr>
        <p:spPr>
          <a:xfrm>
            <a:off x="11064240" y="644652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1554480"/>
            <a:ext cx="10515600" cy="1737360"/>
          </a:xfrm>
          <a:prstGeom prst="rect">
            <a:avLst/>
          </a:prstGeom>
          <a:noFill/>
          <a:ln/>
        </p:spPr>
        <p:txBody>
          <a:bodyPr wrap="square" lIns="0" tIns="0" rIns="0" bIns="0" rtlCol="0" anchor="ctr"/>
          <a:lstStyle/>
          <a:p>
            <a:pPr algn="l" indent="0" marL="0">
              <a:buNone/>
            </a:pPr>
            <a:r>
              <a:rPr lang="en-US" sz="4400" b="1" dirty="0">
                <a:solidFill>
                  <a:schemeClr val="bg1"/>
                </a:solidFill>
              </a:rPr>
              <a:t>One controlled release, not a platform expansion</a:t>
            </a:r>
            <a:endParaRPr lang="en-US" sz="4400" dirty="0"/>
          </a:p>
        </p:txBody>
      </p:sp>
      <p:sp>
        <p:nvSpPr>
          <p:cNvPr id="3" name="badge-339"/>
          <p:cNvSpPr/>
          <p:nvPr/>
        </p:nvSpPr>
        <p:spPr>
          <a:xfrm>
            <a:off x="822960" y="3749040"/>
            <a:ext cx="640080" cy="640080"/>
          </a:xfrm>
          <a:prstGeom prst="ellipse">
            <a:avLst/>
          </a:prstGeom>
          <a:solidFill>
            <a:srgbClr val="2B6CB0"/>
          </a:solidFill>
          <a:ln/>
        </p:spPr>
      </p:sp>
      <p:pic>
        <p:nvPicPr>
          <p:cNvPr id="4" name="Image 0" descr="icon">    </p:cNvPr>
          <p:cNvPicPr>
            <a:picLocks noChangeAspect="1"/>
          </p:cNvPicPr>
          <p:nvPr/>
        </p:nvPicPr>
        <p:blipFill>
          <a:blip r:embed="rId1"/>
          <a:stretch>
            <a:fillRect/>
          </a:stretch>
        </p:blipFill>
        <p:spPr>
          <a:xfrm>
            <a:off x="989381" y="3915461"/>
            <a:ext cx="307238" cy="307238"/>
          </a:xfrm>
          <a:prstGeom prst="rect">
            <a:avLst/>
          </a:prstGeom>
        </p:spPr>
      </p:pic>
      <p:sp>
        <p:nvSpPr>
          <p:cNvPr id="5" name="text-340"/>
          <p:cNvSpPr txBox="1"/>
          <p:nvPr/>
        </p:nvSpPr>
        <p:spPr>
          <a:xfrm>
            <a:off x="1645920" y="3749040"/>
            <a:ext cx="2560320" cy="640080"/>
          </a:xfrm>
          <a:prstGeom prst="rect">
            <a:avLst/>
          </a:prstGeom>
          <a:noFill/>
          <a:ln/>
        </p:spPr>
        <p:txBody>
          <a:bodyPr wrap="square" lIns="0" tIns="0" rIns="0" bIns="0" rtlCol="0" anchor="ctr"/>
          <a:lstStyle/>
          <a:p>
            <a:pPr algn="l" indent="0" marL="0">
              <a:buNone/>
            </a:pPr>
            <a:r>
              <a:rPr lang="en-US" sz="1600" b="1" dirty="0">
                <a:solidFill>
                  <a:schemeClr val="bg1"/>
                </a:solidFill>
              </a:rPr>
              <a:t>One phase at a time</a:t>
            </a:r>
            <a:endParaRPr lang="en-US" sz="1600" dirty="0"/>
          </a:p>
        </p:txBody>
      </p:sp>
      <p:sp>
        <p:nvSpPr>
          <p:cNvPr id="6" name="badge-341"/>
          <p:cNvSpPr/>
          <p:nvPr/>
        </p:nvSpPr>
        <p:spPr>
          <a:xfrm>
            <a:off x="4480560" y="3749040"/>
            <a:ext cx="640080" cy="640080"/>
          </a:xfrm>
          <a:prstGeom prst="ellipse">
            <a:avLst/>
          </a:prstGeom>
          <a:solidFill>
            <a:srgbClr val="2F855A"/>
          </a:solidFill>
          <a:ln/>
        </p:spPr>
      </p:sp>
      <p:pic>
        <p:nvPicPr>
          <p:cNvPr id="7" name="Image 1" descr="icon">    </p:cNvPr>
          <p:cNvPicPr>
            <a:picLocks noChangeAspect="1"/>
          </p:cNvPicPr>
          <p:nvPr/>
        </p:nvPicPr>
        <p:blipFill>
          <a:blip r:embed="rId2"/>
          <a:stretch>
            <a:fillRect/>
          </a:stretch>
        </p:blipFill>
        <p:spPr>
          <a:xfrm>
            <a:off x="4646981" y="3915461"/>
            <a:ext cx="307238" cy="307238"/>
          </a:xfrm>
          <a:prstGeom prst="rect">
            <a:avLst/>
          </a:prstGeom>
        </p:spPr>
      </p:pic>
      <p:sp>
        <p:nvSpPr>
          <p:cNvPr id="8" name="text-342"/>
          <p:cNvSpPr txBox="1"/>
          <p:nvPr/>
        </p:nvSpPr>
        <p:spPr>
          <a:xfrm>
            <a:off x="5303520" y="3749040"/>
            <a:ext cx="2560320" cy="640080"/>
          </a:xfrm>
          <a:prstGeom prst="rect">
            <a:avLst/>
          </a:prstGeom>
          <a:noFill/>
          <a:ln/>
        </p:spPr>
        <p:txBody>
          <a:bodyPr wrap="square" lIns="0" tIns="0" rIns="0" bIns="0" rtlCol="0" anchor="ctr"/>
          <a:lstStyle/>
          <a:p>
            <a:pPr algn="l" indent="0" marL="0">
              <a:buNone/>
            </a:pPr>
            <a:r>
              <a:rPr lang="en-US" sz="1600" b="1" dirty="0">
                <a:solidFill>
                  <a:schemeClr val="bg1"/>
                </a:solidFill>
              </a:rPr>
              <a:t>Every task traces to a requirement</a:t>
            </a:r>
            <a:endParaRPr lang="en-US" sz="1600" dirty="0"/>
          </a:p>
        </p:txBody>
      </p:sp>
      <p:sp>
        <p:nvSpPr>
          <p:cNvPr id="9" name="badge-343"/>
          <p:cNvSpPr/>
          <p:nvPr/>
        </p:nvSpPr>
        <p:spPr>
          <a:xfrm>
            <a:off x="8138160" y="3749040"/>
            <a:ext cx="640080" cy="640080"/>
          </a:xfrm>
          <a:prstGeom prst="ellipse">
            <a:avLst/>
          </a:prstGeom>
          <a:solidFill>
            <a:srgbClr val="D9822B"/>
          </a:solidFill>
          <a:ln/>
        </p:spPr>
      </p:sp>
      <p:pic>
        <p:nvPicPr>
          <p:cNvPr id="10" name="Image 2" descr="icon">    </p:cNvPr>
          <p:cNvPicPr>
            <a:picLocks noChangeAspect="1"/>
          </p:cNvPicPr>
          <p:nvPr/>
        </p:nvPicPr>
        <p:blipFill>
          <a:blip r:embed="rId3"/>
          <a:stretch>
            <a:fillRect/>
          </a:stretch>
        </p:blipFill>
        <p:spPr>
          <a:xfrm>
            <a:off x="8304581" y="3915461"/>
            <a:ext cx="307238" cy="307238"/>
          </a:xfrm>
          <a:prstGeom prst="rect">
            <a:avLst/>
          </a:prstGeom>
        </p:spPr>
      </p:pic>
      <p:sp>
        <p:nvSpPr>
          <p:cNvPr id="11" name="text-344"/>
          <p:cNvSpPr txBox="1"/>
          <p:nvPr/>
        </p:nvSpPr>
        <p:spPr>
          <a:xfrm>
            <a:off x="8961120" y="3749040"/>
            <a:ext cx="2560320" cy="640080"/>
          </a:xfrm>
          <a:prstGeom prst="rect">
            <a:avLst/>
          </a:prstGeom>
          <a:noFill/>
          <a:ln/>
        </p:spPr>
        <p:txBody>
          <a:bodyPr wrap="square" lIns="0" tIns="0" rIns="0" bIns="0" rtlCol="0" anchor="ctr"/>
          <a:lstStyle/>
          <a:p>
            <a:pPr algn="l" indent="0" marL="0">
              <a:buNone/>
            </a:pPr>
            <a:r>
              <a:rPr lang="en-US" sz="1600" b="1" dirty="0">
                <a:solidFill>
                  <a:schemeClr val="bg1"/>
                </a:solidFill>
              </a:rPr>
              <a:t>Evidence before every gate</a:t>
            </a:r>
            <a:endParaRPr lang="en-US" sz="1600" dirty="0"/>
          </a:p>
        </p:txBody>
      </p:sp>
      <p:sp>
        <p:nvSpPr>
          <p:cNvPr id="12" name="text-345"/>
          <p:cNvSpPr txBox="1"/>
          <p:nvPr/>
        </p:nvSpPr>
        <p:spPr>
          <a:xfrm>
            <a:off x="822960" y="5120640"/>
            <a:ext cx="7315200" cy="457200"/>
          </a:xfrm>
          <a:prstGeom prst="rect">
            <a:avLst/>
          </a:prstGeom>
          <a:noFill/>
          <a:ln/>
        </p:spPr>
        <p:txBody>
          <a:bodyPr wrap="square" lIns="0" tIns="0" rIns="0" bIns="0" rtlCol="0" anchor="t"/>
          <a:lstStyle/>
          <a:p>
            <a:pPr algn="l" indent="0" marL="0">
              <a:buNone/>
            </a:pPr>
            <a:r>
              <a:rPr lang="en-US" sz="2200" b="1" dirty="0">
                <a:solidFill>
                  <a:schemeClr val="accent2"/>
                </a:solidFill>
                <a:latin typeface="Cambria" pitchFamily="34" charset="0"/>
                <a:ea typeface="Cambria" pitchFamily="34" charset="-122"/>
                <a:cs typeface="Cambria" pitchFamily="34" charset="-120"/>
              </a:rPr>
              <a:t>Go-live: 1 December 2026</a:t>
            </a:r>
            <a:endParaRPr lang="en-US" sz="2200" dirty="0"/>
          </a:p>
        </p:txBody>
      </p:sp>
    </p:spTree>
  </p:cSld>
  <p:clrMapOvr>
    <a:masterClrMapping/>
  </p:clrMapOvr>
</p:sld>
</file>

<file path=ppt/theme/theme1.xml><?xml version="1.0" encoding="utf-8"?>
<a:theme xmlns:a="http://schemas.openxmlformats.org/drawingml/2006/main" name="INOVEXA">
  <a:themeElements>
    <a:clrScheme name="INOVEXA">
      <a:dk1>
        <a:srgbClr val="16212E"/>
      </a:dk1>
      <a:lt1>
        <a:srgbClr val="FFFFFF"/>
      </a:lt1>
      <a:dk2>
        <a:srgbClr val="0F2A43"/>
      </a:dk2>
      <a:lt2>
        <a:srgbClr val="EEF2F6"/>
      </a:lt2>
      <a:accent1>
        <a:srgbClr val="2F855A"/>
      </a:accent1>
      <a:accent2>
        <a:srgbClr val="D9822B"/>
      </a:accent2>
      <a:accent3>
        <a:srgbClr val="2B6CB0"/>
      </a:accent3>
      <a:accent4>
        <a:srgbClr val="6B46C1"/>
      </a:accent4>
      <a:accent5>
        <a:srgbClr val="C0392B"/>
      </a:accent5>
      <a:accent6>
        <a:srgbClr val="5F6B7A"/>
      </a:accent6>
      <a:hlink>
        <a:srgbClr val="2B6CB0"/>
      </a:hlink>
      <a:folHlink>
        <a:srgbClr val="6B46C1"/>
      </a:folHlink>
    </a:clrScheme>
    <a:fontScheme name="INOVEX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INOVEXA: Project Map to First-Client Go-Live</dc:title>
  <dc:subject>PptxGenJS Presentation</dc:subject>
  <dc:creator>INOVEXA</dc:creator>
  <cp:lastModifiedBy>INOVEXA</cp:lastModifiedBy>
  <cp:revision>1</cp:revision>
  <dcterms:created xsi:type="dcterms:W3CDTF">2026-10-14T01:57:45Z</dcterms:created>
  <dcterms:modified xsi:type="dcterms:W3CDTF">2026-10-14T01:57:45Z</dcterms:modified>
</cp:coreProperties>
</file>